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7" r:id="rId1"/>
    <p:sldMasterId id="2147483710" r:id="rId2"/>
  </p:sldMasterIdLst>
  <p:notesMasterIdLst>
    <p:notesMasterId r:id="rId58"/>
  </p:notesMasterIdLst>
  <p:sldIdLst>
    <p:sldId id="1946" r:id="rId3"/>
    <p:sldId id="1938" r:id="rId4"/>
    <p:sldId id="590" r:id="rId5"/>
    <p:sldId id="694" r:id="rId6"/>
    <p:sldId id="970" r:id="rId7"/>
    <p:sldId id="1095" r:id="rId8"/>
    <p:sldId id="1947" r:id="rId9"/>
    <p:sldId id="1961" r:id="rId10"/>
    <p:sldId id="1948" r:id="rId11"/>
    <p:sldId id="1949" r:id="rId12"/>
    <p:sldId id="1950" r:id="rId13"/>
    <p:sldId id="1951" r:id="rId14"/>
    <p:sldId id="1940" r:id="rId15"/>
    <p:sldId id="1996" r:id="rId16"/>
    <p:sldId id="1994" r:id="rId17"/>
    <p:sldId id="678" r:id="rId18"/>
    <p:sldId id="679" r:id="rId19"/>
    <p:sldId id="394" r:id="rId20"/>
    <p:sldId id="1952" r:id="rId21"/>
    <p:sldId id="683" r:id="rId22"/>
    <p:sldId id="687" r:id="rId23"/>
    <p:sldId id="688" r:id="rId24"/>
    <p:sldId id="1953" r:id="rId25"/>
    <p:sldId id="1954" r:id="rId26"/>
    <p:sldId id="1955" r:id="rId27"/>
    <p:sldId id="1956" r:id="rId28"/>
    <p:sldId id="684" r:id="rId29"/>
    <p:sldId id="1999" r:id="rId30"/>
    <p:sldId id="1995" r:id="rId31"/>
    <p:sldId id="471" r:id="rId32"/>
    <p:sldId id="983" r:id="rId33"/>
    <p:sldId id="987" r:id="rId34"/>
    <p:sldId id="988" r:id="rId35"/>
    <p:sldId id="989" r:id="rId36"/>
    <p:sldId id="972" r:id="rId37"/>
    <p:sldId id="971" r:id="rId38"/>
    <p:sldId id="1943" r:id="rId39"/>
    <p:sldId id="1941" r:id="rId40"/>
    <p:sldId id="1939" r:id="rId41"/>
    <p:sldId id="1097" r:id="rId42"/>
    <p:sldId id="1096" r:id="rId43"/>
    <p:sldId id="1944" r:id="rId44"/>
    <p:sldId id="1997" r:id="rId45"/>
    <p:sldId id="1998" r:id="rId46"/>
    <p:sldId id="499" r:id="rId47"/>
    <p:sldId id="623" r:id="rId48"/>
    <p:sldId id="437" r:id="rId49"/>
    <p:sldId id="461" r:id="rId50"/>
    <p:sldId id="681" r:id="rId51"/>
    <p:sldId id="625" r:id="rId52"/>
    <p:sldId id="469" r:id="rId53"/>
    <p:sldId id="702" r:id="rId54"/>
    <p:sldId id="995" r:id="rId55"/>
    <p:sldId id="976" r:id="rId56"/>
    <p:sldId id="977" r:id="rId5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755B3B8-7F58-478B-A231-0FE90BFAB063}">
          <p14:sldIdLst>
            <p14:sldId id="1946"/>
            <p14:sldId id="1938"/>
            <p14:sldId id="590"/>
            <p14:sldId id="694"/>
          </p14:sldIdLst>
        </p14:section>
        <p14:section name="Bloom Filters" id="{90EA0EBD-602A-4E51-A8D5-7B85B887CAFB}">
          <p14:sldIdLst>
            <p14:sldId id="970"/>
            <p14:sldId id="1095"/>
            <p14:sldId id="1947"/>
            <p14:sldId id="1961"/>
            <p14:sldId id="1948"/>
            <p14:sldId id="1949"/>
            <p14:sldId id="1950"/>
            <p14:sldId id="1951"/>
            <p14:sldId id="1940"/>
          </p14:sldIdLst>
        </p14:section>
        <p14:section name="Skip Lists" id="{BE30A98C-48F4-4BFB-AA1B-9E3A25C1A96D}">
          <p14:sldIdLst>
            <p14:sldId id="1996"/>
            <p14:sldId id="1994"/>
            <p14:sldId id="678"/>
            <p14:sldId id="679"/>
            <p14:sldId id="394"/>
            <p14:sldId id="1952"/>
            <p14:sldId id="683"/>
            <p14:sldId id="687"/>
            <p14:sldId id="688"/>
            <p14:sldId id="1953"/>
            <p14:sldId id="1954"/>
            <p14:sldId id="1955"/>
            <p14:sldId id="1956"/>
            <p14:sldId id="684"/>
            <p14:sldId id="1999"/>
            <p14:sldId id="1995"/>
          </p14:sldIdLst>
        </p14:section>
        <p14:section name="Radix Trees" id="{935518E1-6F0D-40C4-A9E7-0A60EF2A9A32}">
          <p14:sldIdLst>
            <p14:sldId id="471"/>
            <p14:sldId id="983"/>
            <p14:sldId id="987"/>
            <p14:sldId id="988"/>
            <p14:sldId id="989"/>
          </p14:sldIdLst>
        </p14:section>
        <p14:section name="Inverted Index" id="{CB6125FC-8F33-48D5-94BC-020CAFA84203}">
          <p14:sldIdLst>
            <p14:sldId id="972"/>
            <p14:sldId id="971"/>
            <p14:sldId id="1943"/>
            <p14:sldId id="1941"/>
          </p14:sldIdLst>
        </p14:section>
        <p14:section name="Vector Indexes" id="{98C7FCA2-A811-4696-9BB4-5DC5DDD815E7}">
          <p14:sldIdLst>
            <p14:sldId id="1939"/>
            <p14:sldId id="1097"/>
            <p14:sldId id="1096"/>
            <p14:sldId id="1944"/>
            <p14:sldId id="1997"/>
            <p14:sldId id="1998"/>
          </p14:sldIdLst>
        </p14:section>
        <p14:section name="Conclusion" id="{DEB9626B-B8CD-44DA-BE8F-C04D2D73E369}">
          <p14:sldIdLst>
            <p14:sldId id="499"/>
            <p14:sldId id="623"/>
          </p14:sldIdLst>
        </p14:section>
        <p14:section name="OLD" id="{6B7E07D4-2E5D-402E-B840-96DFD1A996C9}">
          <p14:sldIdLst>
            <p14:sldId id="437"/>
            <p14:sldId id="461"/>
            <p14:sldId id="681"/>
            <p14:sldId id="625"/>
            <p14:sldId id="469"/>
            <p14:sldId id="702"/>
            <p14:sldId id="995"/>
            <p14:sldId id="976"/>
            <p14:sldId id="9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F3E42"/>
    <a:srgbClr val="256389"/>
    <a:srgbClr val="F76D6D"/>
    <a:srgbClr val="646464"/>
    <a:srgbClr val="474866"/>
    <a:srgbClr val="101010"/>
    <a:srgbClr val="384588"/>
    <a:srgbClr val="716B71"/>
    <a:srgbClr val="B1ABB1"/>
    <a:srgbClr val="9C96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96" autoAdjust="0"/>
    <p:restoredTop sz="79658" autoAdjust="0"/>
  </p:normalViewPr>
  <p:slideViewPr>
    <p:cSldViewPr>
      <p:cViewPr>
        <p:scale>
          <a:sx n="85" d="100"/>
          <a:sy n="85" d="100"/>
        </p:scale>
        <p:origin x="720" y="8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494"/>
    </p:cViewPr>
  </p:sorterViewPr>
  <p:notesViewPr>
    <p:cSldViewPr>
      <p:cViewPr varScale="1">
        <p:scale>
          <a:sx n="88" d="100"/>
          <a:sy n="88" d="100"/>
        </p:scale>
        <p:origin x="397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614878648643495"/>
          <c:y val="0.25042577695160523"/>
          <c:w val="0.86609495846917439"/>
          <c:h val="0.603282583827120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Bw-Tree</c:v>
                </c:pt>
              </c:strCache>
            </c:strRef>
          </c:tx>
          <c:spPr>
            <a:solidFill>
              <a:srgbClr val="EF3E4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Insert-Only</c:v>
                </c:pt>
                <c:pt idx="1">
                  <c:v>Read-Only</c:v>
                </c:pt>
                <c:pt idx="2">
                  <c:v>Read/Update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9.94</c:v>
                </c:pt>
                <c:pt idx="1">
                  <c:v>15.5</c:v>
                </c:pt>
                <c:pt idx="2">
                  <c:v>13.3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93-4641-977E-A5D5F7F47B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B+Tree</c:v>
                </c:pt>
              </c:strCache>
            </c:strRef>
          </c:tx>
          <c:spPr>
            <a:solidFill>
              <a:schemeClr val="tx1">
                <a:lumMod val="65000"/>
                <a:lumOff val="3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Insert-Only</c:v>
                </c:pt>
                <c:pt idx="1">
                  <c:v>Read-Only</c:v>
                </c:pt>
                <c:pt idx="2">
                  <c:v>Read/Update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8.09</c:v>
                </c:pt>
                <c:pt idx="1">
                  <c:v>29</c:v>
                </c:pt>
                <c:pt idx="2">
                  <c:v>1.51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093-4641-977E-A5D5F7F47B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Skip List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Insert-Only</c:v>
                </c:pt>
                <c:pt idx="1">
                  <c:v>Read-Only</c:v>
                </c:pt>
                <c:pt idx="2">
                  <c:v>Read/Update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2.5099999999999998</c:v>
                </c:pt>
                <c:pt idx="1">
                  <c:v>2.78</c:v>
                </c:pt>
                <c:pt idx="2">
                  <c:v>25.1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093-4641-977E-A5D5F7F47B55}"/>
            </c:ext>
          </c:extLst>
        </c:ser>
        <c:ser>
          <c:idx val="4"/>
          <c:order val="3"/>
          <c:tx>
            <c:strRef>
              <c:f>Sheet1!$F$1</c:f>
              <c:strCache>
                <c:ptCount val="1"/>
                <c:pt idx="0">
                  <c:v>Radix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 algn="ctr">
                  <a:defRPr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Insert-Only</c:v>
                </c:pt>
                <c:pt idx="1">
                  <c:v>Read-Only</c:v>
                </c:pt>
                <c:pt idx="2">
                  <c:v>Read/Update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44.9</c:v>
                </c:pt>
                <c:pt idx="1">
                  <c:v>51.5</c:v>
                </c:pt>
                <c:pt idx="2">
                  <c:v>42.9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AE-411C-BE2D-1FBA91FAE04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363281024"/>
        <c:axId val="363291008"/>
      </c:barChart>
      <c:catAx>
        <c:axId val="36328102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363291008"/>
        <c:crosses val="autoZero"/>
        <c:auto val="1"/>
        <c:lblAlgn val="ctr"/>
        <c:lblOffset val="100"/>
        <c:noMultiLvlLbl val="0"/>
      </c:catAx>
      <c:valAx>
        <c:axId val="36329100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Operations/sec (M)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363281024"/>
        <c:crosses val="autoZero"/>
        <c:crossBetween val="between"/>
        <c:majorUnit val="20"/>
      </c:valAx>
    </c:plotArea>
    <c:legend>
      <c:legendPos val="t"/>
      <c:layout>
        <c:manualLayout>
          <c:xMode val="edge"/>
          <c:yMode val="edge"/>
          <c:x val="1.4675792644563502E-2"/>
          <c:y val="7.7035506089361744E-2"/>
          <c:w val="0.97064841471087304"/>
          <c:h val="0.12849130896669581"/>
        </c:manualLayout>
      </c:layout>
      <c:overlay val="0"/>
      <c:txPr>
        <a:bodyPr/>
        <a:lstStyle/>
        <a:p>
          <a:pPr>
            <a:defRPr sz="24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>
          <a:solidFill>
            <a:schemeClr val="tx1">
              <a:lumMod val="65000"/>
              <a:lumOff val="35000"/>
            </a:schemeClr>
          </a:solidFill>
          <a:latin typeface="Proxima Nova Rg" panose="02000506030000020004" pitchFamily="50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F30A1-66E6-451E-8A7F-24EDBB733F02}" type="datetimeFigureOut">
              <a:rPr lang="en-US" smtClean="0"/>
              <a:t>10/4/26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B2FDE-2E55-4B3D-B7EA-09D0CC1080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18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hyperlink" Target="https://db.cs.cmu.edu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MU LOGO" hidden="1">
            <a:extLst>
              <a:ext uri="{FF2B5EF4-FFF2-40B4-BE49-F238E27FC236}">
                <a16:creationId xmlns:a16="http://schemas.microsoft.com/office/drawing/2014/main" id="{A6279927-EE9F-8A29-2CCB-28AAACD5E8C1}"/>
              </a:ext>
            </a:extLst>
          </p:cNvPr>
          <p:cNvGrpSpPr/>
          <p:nvPr/>
        </p:nvGrpSpPr>
        <p:grpSpPr>
          <a:xfrm>
            <a:off x="325636" y="471153"/>
            <a:ext cx="914400" cy="548640"/>
            <a:chOff x="325636" y="760714"/>
            <a:chExt cx="914400" cy="54864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AEBE596A-5B25-6A4A-3895-76D6B8649774}"/>
                </a:ext>
              </a:extLst>
            </p:cNvPr>
            <p:cNvSpPr/>
            <p:nvPr/>
          </p:nvSpPr>
          <p:spPr>
            <a:xfrm>
              <a:off x="325636" y="760714"/>
              <a:ext cx="914400" cy="548640"/>
            </a:xfrm>
            <a:prstGeom prst="roundRect">
              <a:avLst>
                <a:gd name="adj" fmla="val 1910"/>
              </a:avLst>
            </a:prstGeom>
            <a:solidFill>
              <a:srgbClr val="C3003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en-US" dirty="0"/>
            </a:p>
          </p:txBody>
        </p:sp>
        <p:pic>
          <p:nvPicPr>
            <p:cNvPr id="34" name="Graphic 33">
              <a:hlinkClick r:id="rId2"/>
              <a:extLst>
                <a:ext uri="{FF2B5EF4-FFF2-40B4-BE49-F238E27FC236}">
                  <a16:creationId xmlns:a16="http://schemas.microsoft.com/office/drawing/2014/main" id="{42BCC96F-C450-CF5C-629F-09937B0D1D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17076" y="797240"/>
              <a:ext cx="731520" cy="475588"/>
            </a:xfrm>
            <a:prstGeom prst="rect">
              <a:avLst/>
            </a:prstGeom>
          </p:spPr>
        </p:pic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2852B086-E288-CBD2-C5C5-DFEC76D968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922" y="240601"/>
            <a:ext cx="3291840" cy="29155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3D0993A-BF60-CE79-0F1C-786FEAAE2891}"/>
              </a:ext>
            </a:extLst>
          </p:cNvPr>
          <p:cNvSpPr txBox="1">
            <a:spLocks/>
          </p:cNvSpPr>
          <p:nvPr/>
        </p:nvSpPr>
        <p:spPr>
          <a:xfrm>
            <a:off x="0" y="1790327"/>
            <a:ext cx="9144000" cy="1470025"/>
          </a:xfrm>
          <a:prstGeom prst="rect">
            <a:avLst/>
          </a:prstGeom>
          <a:solidFill>
            <a:srgbClr val="4B9CD3"/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0" dirty="0">
              <a:solidFill>
                <a:schemeClr val="bg1"/>
              </a:solidFill>
              <a:effectLst/>
              <a:latin typeface="+mj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0" dirty="0">
                <a:solidFill>
                  <a:schemeClr val="bg1"/>
                </a:solidFill>
                <a:effectLst/>
                <a:latin typeface="+mj-lt"/>
              </a:rPr>
              <a:t>COMP 421: Files &amp; Databases</a:t>
            </a:r>
            <a:endParaRPr lang="en-US" sz="4400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ACDE41B-5E08-2993-AFF2-8F1706E561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76400" y="3260725"/>
            <a:ext cx="6019800" cy="10636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 dirty="0"/>
              <a:t>Lecture Name!</a:t>
            </a:r>
          </a:p>
        </p:txBody>
      </p:sp>
    </p:spTree>
    <p:extLst>
      <p:ext uri="{BB962C8B-B14F-4D97-AF65-F5344CB8AC3E}">
        <p14:creationId xmlns:p14="http://schemas.microsoft.com/office/powerpoint/2010/main" val="340994598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1550"/>
            <a:ext cx="4754880" cy="36576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A738A1-3F8B-F678-C69C-FFB31A0D0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036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880" y="971550"/>
            <a:ext cx="4389120" cy="3657600"/>
          </a:xfrm>
        </p:spPr>
        <p:txBody>
          <a:bodyPr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A6CF122-5223-8FC2-39AE-F66176D11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73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A415270-53F7-23E6-805D-9160C949F8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85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2707E67-347D-98D8-549D-5A30708955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88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9050"/>
            <a:ext cx="9144000" cy="689371"/>
          </a:xfrm>
        </p:spPr>
        <p:txBody>
          <a:bodyPr lIns="0" r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971550"/>
            <a:ext cx="6400800" cy="36576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625DEA1-F8C4-6E87-1A5B-8EC9E0A20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45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Why Choose Unc For A Graduate Degree In Computer Science - Unc Chapel Hill (1287x369), Png Download">
            <a:extLst>
              <a:ext uri="{FF2B5EF4-FFF2-40B4-BE49-F238E27FC236}">
                <a16:creationId xmlns:a16="http://schemas.microsoft.com/office/drawing/2014/main" id="{88E8CE7D-D053-708D-6190-70AECFF14D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768313"/>
            <a:ext cx="1066800" cy="30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52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19050"/>
            <a:ext cx="9144000" cy="689371"/>
          </a:xfrm>
          <a:prstGeom prst="rect">
            <a:avLst/>
          </a:prstGeom>
          <a:solidFill>
            <a:srgbClr val="4C9DD2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971550"/>
            <a:ext cx="6400800" cy="3657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>
              <a:lnSpc>
                <a:spcPct val="90000"/>
              </a:lnSpc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Second level</a:t>
            </a:r>
          </a:p>
        </p:txBody>
      </p:sp>
      <p:pic>
        <p:nvPicPr>
          <p:cNvPr id="7" name="Picture 2" descr="Why Choose Unc For A Graduate Degree In Computer Science - Unc Chapel Hill (1287x369), Png Download">
            <a:extLst>
              <a:ext uri="{FF2B5EF4-FFF2-40B4-BE49-F238E27FC236}">
                <a16:creationId xmlns:a16="http://schemas.microsoft.com/office/drawing/2014/main" id="{90BB534A-2FFF-458A-936D-5FA907B17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768313"/>
            <a:ext cx="1066800" cy="305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184061F-78F2-C458-0FBD-F39CC26BA2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30955"/>
            <a:ext cx="386355" cy="25479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/>
          <a:lstStyle>
            <a:lvl1pPr algn="r">
              <a:defRPr sz="1200" b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fld id="{97DD1AB5-42BA-4E8A-BFEE-435884E16AA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2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6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b="1" kern="1200" spc="0">
          <a:solidFill>
            <a:schemeClr val="bg1"/>
          </a:solidFill>
          <a:latin typeface="+mj-lt"/>
          <a:ea typeface="Open Sans" pitchFamily="34" charset="0"/>
          <a:cs typeface="Open Sans" pitchFamily="34" charset="0"/>
        </a:defRPr>
      </a:lvl1pPr>
    </p:titleStyle>
    <p:bodyStyle>
      <a:lvl1pPr marL="0" indent="0" algn="l" defTabSz="914400" rtl="0" eaLnBrk="1" latinLnBrk="0" hangingPunct="1">
        <a:spcBef>
          <a:spcPts val="600"/>
        </a:spcBef>
        <a:spcAft>
          <a:spcPts val="0"/>
        </a:spcAft>
        <a:buFont typeface="Arial" pitchFamily="34" charset="0"/>
        <a:buNone/>
        <a:defRPr lang="en-US" sz="24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342900" algn="l" defTabSz="914400" rtl="0" eaLnBrk="1" latinLnBrk="0" hangingPunct="1">
        <a:spcBef>
          <a:spcPts val="0"/>
        </a:spcBef>
        <a:buFont typeface="Times New Roman" pitchFamily="18" charset="0"/>
        <a:buChar char="→"/>
        <a:defRPr lang="en-US" sz="20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400" kern="1200">
          <a:solidFill>
            <a:schemeClr val="tx1">
              <a:lumMod val="65000"/>
              <a:lumOff val="35000"/>
            </a:schemeClr>
          </a:solidFill>
          <a:latin typeface="Gentium Book Basic" pitchFamily="2" charset="0"/>
          <a:ea typeface="+mn-ea"/>
          <a:cs typeface="+mn-cs"/>
        </a:defRPr>
      </a:lvl3pPr>
      <a:lvl4pPr marL="1371600" indent="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Gentium Book Basic" pitchFamily="2" charset="0"/>
          <a:ea typeface="+mn-ea"/>
          <a:cs typeface="+mn-cs"/>
        </a:defRPr>
      </a:lvl4pPr>
      <a:lvl5pPr marL="1828800" indent="0" algn="l" defTabSz="914400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>
              <a:lumMod val="65000"/>
              <a:lumOff val="35000"/>
            </a:schemeClr>
          </a:solidFill>
          <a:latin typeface="Gentium Book Basic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ur.st/bloomfilter/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uckoo_filter" TargetMode="External"/><Relationship Id="rId7" Type="http://schemas.openxmlformats.org/officeDocument/2006/relationships/image" Target="../media/image10.png"/><Relationship Id="rId2" Type="http://schemas.openxmlformats.org/officeDocument/2006/relationships/hyperlink" Target="https://en.wikipedia.org/wiki/Counting_Bloom_filter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redis.io/docs/latest/develop/data-types/probabilistic/cuckoo-filter/" TargetMode="External"/><Relationship Id="rId5" Type="http://schemas.openxmlformats.org/officeDocument/2006/relationships/hyperlink" Target="https://github.com/efficient/SuRF" TargetMode="External"/><Relationship Id="rId4" Type="http://schemas.openxmlformats.org/officeDocument/2006/relationships/hyperlink" Target="https://en.wikipedia.org/wiki/Fingerprint_(computing)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hyperlink" Target="http://dl.acm.org/citation.cfm?id=78977" TargetMode="External"/><Relationship Id="rId9" Type="http://schemas.openxmlformats.org/officeDocument/2006/relationships/image" Target="../media/image2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3.svg"/><Relationship Id="rId7" Type="http://schemas.openxmlformats.org/officeDocument/2006/relationships/image" Target="../media/image4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5.svg"/><Relationship Id="rId4" Type="http://schemas.openxmlformats.org/officeDocument/2006/relationships/image" Target="../media/image34.svg"/><Relationship Id="rId9" Type="http://schemas.openxmlformats.org/officeDocument/2006/relationships/image" Target="../media/image43.sv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13" Type="http://schemas.openxmlformats.org/officeDocument/2006/relationships/image" Target="../media/image52.svg"/><Relationship Id="rId3" Type="http://schemas.openxmlformats.org/officeDocument/2006/relationships/hyperlink" Target="https://en.wikipedia.org/wiki/Inverted_index" TargetMode="External"/><Relationship Id="rId7" Type="http://schemas.openxmlformats.org/officeDocument/2006/relationships/image" Target="../media/image46.png"/><Relationship Id="rId12" Type="http://schemas.openxmlformats.org/officeDocument/2006/relationships/image" Target="../media/image5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svg"/><Relationship Id="rId5" Type="http://schemas.openxmlformats.org/officeDocument/2006/relationships/image" Target="../media/image44.svg"/><Relationship Id="rId10" Type="http://schemas.openxmlformats.org/officeDocument/2006/relationships/image" Target="../media/image49.png"/><Relationship Id="rId4" Type="http://schemas.openxmlformats.org/officeDocument/2006/relationships/hyperlink" Target="https://en.wikipedia.org/wiki/Concordance_(publishing)" TargetMode="External"/><Relationship Id="rId9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lucene-inside-out-dealing-with-integer-encoding-and-compression-fe28f9dd265d" TargetMode="External"/><Relationship Id="rId2" Type="http://schemas.openxmlformats.org/officeDocument/2006/relationships/hyperlink" Target="http://en.wikipedia.org/wiki/Finite_state_transducer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.org/docs/current/gin-intro.html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603.09320" TargetMode="External"/><Relationship Id="rId3" Type="http://schemas.openxmlformats.org/officeDocument/2006/relationships/hyperlink" Target="https://www.youtube.com/watch?v=pJk0p-98Xzc" TargetMode="External"/><Relationship Id="rId7" Type="http://schemas.openxmlformats.org/officeDocument/2006/relationships/image" Target="../media/image54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svg"/><Relationship Id="rId5" Type="http://schemas.openxmlformats.org/officeDocument/2006/relationships/hyperlink" Target="https://youtu.be/5qDhaWqeNMc" TargetMode="External"/><Relationship Id="rId10" Type="http://schemas.openxmlformats.org/officeDocument/2006/relationships/hyperlink" Target="https://github.com/spotify/annoy" TargetMode="External"/><Relationship Id="rId4" Type="http://schemas.openxmlformats.org/officeDocument/2006/relationships/hyperlink" Target="https://www.youtube.com/watch?v=swLJyjk-OGI" TargetMode="External"/><Relationship Id="rId9" Type="http://schemas.openxmlformats.org/officeDocument/2006/relationships/hyperlink" Target="https://engineering.fb.com/2017/03/29/data-infrastructure/faiss-a-library-for-efficient-similarity-search/" TargetMode="Externa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svg"/><Relationship Id="rId7" Type="http://schemas.openxmlformats.org/officeDocument/2006/relationships/image" Target="../media/image60.svg"/><Relationship Id="rId2" Type="http://schemas.openxmlformats.org/officeDocument/2006/relationships/image" Target="../media/image55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10" Type="http://schemas.openxmlformats.org/officeDocument/2006/relationships/image" Target="../media/image63.svg"/><Relationship Id="rId4" Type="http://schemas.openxmlformats.org/officeDocument/2006/relationships/image" Target="../media/image57.svg"/><Relationship Id="rId9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67.svg"/><Relationship Id="rId2" Type="http://schemas.openxmlformats.org/officeDocument/2006/relationships/hyperlink" Target="https://skyzh.github.io/write-you-a-vector-db/cpp-05-ivfflat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kyzh.github.io/write-you-a-vector-db" TargetMode="External"/><Relationship Id="rId5" Type="http://schemas.openxmlformats.org/officeDocument/2006/relationships/image" Target="../media/image66.svg"/><Relationship Id="rId4" Type="http://schemas.openxmlformats.org/officeDocument/2006/relationships/image" Target="../media/image65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ierarchical_navigable_small_world" TargetMode="External"/><Relationship Id="rId7" Type="http://schemas.openxmlformats.org/officeDocument/2006/relationships/hyperlink" Target="https://skyzh.github.io/write-you-a-vector-d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icrosoft.com/en-us/research/project/project-akupara-approximate-nearest-neighbor-search-for-large-scale-semantic-search/" TargetMode="External"/><Relationship Id="rId5" Type="http://schemas.openxmlformats.org/officeDocument/2006/relationships/hyperlink" Target="https://github.com/nmslib/hnswlib" TargetMode="External"/><Relationship Id="rId4" Type="http://schemas.openxmlformats.org/officeDocument/2006/relationships/hyperlink" Target="https://faiss.ai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ierarchical_navigable_small_worl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icrosoft.com/en-us/research/project/project-akupara-approximate-nearest-neighbor-search-for-large-scale-semantic-search/" TargetMode="External"/><Relationship Id="rId5" Type="http://schemas.openxmlformats.org/officeDocument/2006/relationships/hyperlink" Target="https://github.com/nmslib/hnswlib" TargetMode="External"/><Relationship Id="rId4" Type="http://schemas.openxmlformats.org/officeDocument/2006/relationships/hyperlink" Target="https://faiss.ai/" TargetMode="Externa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angziqi2016/index-microbench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DC96E7-9F05-2969-F25D-D1574F014B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3000" y="3257551"/>
            <a:ext cx="6858000" cy="533400"/>
          </a:xfrm>
        </p:spPr>
        <p:txBody>
          <a:bodyPr/>
          <a:lstStyle/>
          <a:p>
            <a:r>
              <a:rPr lang="en-US" dirty="0"/>
              <a:t>Lecture 10: It's Data Structure Week!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A809E-36E2-9300-F44A-FF6BB66BBB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58238" y="30163"/>
            <a:ext cx="385762" cy="255587"/>
          </a:xfrm>
          <a:prstGeom prst="rect">
            <a:avLst/>
          </a:prstGeom>
        </p:spPr>
        <p:txBody>
          <a:bodyPr/>
          <a:lstStyle/>
          <a:p>
            <a:fld id="{97DD1AB5-42BA-4E8A-BFEE-435884E16AA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723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EE046087-4A0B-44FD-A01E-D5D1AE3B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Announcements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889DBE1E-E6AE-42EA-A60D-1CEC3BCDF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Code reviews start today.  Look at the office hours schedule to get the location for your slot.</a:t>
            </a:r>
          </a:p>
        </p:txBody>
      </p:sp>
      <p:sp>
        <p:nvSpPr>
          <p:cNvPr id="4" name="Slide Number Placeholder 3" descr=" 5">
            <a:extLst>
              <a:ext uri="{FF2B5EF4-FFF2-40B4-BE49-F238E27FC236}">
                <a16:creationId xmlns:a16="http://schemas.microsoft.com/office/drawing/2014/main" id="{8D939524-0A91-9925-040F-D182CB5D870A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7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9BE067-BF7A-4732-8312-AF3444FBB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Today's Agenda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5587B-EBA5-48F1-AE16-81CBE6D58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Bloom Filters</a:t>
            </a:r>
          </a:p>
          <a:p>
            <a:r>
              <a:rPr lang="en-US" dirty="0"/>
              <a:t>Skip Lists</a:t>
            </a:r>
          </a:p>
          <a:p>
            <a:r>
              <a:rPr lang="en-US" dirty="0"/>
              <a:t>Tries / Radix Trees</a:t>
            </a:r>
          </a:p>
          <a:p>
            <a:r>
              <a:rPr lang="en-US" dirty="0"/>
              <a:t>Inverted Indexes</a:t>
            </a:r>
          </a:p>
          <a:p>
            <a:r>
              <a:rPr lang="en-US" dirty="0"/>
              <a:t>Vector Indexes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631E72-BD18-48F5-9499-8E60CD579F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288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DA9011-8426-4C76-9A5D-D1F451F27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Indexes vs. Filters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B22B0-6A27-4D95-BE7B-7DE3F6AC1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u="sng" dirty="0"/>
              <a:t>index</a:t>
            </a:r>
            <a:r>
              <a:rPr lang="en-US" dirty="0"/>
              <a:t> data structure of a subset of a table's attributes that are organized and/or sorted to the location of specific tuples using those attributes.</a:t>
            </a:r>
          </a:p>
          <a:p>
            <a:pPr lvl="1"/>
            <a:r>
              <a:rPr lang="en-US" dirty="0"/>
              <a:t>Example: B+Tree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u="sng" dirty="0"/>
              <a:t>filter</a:t>
            </a:r>
            <a:r>
              <a:rPr lang="en-US" dirty="0"/>
              <a:t> is a data structure that answers set membership queries; it tells you whether a key (likely) exists in a set but </a:t>
            </a:r>
            <a:r>
              <a:rPr lang="en-US" u="sng" dirty="0"/>
              <a:t>not</a:t>
            </a:r>
            <a:r>
              <a:rPr lang="en-US" dirty="0"/>
              <a:t> where it is located.</a:t>
            </a:r>
          </a:p>
          <a:p>
            <a:pPr lvl="1"/>
            <a:r>
              <a:rPr lang="en-US" dirty="0"/>
              <a:t>Example: Bloom Filter</a:t>
            </a:r>
          </a:p>
          <a:p>
            <a:endParaRPr lang="en-US" sz="1200" dirty="0"/>
          </a:p>
          <a:p>
            <a:endParaRPr lang="en-US" dirty="0"/>
          </a:p>
        </p:txBody>
      </p:sp>
      <p:sp>
        <p:nvSpPr>
          <p:cNvPr id="5" name="Slide Number Placeholder 3" descr=" 5">
            <a:extLst>
              <a:ext uri="{FF2B5EF4-FFF2-40B4-BE49-F238E27FC236}">
                <a16:creationId xmlns:a16="http://schemas.microsoft.com/office/drawing/2014/main" id="{76AA114E-57C1-F656-5726-0516F4027312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DD1AB5-42BA-4E8A-BFEE-435884E16AA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2" name="Highlight Box">
            <a:extLst>
              <a:ext uri="{FF2B5EF4-FFF2-40B4-BE49-F238E27FC236}">
                <a16:creationId xmlns:a16="http://schemas.microsoft.com/office/drawing/2014/main" id="{01BFB789-B779-874B-B304-19688DDF64E4}"/>
              </a:ext>
            </a:extLst>
          </p:cNvPr>
          <p:cNvSpPr/>
          <p:nvPr/>
        </p:nvSpPr>
        <p:spPr>
          <a:xfrm>
            <a:off x="1348740" y="2724150"/>
            <a:ext cx="6400800" cy="1371600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4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D1B14F-1D26-4204-8E3F-59EEA2B4D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A0E2A-EF07-496B-9949-9B72B5794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Probabilistic data structure (bitmap) that answers set membership queries.</a:t>
            </a:r>
          </a:p>
          <a:p>
            <a:pPr lvl="1"/>
            <a:r>
              <a:rPr lang="en-US" dirty="0"/>
              <a:t>False negatives will never occur.</a:t>
            </a:r>
          </a:p>
          <a:p>
            <a:pPr lvl="1"/>
            <a:r>
              <a:rPr lang="en-US" dirty="0"/>
              <a:t>False positives can sometimes occur.</a:t>
            </a:r>
          </a:p>
          <a:p>
            <a:pPr lvl="1"/>
            <a:r>
              <a:rPr lang="en-US" dirty="0"/>
              <a:t>See </a:t>
            </a:r>
            <a:r>
              <a:rPr lang="en-US" dirty="0">
                <a:hlinkClick r:id="rId3"/>
              </a:rPr>
              <a:t>Bloom Filter Calculator</a:t>
            </a:r>
            <a:r>
              <a:rPr lang="en-US" dirty="0"/>
              <a:t>.</a:t>
            </a:r>
          </a:p>
          <a:p>
            <a:endParaRPr lang="en-US" sz="1200" dirty="0"/>
          </a:p>
          <a:p>
            <a:r>
              <a:rPr lang="en-US" b="1" dirty="0"/>
              <a:t>Insert(x):</a:t>
            </a:r>
          </a:p>
          <a:p>
            <a:pPr lvl="1"/>
            <a:r>
              <a:rPr lang="en-US" dirty="0"/>
              <a:t>Use </a:t>
            </a:r>
            <a:r>
              <a:rPr lang="en-US" i="1" dirty="0"/>
              <a:t>k</a:t>
            </a:r>
            <a:r>
              <a:rPr lang="en-US" dirty="0"/>
              <a:t> hash functions to set bits in the filter to 1.</a:t>
            </a:r>
          </a:p>
          <a:p>
            <a:r>
              <a:rPr lang="en-US" b="1" dirty="0"/>
              <a:t>Lookup(x):</a:t>
            </a:r>
          </a:p>
          <a:p>
            <a:pPr lvl="1"/>
            <a:r>
              <a:rPr lang="en-US" dirty="0"/>
              <a:t>Check whether the bits are 1 for each hash function.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83A82-3044-43F3-8725-7B4FF9FAF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5" y="0"/>
            <a:ext cx="386355" cy="2547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Crimson Tex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7DD1AB5-42BA-4E8A-BFEE-435884E16AAB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396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67B022-590A-46A4-A167-281AF9192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Filters</a:t>
            </a:r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4D737E37-157D-423D-AE00-C3A980637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Inconsolata" panose="00000509000000000000" pitchFamily="49" charset="0"/>
              </a:rPr>
              <a:t>Insert 'RZA'</a:t>
            </a:r>
          </a:p>
          <a:p>
            <a:endParaRPr lang="en-US" sz="1200" b="1" dirty="0">
              <a:latin typeface="Inconsolata" panose="00000509000000000000" pitchFamily="49" charset="0"/>
            </a:endParaRPr>
          </a:p>
          <a:p>
            <a:r>
              <a:rPr lang="en-US" b="1" dirty="0">
                <a:latin typeface="Inconsolata" panose="00000509000000000000" pitchFamily="49" charset="0"/>
              </a:rPr>
              <a:t>Insert 'GZA'</a:t>
            </a:r>
          </a:p>
          <a:p>
            <a:endParaRPr lang="en-US" sz="1200" b="1" dirty="0">
              <a:latin typeface="Inconsolata" panose="00000509000000000000" pitchFamily="49" charset="0"/>
            </a:endParaRPr>
          </a:p>
          <a:p>
            <a:r>
              <a:rPr lang="en-US" b="1" dirty="0">
                <a:latin typeface="Inconsolata" panose="00000509000000000000" pitchFamily="49" charset="0"/>
              </a:rPr>
              <a:t>Lookup 'RZA' </a:t>
            </a:r>
          </a:p>
          <a:p>
            <a:endParaRPr lang="en-US" sz="1200" b="1" dirty="0">
              <a:latin typeface="Inconsolata" panose="00000509000000000000" pitchFamily="49" charset="0"/>
            </a:endParaRPr>
          </a:p>
          <a:p>
            <a:r>
              <a:rPr lang="en-US" b="1" dirty="0">
                <a:latin typeface="Inconsolata" panose="00000509000000000000" pitchFamily="49" charset="0"/>
              </a:rPr>
              <a:t>Lookup 'Raekwon'</a:t>
            </a:r>
          </a:p>
          <a:p>
            <a:endParaRPr lang="en-US" sz="1200" b="1" dirty="0">
              <a:latin typeface="Inconsolata" panose="00000509000000000000" pitchFamily="49" charset="0"/>
            </a:endParaRPr>
          </a:p>
          <a:p>
            <a:r>
              <a:rPr lang="en-US" b="1" dirty="0">
                <a:latin typeface="Inconsolata" panose="00000509000000000000" pitchFamily="49" charset="0"/>
              </a:rPr>
              <a:t>Lookup 'ODB'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618BC-871A-479B-ADA3-A36801ED4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50000"/>
                  </a:schemeClr>
                </a:solidFill>
                <a:latin typeface="Crimson Tex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7DD1AB5-42BA-4E8A-BFEE-435884E16AAB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C41372D8-8736-4113-BB03-B28B3B925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424340"/>
            <a:ext cx="3200400" cy="9144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2400" u="none" dirty="0">
              <a:latin typeface="DejaVu Sans Mono" pitchFamily="49" charset="0"/>
              <a:ea typeface="DejaVu Sans Mono" pitchFamily="49" charset="0"/>
              <a:cs typeface="DejaVu Sans Mono" pitchFamily="49" charset="0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6558E812-CF42-48A2-AE4D-694AC006F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4186" y="1123950"/>
            <a:ext cx="19379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>
                <a:solidFill>
                  <a:srgbClr val="646464"/>
                </a:solidFill>
              </a:rPr>
              <a:t>Bloom Filter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D7FFC6-9724-4BAB-AE5C-C5447F11E106}"/>
              </a:ext>
            </a:extLst>
          </p:cNvPr>
          <p:cNvSpPr/>
          <p:nvPr/>
        </p:nvSpPr>
        <p:spPr>
          <a:xfrm>
            <a:off x="5166360" y="1815245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FC12C3-C280-4904-93C9-AC8A20D7B51C}"/>
              </a:ext>
            </a:extLst>
          </p:cNvPr>
          <p:cNvSpPr/>
          <p:nvPr/>
        </p:nvSpPr>
        <p:spPr>
          <a:xfrm>
            <a:off x="5532120" y="1815245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EF38A2-F006-4BD3-BCC9-C13AD9653D9C}"/>
              </a:ext>
            </a:extLst>
          </p:cNvPr>
          <p:cNvSpPr/>
          <p:nvPr/>
        </p:nvSpPr>
        <p:spPr>
          <a:xfrm>
            <a:off x="5897880" y="1815245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B4AF88-05DC-4C2F-8173-4539B59AF5C1}"/>
              </a:ext>
            </a:extLst>
          </p:cNvPr>
          <p:cNvSpPr/>
          <p:nvPr/>
        </p:nvSpPr>
        <p:spPr>
          <a:xfrm>
            <a:off x="6263640" y="1815245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BF2983D-22E2-489B-8DC5-50BC3E1E07AA}"/>
              </a:ext>
            </a:extLst>
          </p:cNvPr>
          <p:cNvSpPr/>
          <p:nvPr/>
        </p:nvSpPr>
        <p:spPr>
          <a:xfrm>
            <a:off x="6629400" y="1815245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6B2ACD-3557-4F87-815F-4EFD8CE7F39E}"/>
              </a:ext>
            </a:extLst>
          </p:cNvPr>
          <p:cNvSpPr/>
          <p:nvPr/>
        </p:nvSpPr>
        <p:spPr>
          <a:xfrm>
            <a:off x="6995160" y="1815245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91E4D03-836E-4E64-B9F3-C3C227A33CAB}"/>
              </a:ext>
            </a:extLst>
          </p:cNvPr>
          <p:cNvSpPr/>
          <p:nvPr/>
        </p:nvSpPr>
        <p:spPr>
          <a:xfrm>
            <a:off x="7360920" y="1815245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F897B19-9CE6-4FAC-986F-FD03CC08DE0A}"/>
              </a:ext>
            </a:extLst>
          </p:cNvPr>
          <p:cNvSpPr/>
          <p:nvPr/>
        </p:nvSpPr>
        <p:spPr>
          <a:xfrm>
            <a:off x="7726680" y="1815245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600" dirty="0">
                <a:solidFill>
                  <a:srgbClr val="646464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0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99309C9-436B-4134-9BE7-CBE650526E40}"/>
              </a:ext>
            </a:extLst>
          </p:cNvPr>
          <p:cNvGrpSpPr/>
          <p:nvPr/>
        </p:nvGrpSpPr>
        <p:grpSpPr>
          <a:xfrm>
            <a:off x="5297944" y="1551595"/>
            <a:ext cx="2662912" cy="246221"/>
            <a:chOff x="1106944" y="1576580"/>
            <a:chExt cx="2662912" cy="24622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8047B29-6592-49FF-B6A4-108AD045359A}"/>
                </a:ext>
              </a:extLst>
            </p:cNvPr>
            <p:cNvSpPr/>
            <p:nvPr/>
          </p:nvSpPr>
          <p:spPr>
            <a:xfrm>
              <a:off x="1106944" y="1576580"/>
              <a:ext cx="102592" cy="24622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0</a:t>
              </a: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95AC3B2-6F8B-49CA-A9B8-23A05A6A4D06}"/>
                </a:ext>
              </a:extLst>
            </p:cNvPr>
            <p:cNvSpPr/>
            <p:nvPr/>
          </p:nvSpPr>
          <p:spPr>
            <a:xfrm>
              <a:off x="1472704" y="1576580"/>
              <a:ext cx="102592" cy="24622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1</a:t>
              </a: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C5A1041-DFB0-436A-9FC5-0889D54CAF79}"/>
                </a:ext>
              </a:extLst>
            </p:cNvPr>
            <p:cNvSpPr/>
            <p:nvPr/>
          </p:nvSpPr>
          <p:spPr>
            <a:xfrm>
              <a:off x="1838464" y="1576580"/>
              <a:ext cx="102592" cy="24622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2</a:t>
              </a: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F79B8B2-4BC6-46CA-B961-140CB347C998}"/>
                </a:ext>
              </a:extLst>
            </p:cNvPr>
            <p:cNvSpPr/>
            <p:nvPr/>
          </p:nvSpPr>
          <p:spPr>
            <a:xfrm>
              <a:off x="2204224" y="1576580"/>
              <a:ext cx="102592" cy="24622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3</a:t>
              </a: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AED0687-4EBE-40D5-A990-9D2D6D9B10B7}"/>
                </a:ext>
              </a:extLst>
            </p:cNvPr>
            <p:cNvSpPr/>
            <p:nvPr/>
          </p:nvSpPr>
          <p:spPr>
            <a:xfrm>
              <a:off x="2569984" y="1576580"/>
              <a:ext cx="102592" cy="24622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4</a:t>
              </a: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22069D3-7A59-4504-A9E6-02B9EE753FF6}"/>
                </a:ext>
              </a:extLst>
            </p:cNvPr>
            <p:cNvSpPr/>
            <p:nvPr/>
          </p:nvSpPr>
          <p:spPr>
            <a:xfrm>
              <a:off x="2935744" y="1576580"/>
              <a:ext cx="102592" cy="24622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5</a:t>
              </a: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87AA8E7-CE8B-4485-819A-BB7B4A73ED5A}"/>
                </a:ext>
              </a:extLst>
            </p:cNvPr>
            <p:cNvSpPr/>
            <p:nvPr/>
          </p:nvSpPr>
          <p:spPr>
            <a:xfrm>
              <a:off x="3301504" y="1576580"/>
              <a:ext cx="102592" cy="24622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6</a:t>
              </a: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9EE4312-EEA9-4961-86FC-DCBAE02A7212}"/>
                </a:ext>
              </a:extLst>
            </p:cNvPr>
            <p:cNvSpPr/>
            <p:nvPr/>
          </p:nvSpPr>
          <p:spPr>
            <a:xfrm>
              <a:off x="3667264" y="1576580"/>
              <a:ext cx="102592" cy="246221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46464"/>
                  </a:solidFill>
                  <a:latin typeface="Inconsolata" panose="00000509000000000000" pitchFamily="49" charset="0"/>
                  <a:ea typeface="Open Sans" pitchFamily="34" charset="0"/>
                </a:rPr>
                <a:t>7</a:t>
              </a:r>
              <a:endParaRPr lang="en-US" sz="1600" b="1" dirty="0">
                <a:solidFill>
                  <a:srgbClr val="646464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74" name="hash2(RZA)">
            <a:extLst>
              <a:ext uri="{FF2B5EF4-FFF2-40B4-BE49-F238E27FC236}">
                <a16:creationId xmlns:a16="http://schemas.microsoft.com/office/drawing/2014/main" id="{BDC5EFB2-5898-4CF4-BDBA-9D9C2D61AA4D}"/>
              </a:ext>
            </a:extLst>
          </p:cNvPr>
          <p:cNvGrpSpPr/>
          <p:nvPr/>
        </p:nvGrpSpPr>
        <p:grpSpPr>
          <a:xfrm>
            <a:off x="4749800" y="3239100"/>
            <a:ext cx="3632594" cy="369332"/>
            <a:chOff x="838883" y="3239100"/>
            <a:chExt cx="3199717" cy="369332"/>
          </a:xfrm>
        </p:grpSpPr>
        <p:sp>
          <p:nvSpPr>
            <p:cNvPr id="55" name="TextBox 15">
              <a:extLst>
                <a:ext uri="{FF2B5EF4-FFF2-40B4-BE49-F238E27FC236}">
                  <a16:creationId xmlns:a16="http://schemas.microsoft.com/office/drawing/2014/main" id="{02206521-98A8-4602-9169-687B939F9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883" y="3239100"/>
              <a:ext cx="2992774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hash</a:t>
              </a:r>
              <a:r>
                <a:rPr lang="en-US" baseline="-25000" dirty="0">
                  <a:solidFill>
                    <a:schemeClr val="accent1"/>
                  </a:solidFill>
                  <a:latin typeface="Crimson Text" pitchFamily="2" charset="0"/>
                </a:rPr>
                <a:t>2</a:t>
              </a:r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('RZA') = 4444 % 8 = </a:t>
              </a:r>
            </a:p>
          </p:txBody>
        </p:sp>
        <p:sp>
          <p:nvSpPr>
            <p:cNvPr id="62" name="TextBox 15">
              <a:extLst>
                <a:ext uri="{FF2B5EF4-FFF2-40B4-BE49-F238E27FC236}">
                  <a16:creationId xmlns:a16="http://schemas.microsoft.com/office/drawing/2014/main" id="{4AE3DFBB-FB1A-4721-8138-1998849DE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3980" y="3239100"/>
              <a:ext cx="134620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4 </a:t>
              </a:r>
            </a:p>
          </p:txBody>
        </p:sp>
      </p:grpSp>
      <p:grpSp>
        <p:nvGrpSpPr>
          <p:cNvPr id="75" name="hash1(RZA)">
            <a:extLst>
              <a:ext uri="{FF2B5EF4-FFF2-40B4-BE49-F238E27FC236}">
                <a16:creationId xmlns:a16="http://schemas.microsoft.com/office/drawing/2014/main" id="{68B68539-5C7F-4D85-9203-2C8405592ADC}"/>
              </a:ext>
            </a:extLst>
          </p:cNvPr>
          <p:cNvGrpSpPr/>
          <p:nvPr/>
        </p:nvGrpSpPr>
        <p:grpSpPr>
          <a:xfrm>
            <a:off x="4749800" y="2788920"/>
            <a:ext cx="3575776" cy="369332"/>
            <a:chOff x="888931" y="2788920"/>
            <a:chExt cx="3149669" cy="369332"/>
          </a:xfrm>
        </p:grpSpPr>
        <p:sp>
          <p:nvSpPr>
            <p:cNvPr id="54" name="TextBox 15">
              <a:extLst>
                <a:ext uri="{FF2B5EF4-FFF2-40B4-BE49-F238E27FC236}">
                  <a16:creationId xmlns:a16="http://schemas.microsoft.com/office/drawing/2014/main" id="{45B74DB6-1CC2-4152-9FDE-722CB6E38C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8931" y="2788920"/>
              <a:ext cx="2940117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hash</a:t>
              </a:r>
              <a:r>
                <a:rPr lang="en-US" baseline="-25000" dirty="0">
                  <a:solidFill>
                    <a:schemeClr val="accent1"/>
                  </a:solidFill>
                  <a:latin typeface="Crimson Text" pitchFamily="2" charset="0"/>
                </a:rPr>
                <a:t>1</a:t>
              </a:r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('RZA') = 2222 % 8 =</a:t>
              </a:r>
            </a:p>
          </p:txBody>
        </p:sp>
        <p:sp>
          <p:nvSpPr>
            <p:cNvPr id="63" name="TextBox 15">
              <a:extLst>
                <a:ext uri="{FF2B5EF4-FFF2-40B4-BE49-F238E27FC236}">
                  <a16:creationId xmlns:a16="http://schemas.microsoft.com/office/drawing/2014/main" id="{769456E0-CBF1-476C-A3EF-DFE6DDA59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3980" y="2788920"/>
              <a:ext cx="134620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6 </a:t>
              </a:r>
            </a:p>
          </p:txBody>
        </p:sp>
      </p:grpSp>
      <p:grpSp>
        <p:nvGrpSpPr>
          <p:cNvPr id="73" name="hash2(GZA)">
            <a:extLst>
              <a:ext uri="{FF2B5EF4-FFF2-40B4-BE49-F238E27FC236}">
                <a16:creationId xmlns:a16="http://schemas.microsoft.com/office/drawing/2014/main" id="{7258DFF9-E3A8-4037-8AFB-706A40FD4E55}"/>
              </a:ext>
            </a:extLst>
          </p:cNvPr>
          <p:cNvGrpSpPr/>
          <p:nvPr/>
        </p:nvGrpSpPr>
        <p:grpSpPr>
          <a:xfrm>
            <a:off x="4749800" y="3239100"/>
            <a:ext cx="3632594" cy="369332"/>
            <a:chOff x="838883" y="4391405"/>
            <a:chExt cx="3199717" cy="369332"/>
          </a:xfrm>
        </p:grpSpPr>
        <p:sp>
          <p:nvSpPr>
            <p:cNvPr id="69" name="TextBox 15">
              <a:extLst>
                <a:ext uri="{FF2B5EF4-FFF2-40B4-BE49-F238E27FC236}">
                  <a16:creationId xmlns:a16="http://schemas.microsoft.com/office/drawing/2014/main" id="{6376F308-DF61-41EE-A1A2-D65213168B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883" y="4391405"/>
              <a:ext cx="2997788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hash</a:t>
              </a:r>
              <a:r>
                <a:rPr lang="en-US" baseline="-25000" dirty="0">
                  <a:solidFill>
                    <a:schemeClr val="accent1"/>
                  </a:solidFill>
                  <a:latin typeface="Crimson Text" pitchFamily="2" charset="0"/>
                </a:rPr>
                <a:t>2</a:t>
              </a:r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('GZA') = 7777 % 8 = </a:t>
              </a:r>
            </a:p>
          </p:txBody>
        </p:sp>
        <p:sp>
          <p:nvSpPr>
            <p:cNvPr id="70" name="TextBox 15">
              <a:extLst>
                <a:ext uri="{FF2B5EF4-FFF2-40B4-BE49-F238E27FC236}">
                  <a16:creationId xmlns:a16="http://schemas.microsoft.com/office/drawing/2014/main" id="{F0CC7F0E-315C-4FFD-B4C8-2C4B0F0765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3980" y="4391405"/>
              <a:ext cx="134620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1 </a:t>
              </a:r>
            </a:p>
          </p:txBody>
        </p:sp>
      </p:grpSp>
      <p:grpSp>
        <p:nvGrpSpPr>
          <p:cNvPr id="72" name="hash1(GZA)">
            <a:extLst>
              <a:ext uri="{FF2B5EF4-FFF2-40B4-BE49-F238E27FC236}">
                <a16:creationId xmlns:a16="http://schemas.microsoft.com/office/drawing/2014/main" id="{C64EC492-E5CE-42EB-AFF9-8EA1AFA80EC5}"/>
              </a:ext>
            </a:extLst>
          </p:cNvPr>
          <p:cNvGrpSpPr/>
          <p:nvPr/>
        </p:nvGrpSpPr>
        <p:grpSpPr>
          <a:xfrm>
            <a:off x="4749800" y="2788920"/>
            <a:ext cx="3556000" cy="369332"/>
            <a:chOff x="906350" y="3941225"/>
            <a:chExt cx="3132250" cy="369332"/>
          </a:xfrm>
        </p:grpSpPr>
        <p:sp>
          <p:nvSpPr>
            <p:cNvPr id="68" name="TextBox 15">
              <a:extLst>
                <a:ext uri="{FF2B5EF4-FFF2-40B4-BE49-F238E27FC236}">
                  <a16:creationId xmlns:a16="http://schemas.microsoft.com/office/drawing/2014/main" id="{26360E87-B8D3-4066-B278-5CAECAC5A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6350" y="3941225"/>
              <a:ext cx="2929371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hash</a:t>
              </a:r>
              <a:r>
                <a:rPr lang="en-US" baseline="-25000" dirty="0">
                  <a:solidFill>
                    <a:schemeClr val="accent1"/>
                  </a:solidFill>
                  <a:latin typeface="Crimson Text" pitchFamily="2" charset="0"/>
                </a:rPr>
                <a:t>1</a:t>
              </a:r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('GZA') = 5555 % 8 =</a:t>
              </a:r>
            </a:p>
          </p:txBody>
        </p:sp>
        <p:sp>
          <p:nvSpPr>
            <p:cNvPr id="71" name="TextBox 15">
              <a:extLst>
                <a:ext uri="{FF2B5EF4-FFF2-40B4-BE49-F238E27FC236}">
                  <a16:creationId xmlns:a16="http://schemas.microsoft.com/office/drawing/2014/main" id="{2694CAB2-7663-4F4B-9661-237C18926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3980" y="3941225"/>
              <a:ext cx="134620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3 </a:t>
              </a:r>
            </a:p>
          </p:txBody>
        </p:sp>
      </p:grpSp>
      <p:grpSp>
        <p:nvGrpSpPr>
          <p:cNvPr id="93" name="hash1(Raekwon)">
            <a:extLst>
              <a:ext uri="{FF2B5EF4-FFF2-40B4-BE49-F238E27FC236}">
                <a16:creationId xmlns:a16="http://schemas.microsoft.com/office/drawing/2014/main" id="{B9F67991-7E65-4FC4-A834-E2ECB266957B}"/>
              </a:ext>
            </a:extLst>
          </p:cNvPr>
          <p:cNvGrpSpPr/>
          <p:nvPr/>
        </p:nvGrpSpPr>
        <p:grpSpPr>
          <a:xfrm>
            <a:off x="4749800" y="2788920"/>
            <a:ext cx="4102069" cy="369332"/>
            <a:chOff x="425353" y="3934698"/>
            <a:chExt cx="3613247" cy="369332"/>
          </a:xfrm>
        </p:grpSpPr>
        <p:sp>
          <p:nvSpPr>
            <p:cNvPr id="86" name="TextBox 15">
              <a:extLst>
                <a:ext uri="{FF2B5EF4-FFF2-40B4-BE49-F238E27FC236}">
                  <a16:creationId xmlns:a16="http://schemas.microsoft.com/office/drawing/2014/main" id="{E9B0BFC0-103A-4104-901F-8C702A14C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353" y="3934698"/>
              <a:ext cx="3406304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hash</a:t>
              </a:r>
              <a:r>
                <a:rPr lang="en-US" baseline="-25000" dirty="0">
                  <a:solidFill>
                    <a:schemeClr val="accent1"/>
                  </a:solidFill>
                  <a:latin typeface="Crimson Text" pitchFamily="2" charset="0"/>
                </a:rPr>
                <a:t>1</a:t>
              </a:r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('Raekwon') = 3333 % 8 = </a:t>
              </a:r>
            </a:p>
          </p:txBody>
        </p:sp>
        <p:sp>
          <p:nvSpPr>
            <p:cNvPr id="90" name="TextBox 15">
              <a:extLst>
                <a:ext uri="{FF2B5EF4-FFF2-40B4-BE49-F238E27FC236}">
                  <a16:creationId xmlns:a16="http://schemas.microsoft.com/office/drawing/2014/main" id="{3B4CEF12-28E5-4B71-8318-FE98D0873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3980" y="3934698"/>
              <a:ext cx="134620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5 </a:t>
              </a:r>
            </a:p>
          </p:txBody>
        </p:sp>
      </p:grpSp>
      <p:grpSp>
        <p:nvGrpSpPr>
          <p:cNvPr id="94" name="hash2(Raekwon)">
            <a:extLst>
              <a:ext uri="{FF2B5EF4-FFF2-40B4-BE49-F238E27FC236}">
                <a16:creationId xmlns:a16="http://schemas.microsoft.com/office/drawing/2014/main" id="{65DF19BC-8911-4463-9AFA-94A3D6A1D89F}"/>
              </a:ext>
            </a:extLst>
          </p:cNvPr>
          <p:cNvGrpSpPr/>
          <p:nvPr/>
        </p:nvGrpSpPr>
        <p:grpSpPr>
          <a:xfrm>
            <a:off x="4749799" y="3239100"/>
            <a:ext cx="4210095" cy="369332"/>
            <a:chOff x="330200" y="4306747"/>
            <a:chExt cx="3708400" cy="369332"/>
          </a:xfrm>
        </p:grpSpPr>
        <p:sp>
          <p:nvSpPr>
            <p:cNvPr id="87" name="TextBox 15">
              <a:extLst>
                <a:ext uri="{FF2B5EF4-FFF2-40B4-BE49-F238E27FC236}">
                  <a16:creationId xmlns:a16="http://schemas.microsoft.com/office/drawing/2014/main" id="{60791009-9B78-4B3A-B424-970230C4F5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3980" y="4306747"/>
              <a:ext cx="134620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3 </a:t>
              </a:r>
            </a:p>
          </p:txBody>
        </p:sp>
        <p:sp>
          <p:nvSpPr>
            <p:cNvPr id="92" name="TextBox 15">
              <a:extLst>
                <a:ext uri="{FF2B5EF4-FFF2-40B4-BE49-F238E27FC236}">
                  <a16:creationId xmlns:a16="http://schemas.microsoft.com/office/drawing/2014/main" id="{C08A565F-FB18-4DA7-9980-F0567C469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200" y="4306747"/>
              <a:ext cx="3501457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hash</a:t>
              </a:r>
              <a:r>
                <a:rPr lang="en-US" baseline="-25000" dirty="0">
                  <a:solidFill>
                    <a:schemeClr val="accent1"/>
                  </a:solidFill>
                  <a:latin typeface="Crimson Text" pitchFamily="2" charset="0"/>
                </a:rPr>
                <a:t>2</a:t>
              </a:r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('Raekwon') = 8899 % 8 = </a:t>
              </a:r>
            </a:p>
          </p:txBody>
        </p:sp>
      </p:grpSp>
      <p:grpSp>
        <p:nvGrpSpPr>
          <p:cNvPr id="95" name="hash1(ODB)">
            <a:extLst>
              <a:ext uri="{FF2B5EF4-FFF2-40B4-BE49-F238E27FC236}">
                <a16:creationId xmlns:a16="http://schemas.microsoft.com/office/drawing/2014/main" id="{1C3DFDFC-3435-4D3D-9A78-DF1E5DBF8454}"/>
              </a:ext>
            </a:extLst>
          </p:cNvPr>
          <p:cNvGrpSpPr/>
          <p:nvPr/>
        </p:nvGrpSpPr>
        <p:grpSpPr>
          <a:xfrm>
            <a:off x="4749800" y="2788920"/>
            <a:ext cx="3499361" cy="369332"/>
            <a:chOff x="425353" y="3934698"/>
            <a:chExt cx="3613247" cy="369332"/>
          </a:xfrm>
        </p:grpSpPr>
        <p:sp>
          <p:nvSpPr>
            <p:cNvPr id="96" name="TextBox 15">
              <a:extLst>
                <a:ext uri="{FF2B5EF4-FFF2-40B4-BE49-F238E27FC236}">
                  <a16:creationId xmlns:a16="http://schemas.microsoft.com/office/drawing/2014/main" id="{11A6E48B-B9E5-4481-88E4-9E7D982C4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353" y="3934698"/>
              <a:ext cx="3406304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hash</a:t>
              </a:r>
              <a:r>
                <a:rPr lang="en-US" baseline="-25000" dirty="0">
                  <a:solidFill>
                    <a:schemeClr val="accent1"/>
                  </a:solidFill>
                  <a:latin typeface="Crimson Text" pitchFamily="2" charset="0"/>
                </a:rPr>
                <a:t>1</a:t>
              </a:r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('ODB') = 6699 % 8 = </a:t>
              </a:r>
            </a:p>
          </p:txBody>
        </p:sp>
        <p:sp>
          <p:nvSpPr>
            <p:cNvPr id="97" name="TextBox 15">
              <a:extLst>
                <a:ext uri="{FF2B5EF4-FFF2-40B4-BE49-F238E27FC236}">
                  <a16:creationId xmlns:a16="http://schemas.microsoft.com/office/drawing/2014/main" id="{F9941567-D274-4C0A-9857-E5B9E462F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3980" y="3934698"/>
              <a:ext cx="134620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3 </a:t>
              </a:r>
            </a:p>
          </p:txBody>
        </p:sp>
      </p:grpSp>
      <p:grpSp>
        <p:nvGrpSpPr>
          <p:cNvPr id="98" name="hash2(ODB)">
            <a:extLst>
              <a:ext uri="{FF2B5EF4-FFF2-40B4-BE49-F238E27FC236}">
                <a16:creationId xmlns:a16="http://schemas.microsoft.com/office/drawing/2014/main" id="{9E67AC5D-0860-4EF0-AEAB-70E8C0DFDFBC}"/>
              </a:ext>
            </a:extLst>
          </p:cNvPr>
          <p:cNvGrpSpPr/>
          <p:nvPr/>
        </p:nvGrpSpPr>
        <p:grpSpPr>
          <a:xfrm>
            <a:off x="4749800" y="3239100"/>
            <a:ext cx="3499361" cy="369332"/>
            <a:chOff x="330200" y="4306747"/>
            <a:chExt cx="3708400" cy="369332"/>
          </a:xfrm>
        </p:grpSpPr>
        <p:sp>
          <p:nvSpPr>
            <p:cNvPr id="99" name="TextBox 15">
              <a:extLst>
                <a:ext uri="{FF2B5EF4-FFF2-40B4-BE49-F238E27FC236}">
                  <a16:creationId xmlns:a16="http://schemas.microsoft.com/office/drawing/2014/main" id="{9E9D9BDE-CE6F-4852-B5FF-2A93633F4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3980" y="4306747"/>
              <a:ext cx="134620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6 </a:t>
              </a:r>
            </a:p>
          </p:txBody>
        </p:sp>
        <p:sp>
          <p:nvSpPr>
            <p:cNvPr id="100" name="TextBox 15">
              <a:extLst>
                <a:ext uri="{FF2B5EF4-FFF2-40B4-BE49-F238E27FC236}">
                  <a16:creationId xmlns:a16="http://schemas.microsoft.com/office/drawing/2014/main" id="{F78BE5FC-263D-4612-851B-D78F74A30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200" y="4306747"/>
              <a:ext cx="3501457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hash</a:t>
              </a:r>
              <a:r>
                <a:rPr lang="en-US" baseline="-25000" dirty="0">
                  <a:solidFill>
                    <a:schemeClr val="accent1"/>
                  </a:solidFill>
                  <a:latin typeface="Crimson Text" pitchFamily="2" charset="0"/>
                </a:rPr>
                <a:t>2</a:t>
              </a:r>
              <a:r>
                <a:rPr lang="en-US" dirty="0">
                  <a:solidFill>
                    <a:schemeClr val="accent1"/>
                  </a:solidFill>
                  <a:latin typeface="Crimson Text" pitchFamily="2" charset="0"/>
                </a:rPr>
                <a:t>('ODB') = 9966 % 8 = </a:t>
              </a:r>
            </a:p>
          </p:txBody>
        </p:sp>
      </p:grpSp>
      <p:sp>
        <p:nvSpPr>
          <p:cNvPr id="66" name="bit4">
            <a:extLst>
              <a:ext uri="{FF2B5EF4-FFF2-40B4-BE49-F238E27FC236}">
                <a16:creationId xmlns:a16="http://schemas.microsoft.com/office/drawing/2014/main" id="{6D9BB1C9-8FE4-4EE3-8CB0-4B9F891055BD}"/>
              </a:ext>
            </a:extLst>
          </p:cNvPr>
          <p:cNvSpPr/>
          <p:nvPr/>
        </p:nvSpPr>
        <p:spPr>
          <a:xfrm>
            <a:off x="6629400" y="1815245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1</a:t>
            </a:r>
          </a:p>
        </p:txBody>
      </p:sp>
      <p:sp>
        <p:nvSpPr>
          <p:cNvPr id="67" name="bit6">
            <a:extLst>
              <a:ext uri="{FF2B5EF4-FFF2-40B4-BE49-F238E27FC236}">
                <a16:creationId xmlns:a16="http://schemas.microsoft.com/office/drawing/2014/main" id="{FDFC73D4-EF45-44F5-BE0F-17BB223A0059}"/>
              </a:ext>
            </a:extLst>
          </p:cNvPr>
          <p:cNvSpPr/>
          <p:nvPr/>
        </p:nvSpPr>
        <p:spPr>
          <a:xfrm>
            <a:off x="7360920" y="1815245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1</a:t>
            </a:r>
          </a:p>
        </p:txBody>
      </p:sp>
      <p:sp>
        <p:nvSpPr>
          <p:cNvPr id="76" name="bit1">
            <a:extLst>
              <a:ext uri="{FF2B5EF4-FFF2-40B4-BE49-F238E27FC236}">
                <a16:creationId xmlns:a16="http://schemas.microsoft.com/office/drawing/2014/main" id="{6C8D7734-CDF1-499A-A4F1-14D141A62CC5}"/>
              </a:ext>
            </a:extLst>
          </p:cNvPr>
          <p:cNvSpPr/>
          <p:nvPr/>
        </p:nvSpPr>
        <p:spPr>
          <a:xfrm>
            <a:off x="5532120" y="1815245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1</a:t>
            </a:r>
          </a:p>
        </p:txBody>
      </p:sp>
      <p:sp>
        <p:nvSpPr>
          <p:cNvPr id="77" name="bit3">
            <a:extLst>
              <a:ext uri="{FF2B5EF4-FFF2-40B4-BE49-F238E27FC236}">
                <a16:creationId xmlns:a16="http://schemas.microsoft.com/office/drawing/2014/main" id="{C8134CC3-BFCA-4D44-BC1D-22731263792E}"/>
              </a:ext>
            </a:extLst>
          </p:cNvPr>
          <p:cNvSpPr/>
          <p:nvPr/>
        </p:nvSpPr>
        <p:spPr>
          <a:xfrm>
            <a:off x="6263640" y="1815245"/>
            <a:ext cx="365760" cy="36576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1600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1</a:t>
            </a:r>
          </a:p>
        </p:txBody>
      </p:sp>
      <p:cxnSp>
        <p:nvCxnSpPr>
          <p:cNvPr id="56" name="RZA1 ptr arrow">
            <a:extLst>
              <a:ext uri="{FF2B5EF4-FFF2-40B4-BE49-F238E27FC236}">
                <a16:creationId xmlns:a16="http://schemas.microsoft.com/office/drawing/2014/main" id="{BF80C1B5-C418-4B31-AB49-506862FDD309}"/>
              </a:ext>
            </a:extLst>
          </p:cNvPr>
          <p:cNvCxnSpPr>
            <a:cxnSpLocks noChangeShapeType="1"/>
            <a:stCxn id="63" idx="0"/>
            <a:endCxn id="42" idx="2"/>
          </p:cNvCxnSpPr>
          <p:nvPr/>
        </p:nvCxnSpPr>
        <p:spPr bwMode="auto">
          <a:xfrm rot="16200000" flipV="1">
            <a:off x="7592523" y="2132283"/>
            <a:ext cx="607915" cy="70536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" name="RZA2 ptr arrow">
            <a:extLst>
              <a:ext uri="{FF2B5EF4-FFF2-40B4-BE49-F238E27FC236}">
                <a16:creationId xmlns:a16="http://schemas.microsoft.com/office/drawing/2014/main" id="{E6781BB4-6553-489E-A0EB-6F1F071ADF16}"/>
              </a:ext>
            </a:extLst>
          </p:cNvPr>
          <p:cNvCxnSpPr>
            <a:cxnSpLocks noChangeShapeType="1"/>
            <a:stCxn id="62" idx="0"/>
            <a:endCxn id="40" idx="2"/>
          </p:cNvCxnSpPr>
          <p:nvPr/>
        </p:nvCxnSpPr>
        <p:spPr bwMode="auto">
          <a:xfrm rot="16200000" flipV="1">
            <a:off x="7030082" y="1963204"/>
            <a:ext cx="1058095" cy="1493698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GZA2 ptr arrow">
            <a:extLst>
              <a:ext uri="{FF2B5EF4-FFF2-40B4-BE49-F238E27FC236}">
                <a16:creationId xmlns:a16="http://schemas.microsoft.com/office/drawing/2014/main" id="{93E2F05B-7646-4F13-82DE-1F9E4F4AAE51}"/>
              </a:ext>
            </a:extLst>
          </p:cNvPr>
          <p:cNvCxnSpPr>
            <a:cxnSpLocks noChangeShapeType="1"/>
            <a:stCxn id="70" idx="0"/>
            <a:endCxn id="76" idx="2"/>
          </p:cNvCxnSpPr>
          <p:nvPr/>
        </p:nvCxnSpPr>
        <p:spPr bwMode="auto">
          <a:xfrm rot="16200000" flipV="1">
            <a:off x="6481442" y="1414564"/>
            <a:ext cx="1058095" cy="2590978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GZA1 ptr arrow">
            <a:extLst>
              <a:ext uri="{FF2B5EF4-FFF2-40B4-BE49-F238E27FC236}">
                <a16:creationId xmlns:a16="http://schemas.microsoft.com/office/drawing/2014/main" id="{EB6048DD-A72C-4BA0-BD91-4DB17C4C25DF}"/>
              </a:ext>
            </a:extLst>
          </p:cNvPr>
          <p:cNvCxnSpPr>
            <a:cxnSpLocks noChangeShapeType="1"/>
            <a:stCxn id="71" idx="0"/>
            <a:endCxn id="77" idx="2"/>
          </p:cNvCxnSpPr>
          <p:nvPr/>
        </p:nvCxnSpPr>
        <p:spPr bwMode="auto">
          <a:xfrm rot="16200000" flipV="1">
            <a:off x="7033995" y="1593531"/>
            <a:ext cx="607915" cy="1782864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" name="RAE1 ptr arrow">
            <a:extLst>
              <a:ext uri="{FF2B5EF4-FFF2-40B4-BE49-F238E27FC236}">
                <a16:creationId xmlns:a16="http://schemas.microsoft.com/office/drawing/2014/main" id="{924897ED-7A5F-4DF7-B197-795E0E8B151B}"/>
              </a:ext>
            </a:extLst>
          </p:cNvPr>
          <p:cNvCxnSpPr>
            <a:cxnSpLocks noChangeShapeType="1"/>
            <a:stCxn id="90" idx="0"/>
            <a:endCxn id="41" idx="2"/>
          </p:cNvCxnSpPr>
          <p:nvPr/>
        </p:nvCxnSpPr>
        <p:spPr bwMode="auto">
          <a:xfrm rot="16200000" flipV="1">
            <a:off x="7672790" y="1686256"/>
            <a:ext cx="607915" cy="1597413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4" name="RAE2 ptr arrow">
            <a:extLst>
              <a:ext uri="{FF2B5EF4-FFF2-40B4-BE49-F238E27FC236}">
                <a16:creationId xmlns:a16="http://schemas.microsoft.com/office/drawing/2014/main" id="{ECC484AE-BF2B-4260-B1F7-4DCE5302BCE8}"/>
              </a:ext>
            </a:extLst>
          </p:cNvPr>
          <p:cNvCxnSpPr>
            <a:cxnSpLocks noChangeShapeType="1"/>
            <a:stCxn id="87" idx="0"/>
            <a:endCxn id="77" idx="2"/>
          </p:cNvCxnSpPr>
          <p:nvPr/>
        </p:nvCxnSpPr>
        <p:spPr bwMode="auto">
          <a:xfrm rot="16200000" flipV="1">
            <a:off x="7135952" y="1491574"/>
            <a:ext cx="1058095" cy="2436958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7" name="TextBox 15">
            <a:extLst>
              <a:ext uri="{FF2B5EF4-FFF2-40B4-BE49-F238E27FC236}">
                <a16:creationId xmlns:a16="http://schemas.microsoft.com/office/drawing/2014/main" id="{F07C092E-70A1-4218-A82D-FDE5517AC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3526" y="2930553"/>
            <a:ext cx="1076813" cy="3693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  <a:ea typeface="ＭＳ Ｐゴシック" charset="-128"/>
              </a:defRPr>
            </a:lvl1pPr>
          </a:lstStyle>
          <a:p>
            <a:pPr algn="r"/>
            <a:r>
              <a:rPr lang="en-US" dirty="0">
                <a:solidFill>
                  <a:schemeClr val="accent1"/>
                </a:solidFill>
                <a:latin typeface="Crimson Text" pitchFamily="2" charset="0"/>
              </a:rPr>
              <a:t>→ FALSE</a:t>
            </a:r>
          </a:p>
        </p:txBody>
      </p:sp>
      <p:cxnSp>
        <p:nvCxnSpPr>
          <p:cNvPr id="110" name="ODB1 ptr arrow">
            <a:extLst>
              <a:ext uri="{FF2B5EF4-FFF2-40B4-BE49-F238E27FC236}">
                <a16:creationId xmlns:a16="http://schemas.microsoft.com/office/drawing/2014/main" id="{E25B0F17-B1DD-44C8-B842-923A2C3D1228}"/>
              </a:ext>
            </a:extLst>
          </p:cNvPr>
          <p:cNvCxnSpPr>
            <a:cxnSpLocks noChangeShapeType="1"/>
            <a:stCxn id="97" idx="0"/>
            <a:endCxn id="77" idx="2"/>
          </p:cNvCxnSpPr>
          <p:nvPr/>
        </p:nvCxnSpPr>
        <p:spPr bwMode="auto">
          <a:xfrm rot="16200000" flipV="1">
            <a:off x="7011290" y="1616236"/>
            <a:ext cx="607915" cy="1737453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3" name="ODB2 ptr arrow">
            <a:extLst>
              <a:ext uri="{FF2B5EF4-FFF2-40B4-BE49-F238E27FC236}">
                <a16:creationId xmlns:a16="http://schemas.microsoft.com/office/drawing/2014/main" id="{01C0229F-B966-4E1F-94ED-E691A23C7F9C}"/>
              </a:ext>
            </a:extLst>
          </p:cNvPr>
          <p:cNvCxnSpPr>
            <a:cxnSpLocks noChangeShapeType="1"/>
            <a:stCxn id="99" idx="1"/>
            <a:endCxn id="67" idx="2"/>
          </p:cNvCxnSpPr>
          <p:nvPr/>
        </p:nvCxnSpPr>
        <p:spPr bwMode="auto">
          <a:xfrm rot="10800000">
            <a:off x="7543801" y="2181006"/>
            <a:ext cx="578329" cy="1242761"/>
          </a:xfrm>
          <a:prstGeom prst="curvedConnector2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" name="TextBox 15">
            <a:extLst>
              <a:ext uri="{FF2B5EF4-FFF2-40B4-BE49-F238E27FC236}">
                <a16:creationId xmlns:a16="http://schemas.microsoft.com/office/drawing/2014/main" id="{ADD97DA4-01C6-4FAC-B4C3-183EA17B4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3015" y="3575106"/>
            <a:ext cx="1076813" cy="3693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  <a:ea typeface="ＭＳ Ｐゴシック" charset="-128"/>
              </a:defRPr>
            </a:lvl1pPr>
          </a:lstStyle>
          <a:p>
            <a:pPr algn="r"/>
            <a:r>
              <a:rPr lang="en-US" dirty="0">
                <a:solidFill>
                  <a:schemeClr val="accent1"/>
                </a:solidFill>
                <a:latin typeface="Crimson Text" pitchFamily="2" charset="0"/>
              </a:rPr>
              <a:t>→ TRUE</a:t>
            </a:r>
          </a:p>
        </p:txBody>
      </p:sp>
      <p:sp>
        <p:nvSpPr>
          <p:cNvPr id="64" name="TextBox 15">
            <a:extLst>
              <a:ext uri="{FF2B5EF4-FFF2-40B4-BE49-F238E27FC236}">
                <a16:creationId xmlns:a16="http://schemas.microsoft.com/office/drawing/2014/main" id="{C39726C9-9E19-4206-AF3F-795A553EF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3016" y="2286000"/>
            <a:ext cx="1076813" cy="3693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  <a:ea typeface="ＭＳ Ｐゴシック" charset="-128"/>
              </a:defRPr>
            </a:lvl1pPr>
          </a:lstStyle>
          <a:p>
            <a:pPr algn="r"/>
            <a:r>
              <a:rPr lang="en-US" dirty="0">
                <a:solidFill>
                  <a:schemeClr val="accent1"/>
                </a:solidFill>
                <a:latin typeface="Crimson Text" pitchFamily="2" charset="0"/>
              </a:rPr>
              <a:t>→ TRUE</a:t>
            </a:r>
          </a:p>
        </p:txBody>
      </p:sp>
    </p:spTree>
    <p:extLst>
      <p:ext uri="{BB962C8B-B14F-4D97-AF65-F5344CB8AC3E}">
        <p14:creationId xmlns:p14="http://schemas.microsoft.com/office/powerpoint/2010/main" val="81303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2" dur="indefinite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2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indefinite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7" dur="indefinite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"/>
                            </p:stCondLst>
                            <p:childTnLst>
                              <p:par>
                                <p:cTn id="9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1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750"/>
                            </p:stCondLst>
                            <p:childTnLst>
                              <p:par>
                                <p:cTn id="115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indefinite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9" dur="indefinite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indefinite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2" dur="indefinite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50"/>
                            </p:stCondLst>
                            <p:childTnLst>
                              <p:par>
                                <p:cTn id="1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50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50"/>
                            </p:stCondLst>
                            <p:childTnLst>
                              <p:par>
                                <p:cTn id="161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2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2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indefinite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5" dur="indefinite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88" dur="indefinite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50"/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50"/>
                            </p:stCondLst>
                            <p:childTnLst>
                              <p:par>
                                <p:cTn id="19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250"/>
                            </p:stCondLst>
                            <p:childTnLst>
                              <p:par>
                                <p:cTn id="207" presetID="2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76" grpId="0" animBg="1"/>
      <p:bldP spid="77" grpId="0" animBg="1"/>
      <p:bldP spid="107" grpId="0"/>
      <p:bldP spid="107" grpId="1"/>
      <p:bldP spid="119" grpId="0"/>
      <p:bldP spid="64" grpId="0"/>
      <p:bldP spid="6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DB8C-D5FF-A44D-7887-ADD173D5D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B9A3F92-59EE-4F45-7B93-B2B6103C35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0" y="971549"/>
                <a:ext cx="8458200" cy="4140995"/>
              </a:xfrm>
            </p:spPr>
            <p:txBody>
              <a:bodyPr/>
              <a:lstStyle/>
              <a:p>
                <a:r>
                  <a:rPr lang="en-US" dirty="0"/>
                  <a:t>False Negative Rate:</a:t>
                </a:r>
              </a:p>
              <a:p>
                <a:r>
                  <a:rPr lang="en-US" dirty="0"/>
                  <a:t>	Probability that Insert(x) followed by Lookup(x) = False</a:t>
                </a:r>
              </a:p>
              <a:p>
                <a:r>
                  <a:rPr lang="en-US" dirty="0"/>
                  <a:t>	After Insert(x), my bits are set forever</a:t>
                </a:r>
              </a:p>
              <a:p>
                <a:r>
                  <a:rPr lang="en-US" dirty="0"/>
                  <a:t>	False Negative Rate = </a:t>
                </a:r>
                <a:r>
                  <a:rPr lang="en-US" dirty="0">
                    <a:solidFill>
                      <a:srgbClr val="C00000"/>
                    </a:solidFill>
                  </a:rPr>
                  <a:t>Zero (!)</a:t>
                </a:r>
              </a:p>
              <a:p>
                <a:endParaRPr lang="en-US" dirty="0"/>
              </a:p>
              <a:p>
                <a:r>
                  <a:rPr lang="en-US" dirty="0"/>
                  <a:t>False Positive Rate:</a:t>
                </a:r>
              </a:p>
              <a:p>
                <a:r>
                  <a:rPr lang="en-US" dirty="0"/>
                  <a:t>	Probability Lookup(x) = True without Insert</a:t>
                </a:r>
              </a:p>
              <a:p>
                <a:r>
                  <a:rPr lang="en-US" dirty="0"/>
                  <a:t>	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bits, storing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keys,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probes per key:</a:t>
                </a:r>
              </a:p>
              <a:p>
                <a:r>
                  <a:rPr lang="en-US" dirty="0"/>
                  <a:t>	What is Prob(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</m:t>
                    </m:r>
                  </m:oMath>
                </a14:m>
                <a:r>
                  <a:rPr lang="en-US" dirty="0"/>
                  <a:t> key gives false positive)?  </a:t>
                </a:r>
                <a:r>
                  <a:rPr lang="en-US" dirty="0">
                    <a:solidFill>
                      <a:srgbClr val="C00000"/>
                    </a:solidFill>
                  </a:rPr>
                  <a:t>Not 0!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B9A3F92-59EE-4F45-7B93-B2B6103C35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971549"/>
                <a:ext cx="8458200" cy="4140995"/>
              </a:xfrm>
              <a:blipFill>
                <a:blip r:embed="rId2"/>
                <a:stretch>
                  <a:fillRect l="-1201" t="-18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348FD-43D6-6B52-F10E-EF188841FD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093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DA08D-A344-36AD-EA88-849748C83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FFF7019-51CB-235D-3F23-411B1977D824}"/>
              </a:ext>
            </a:extLst>
          </p:cNvPr>
          <p:cNvGrpSpPr/>
          <p:nvPr/>
        </p:nvGrpSpPr>
        <p:grpSpPr>
          <a:xfrm>
            <a:off x="2777780" y="864842"/>
            <a:ext cx="1828800" cy="1832150"/>
            <a:chOff x="2277237" y="864842"/>
            <a:chExt cx="1828800" cy="183215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A1AD460-E20F-60B9-F6D4-E95C0AA81DB1}"/>
                </a:ext>
              </a:extLst>
            </p:cNvPr>
            <p:cNvSpPr/>
            <p:nvPr/>
          </p:nvSpPr>
          <p:spPr>
            <a:xfrm>
              <a:off x="2277237" y="1142512"/>
              <a:ext cx="1828800" cy="1554480"/>
            </a:xfrm>
            <a:prstGeom prst="rect">
              <a:avLst/>
            </a:prstGeom>
            <a:solidFill>
              <a:schemeClr val="accent6"/>
            </a:solidFill>
            <a:ln>
              <a:solidFill>
                <a:srgbClr val="646464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45720" tIns="0" rIns="45720" rtlCol="0" anchor="t" anchorCtr="0">
              <a:noAutofit/>
            </a:bodyPr>
            <a:lstStyle/>
            <a:p>
              <a:pPr algn="ctr"/>
              <a:endParaRPr lang="en-US" sz="1600" b="1" dirty="0">
                <a:solidFill>
                  <a:srgbClr val="2C6BD8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81F8FEB-BCFC-7BAE-DFE4-71D7E595AF06}"/>
                </a:ext>
              </a:extLst>
            </p:cNvPr>
            <p:cNvSpPr txBox="1"/>
            <p:nvPr/>
          </p:nvSpPr>
          <p:spPr>
            <a:xfrm>
              <a:off x="2578488" y="864842"/>
              <a:ext cx="1226298" cy="3139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b="1" i="1" dirty="0" err="1">
                  <a:solidFill>
                    <a:srgbClr val="646464"/>
                  </a:solidFill>
                  <a:latin typeface="Crimson Text" panose="02000503000000000000" pitchFamily="2" charset="0"/>
                </a:rPr>
                <a:t>MemTable</a:t>
              </a:r>
              <a:endParaRPr lang="en-US" sz="2400" b="1" i="1" dirty="0">
                <a:solidFill>
                  <a:srgbClr val="646464"/>
                </a:solidFill>
                <a:latin typeface="Crimson Text" panose="02000503000000000000" pitchFamily="2" charset="0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1564F57-F907-60DA-48AB-18D308DCC42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Log-structured Storage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D3F457E-CBAB-DF8E-1C1F-AD7B7B79F487}"/>
              </a:ext>
            </a:extLst>
          </p:cNvPr>
          <p:cNvCxnSpPr>
            <a:cxnSpLocks/>
          </p:cNvCxnSpPr>
          <p:nvPr/>
        </p:nvCxnSpPr>
        <p:spPr>
          <a:xfrm>
            <a:off x="152399" y="2978375"/>
            <a:ext cx="8321040" cy="0"/>
          </a:xfrm>
          <a:prstGeom prst="line">
            <a:avLst/>
          </a:prstGeom>
          <a:ln w="12700">
            <a:solidFill>
              <a:srgbClr val="64646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5C271AA-ABDF-2FB6-9F8C-5D00A47F4A17}"/>
              </a:ext>
            </a:extLst>
          </p:cNvPr>
          <p:cNvGrpSpPr/>
          <p:nvPr/>
        </p:nvGrpSpPr>
        <p:grpSpPr>
          <a:xfrm>
            <a:off x="242892" y="3292691"/>
            <a:ext cx="641131" cy="1262147"/>
            <a:chOff x="1568669" y="3809592"/>
            <a:chExt cx="641131" cy="1262147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C849509C-5AA3-6119-8428-89315F0AC9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568669" y="3809592"/>
              <a:ext cx="641131" cy="88537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9D6E7A8-25E2-A997-BB38-C80241BB619D}"/>
                </a:ext>
              </a:extLst>
            </p:cNvPr>
            <p:cNvSpPr txBox="1"/>
            <p:nvPr/>
          </p:nvSpPr>
          <p:spPr>
            <a:xfrm>
              <a:off x="1625540" y="4757807"/>
              <a:ext cx="527388" cy="3139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b="1" i="1" dirty="0">
                  <a:solidFill>
                    <a:srgbClr val="646464"/>
                  </a:solidFill>
                  <a:latin typeface="Crimson Text" panose="02000503000000000000" pitchFamily="2" charset="0"/>
                </a:rPr>
                <a:t>Disk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942FBB1-F914-0C6A-754B-915B48E9748E}"/>
              </a:ext>
            </a:extLst>
          </p:cNvPr>
          <p:cNvGrpSpPr/>
          <p:nvPr/>
        </p:nvGrpSpPr>
        <p:grpSpPr>
          <a:xfrm>
            <a:off x="60114" y="1581150"/>
            <a:ext cx="1006686" cy="1249168"/>
            <a:chOff x="1310302" y="2114550"/>
            <a:chExt cx="1006686" cy="1249168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C9978CC-0832-0CDC-D6B6-0C4B7A0384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577162" y="2114550"/>
              <a:ext cx="472966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5888B1A-1AE1-F61A-5140-25AF1D788838}"/>
                </a:ext>
              </a:extLst>
            </p:cNvPr>
            <p:cNvSpPr txBox="1"/>
            <p:nvPr/>
          </p:nvSpPr>
          <p:spPr>
            <a:xfrm>
              <a:off x="1310302" y="3049786"/>
              <a:ext cx="1006686" cy="3139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2400" b="1" i="1" dirty="0">
                  <a:solidFill>
                    <a:srgbClr val="646464"/>
                  </a:solidFill>
                  <a:latin typeface="Crimson Text" panose="02000503000000000000" pitchFamily="2" charset="0"/>
                </a:rPr>
                <a:t>Memory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D177E19-690B-4C40-AF90-7480D0520944}"/>
              </a:ext>
            </a:extLst>
          </p:cNvPr>
          <p:cNvGrpSpPr/>
          <p:nvPr/>
        </p:nvGrpSpPr>
        <p:grpSpPr>
          <a:xfrm>
            <a:off x="5189835" y="874701"/>
            <a:ext cx="1828800" cy="1832150"/>
            <a:chOff x="8627155" y="569535"/>
            <a:chExt cx="1828800" cy="1832150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DDA3897A-5692-218C-D457-EBAB0311A8F0}"/>
                </a:ext>
              </a:extLst>
            </p:cNvPr>
            <p:cNvSpPr/>
            <p:nvPr/>
          </p:nvSpPr>
          <p:spPr>
            <a:xfrm>
              <a:off x="8627155" y="847205"/>
              <a:ext cx="1828800" cy="1554480"/>
            </a:xfrm>
            <a:prstGeom prst="rect">
              <a:avLst/>
            </a:prstGeom>
            <a:solidFill>
              <a:schemeClr val="accent6"/>
            </a:solidFill>
            <a:ln>
              <a:solidFill>
                <a:srgbClr val="646464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45720" tIns="0" rIns="45720" rtlCol="0" anchor="t" anchorCtr="0">
              <a:noAutofit/>
            </a:bodyPr>
            <a:lstStyle/>
            <a:p>
              <a:pPr algn="ctr"/>
              <a:endParaRPr lang="en-US" sz="1600" b="1" dirty="0">
                <a:solidFill>
                  <a:srgbClr val="2C6BD8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100AC9DD-8B21-E53B-8D28-6EC99384B37B}"/>
                </a:ext>
              </a:extLst>
            </p:cNvPr>
            <p:cNvSpPr txBox="1"/>
            <p:nvPr/>
          </p:nvSpPr>
          <p:spPr>
            <a:xfrm>
              <a:off x="9094317" y="569535"/>
              <a:ext cx="894476" cy="3139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400" b="1" i="1" dirty="0" err="1">
                  <a:solidFill>
                    <a:srgbClr val="646464"/>
                  </a:solidFill>
                  <a:latin typeface="Crimson Text" panose="02000503000000000000" pitchFamily="2" charset="0"/>
                </a:rPr>
                <a:t>SSTable</a:t>
              </a:r>
              <a:endParaRPr lang="en-US" sz="2400" b="1" i="1" dirty="0">
                <a:solidFill>
                  <a:srgbClr val="646464"/>
                </a:solidFill>
                <a:latin typeface="Crimson Text" panose="02000503000000000000" pitchFamily="2" charset="0"/>
              </a:endParaRP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AD769AB4-F4A6-1133-B9C7-7E80AD397B15}"/>
                </a:ext>
              </a:extLst>
            </p:cNvPr>
            <p:cNvGrpSpPr/>
            <p:nvPr/>
          </p:nvGrpSpPr>
          <p:grpSpPr>
            <a:xfrm>
              <a:off x="8719750" y="991262"/>
              <a:ext cx="1643610" cy="970888"/>
              <a:chOff x="5611850" y="1317804"/>
              <a:chExt cx="1643610" cy="97088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DA7A288F-EFCD-F7AB-BF66-A3CC4C4547B4}"/>
                  </a:ext>
                </a:extLst>
              </p:cNvPr>
              <p:cNvSpPr/>
              <p:nvPr/>
            </p:nvSpPr>
            <p:spPr>
              <a:xfrm>
                <a:off x="5611850" y="1317804"/>
                <a:ext cx="1643610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46464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45720" rIns="45720" rtlCol="0" anchor="ctr" anchorCtr="0">
                <a:noAutofit/>
              </a:bodyPr>
              <a:lstStyle/>
              <a:p>
                <a:r>
                  <a:rPr lang="en-US" sz="1400" b="1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PUT</a:t>
                </a:r>
                <a:r>
                  <a:rPr lang="en-US" sz="1400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 (key101,a</a:t>
                </a:r>
                <a:r>
                  <a:rPr lang="en-US" sz="1400" baseline="-25000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2</a:t>
                </a:r>
                <a:r>
                  <a:rPr lang="en-US" sz="1400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)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F7AF1EA-7DCD-6AC9-7278-DD41A6038CE6}"/>
                  </a:ext>
                </a:extLst>
              </p:cNvPr>
              <p:cNvSpPr/>
              <p:nvPr/>
            </p:nvSpPr>
            <p:spPr>
              <a:xfrm>
                <a:off x="5611850" y="1666088"/>
                <a:ext cx="1643610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46464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45720" rIns="45720" rtlCol="0" anchor="ctr" anchorCtr="0">
                <a:noAutofit/>
              </a:bodyPr>
              <a:lstStyle/>
              <a:p>
                <a:r>
                  <a:rPr lang="en-US" sz="1400" b="1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PUT</a:t>
                </a:r>
                <a:r>
                  <a:rPr lang="en-US" sz="1400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 (key102,b</a:t>
                </a:r>
                <a:r>
                  <a:rPr lang="en-US" sz="1400" baseline="-25000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1</a:t>
                </a:r>
                <a:r>
                  <a:rPr lang="en-US" sz="1400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)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855892D-A5C2-3F44-5F07-AC691C035C44}"/>
                  </a:ext>
                </a:extLst>
              </p:cNvPr>
              <p:cNvSpPr/>
              <p:nvPr/>
            </p:nvSpPr>
            <p:spPr>
              <a:xfrm>
                <a:off x="5611850" y="2014372"/>
                <a:ext cx="1643610" cy="2743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646464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wrap="square" lIns="45720" rIns="45720" rtlCol="0" anchor="ctr" anchorCtr="0">
                <a:noAutofit/>
              </a:bodyPr>
              <a:lstStyle/>
              <a:p>
                <a:r>
                  <a:rPr lang="en-US" sz="1400" b="1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PUT</a:t>
                </a:r>
                <a:r>
                  <a:rPr lang="en-US" sz="1400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 (key103,c</a:t>
                </a:r>
                <a:r>
                  <a:rPr lang="en-US" sz="1400" baseline="-25000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1</a:t>
                </a:r>
                <a:r>
                  <a:rPr lang="en-US" sz="1400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)</a:t>
                </a:r>
              </a:p>
            </p:txBody>
          </p:sp>
        </p:grpSp>
      </p:grpSp>
      <p:sp>
        <p:nvSpPr>
          <p:cNvPr id="41" name="Right Arrow 6">
            <a:extLst>
              <a:ext uri="{FF2B5EF4-FFF2-40B4-BE49-F238E27FC236}">
                <a16:creationId xmlns:a16="http://schemas.microsoft.com/office/drawing/2014/main" id="{EEBA0659-A255-5619-6429-11A15DEC3A03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504893" y="1636920"/>
            <a:ext cx="1920240" cy="614774"/>
          </a:xfrm>
          <a:prstGeom prst="rightArrow">
            <a:avLst>
              <a:gd name="adj1" fmla="val 50000"/>
              <a:gd name="adj2" fmla="val 50013"/>
            </a:avLst>
          </a:prstGeom>
          <a:solidFill>
            <a:srgbClr val="C30037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000" b="1" i="1" u="none" dirty="0">
                <a:solidFill>
                  <a:schemeClr val="bg1"/>
                </a:solidFill>
                <a:latin typeface="Crimson Text" panose="02000503000000000000" pitchFamily="2" charset="0"/>
              </a:rPr>
              <a:t>Key </a:t>
            </a:r>
            <a:r>
              <a:rPr lang="en-US" altLang="en-US" sz="2000" b="1" i="1" u="none" dirty="0" err="1">
                <a:solidFill>
                  <a:schemeClr val="bg1"/>
                </a:solidFill>
                <a:latin typeface="Crimson Text" panose="02000503000000000000" pitchFamily="2" charset="0"/>
              </a:rPr>
              <a:t>Low→High</a:t>
            </a:r>
            <a:endParaRPr lang="en-US" altLang="en-US" sz="2000" b="1" i="1" u="none" dirty="0">
              <a:solidFill>
                <a:schemeClr val="bg1"/>
              </a:solidFill>
              <a:latin typeface="Crimson Text" panose="02000503000000000000" pitchFamily="2" charset="0"/>
            </a:endParaRPr>
          </a:p>
        </p:txBody>
      </p:sp>
      <p:sp>
        <p:nvSpPr>
          <p:cNvPr id="45" name="Right Arrow 6">
            <a:extLst>
              <a:ext uri="{FF2B5EF4-FFF2-40B4-BE49-F238E27FC236}">
                <a16:creationId xmlns:a16="http://schemas.microsoft.com/office/drawing/2014/main" id="{14103705-67F9-5FB6-2E64-5E7CA9014E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14600" y="742950"/>
            <a:ext cx="365760" cy="365760"/>
          </a:xfrm>
          <a:prstGeom prst="rightArrow">
            <a:avLst>
              <a:gd name="adj1" fmla="val 50000"/>
              <a:gd name="adj2" fmla="val 50019"/>
            </a:avLst>
          </a:prstGeom>
          <a:solidFill>
            <a:srgbClr val="C30037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>
              <a:latin typeface="Inconsolata" panose="00000509000000000000" pitchFamily="49" charset="0"/>
            </a:endParaRPr>
          </a:p>
        </p:txBody>
      </p:sp>
      <p:sp>
        <p:nvSpPr>
          <p:cNvPr id="494" name="L0 SSTable1">
            <a:extLst>
              <a:ext uri="{FF2B5EF4-FFF2-40B4-BE49-F238E27FC236}">
                <a16:creationId xmlns:a16="http://schemas.microsoft.com/office/drawing/2014/main" id="{7E96F49D-13F0-AB9E-A829-2E368423D321}"/>
              </a:ext>
            </a:extLst>
          </p:cNvPr>
          <p:cNvSpPr/>
          <p:nvPr/>
        </p:nvSpPr>
        <p:spPr>
          <a:xfrm>
            <a:off x="4717923" y="3079562"/>
            <a:ext cx="731520" cy="411480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0" rIns="45720" rtlCol="0" anchor="ctr" anchorCtr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1200" b="1" dirty="0" err="1">
                <a:solidFill>
                  <a:srgbClr val="646464"/>
                </a:solidFill>
                <a:latin typeface="Inconsolata" panose="00000509000000000000" pitchFamily="49" charset="0"/>
              </a:rPr>
              <a:t>SSTable</a:t>
            </a:r>
            <a:endParaRPr lang="en-US" sz="1200" b="1" dirty="0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AC2AE32D-4CED-3DDC-7181-07F4F8680E3D}"/>
              </a:ext>
            </a:extLst>
          </p:cNvPr>
          <p:cNvSpPr/>
          <p:nvPr/>
        </p:nvSpPr>
        <p:spPr>
          <a:xfrm>
            <a:off x="4763643" y="4603068"/>
            <a:ext cx="2651760" cy="411480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0" rIns="45720" rtlCol="0" anchor="ctr" anchorCtr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1200" b="1" dirty="0" err="1">
                <a:solidFill>
                  <a:srgbClr val="646464"/>
                </a:solidFill>
                <a:latin typeface="Inconsolata" panose="00000509000000000000" pitchFamily="49" charset="0"/>
              </a:rPr>
              <a:t>SSTable</a:t>
            </a:r>
            <a:endParaRPr lang="en-US" sz="1200" b="1" dirty="0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cxnSp>
        <p:nvCxnSpPr>
          <p:cNvPr id="497" name="Straight Connector 496">
            <a:extLst>
              <a:ext uri="{FF2B5EF4-FFF2-40B4-BE49-F238E27FC236}">
                <a16:creationId xmlns:a16="http://schemas.microsoft.com/office/drawing/2014/main" id="{9828AB16-F593-29D2-168F-7EF2CD2EFB17}"/>
              </a:ext>
            </a:extLst>
          </p:cNvPr>
          <p:cNvCxnSpPr/>
          <p:nvPr/>
        </p:nvCxnSpPr>
        <p:spPr>
          <a:xfrm>
            <a:off x="3855720" y="3666178"/>
            <a:ext cx="3840480" cy="0"/>
          </a:xfrm>
          <a:prstGeom prst="line">
            <a:avLst/>
          </a:prstGeom>
          <a:ln w="12700">
            <a:solidFill>
              <a:srgbClr val="64646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Connector 497">
            <a:extLst>
              <a:ext uri="{FF2B5EF4-FFF2-40B4-BE49-F238E27FC236}">
                <a16:creationId xmlns:a16="http://schemas.microsoft.com/office/drawing/2014/main" id="{7FBD3898-9AD4-A75C-892A-DB81A97F7551}"/>
              </a:ext>
            </a:extLst>
          </p:cNvPr>
          <p:cNvCxnSpPr/>
          <p:nvPr/>
        </p:nvCxnSpPr>
        <p:spPr>
          <a:xfrm>
            <a:off x="3855720" y="4427930"/>
            <a:ext cx="3840480" cy="0"/>
          </a:xfrm>
          <a:prstGeom prst="line">
            <a:avLst/>
          </a:prstGeom>
          <a:ln w="12700">
            <a:solidFill>
              <a:srgbClr val="64646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9" name="TextBox 498">
            <a:extLst>
              <a:ext uri="{FF2B5EF4-FFF2-40B4-BE49-F238E27FC236}">
                <a16:creationId xmlns:a16="http://schemas.microsoft.com/office/drawing/2014/main" id="{421AEB94-AC98-6964-CB81-7E8C96B243EC}"/>
              </a:ext>
            </a:extLst>
          </p:cNvPr>
          <p:cNvSpPr txBox="1"/>
          <p:nvPr/>
        </p:nvSpPr>
        <p:spPr>
          <a:xfrm>
            <a:off x="3938004" y="3174503"/>
            <a:ext cx="703719" cy="2354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b="1" i="1" dirty="0">
                <a:solidFill>
                  <a:srgbClr val="C30037"/>
                </a:solidFill>
              </a:rPr>
              <a:t>Level #0</a:t>
            </a: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9EB1720A-B866-03E8-C2BC-6A7A33AFB150}"/>
              </a:ext>
            </a:extLst>
          </p:cNvPr>
          <p:cNvSpPr txBox="1"/>
          <p:nvPr/>
        </p:nvSpPr>
        <p:spPr>
          <a:xfrm>
            <a:off x="3982889" y="3936255"/>
            <a:ext cx="658834" cy="2354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b="1" i="1" dirty="0">
                <a:solidFill>
                  <a:srgbClr val="C30037"/>
                </a:solidFill>
              </a:rPr>
              <a:t>Level #1</a:t>
            </a:r>
          </a:p>
        </p:txBody>
      </p:sp>
      <p:sp>
        <p:nvSpPr>
          <p:cNvPr id="501" name="TextBox 500">
            <a:extLst>
              <a:ext uri="{FF2B5EF4-FFF2-40B4-BE49-F238E27FC236}">
                <a16:creationId xmlns:a16="http://schemas.microsoft.com/office/drawing/2014/main" id="{9AB86712-4010-7E84-9EBC-593053E86A9F}"/>
              </a:ext>
            </a:extLst>
          </p:cNvPr>
          <p:cNvSpPr txBox="1"/>
          <p:nvPr/>
        </p:nvSpPr>
        <p:spPr>
          <a:xfrm>
            <a:off x="3955637" y="4698009"/>
            <a:ext cx="686086" cy="23544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b="1" i="1" dirty="0">
                <a:solidFill>
                  <a:srgbClr val="C30037"/>
                </a:solidFill>
              </a:rPr>
              <a:t>Level #2</a:t>
            </a: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E0BF9784-0622-42E2-4F62-CFDB363A7141}"/>
              </a:ext>
            </a:extLst>
          </p:cNvPr>
          <p:cNvSpPr/>
          <p:nvPr/>
        </p:nvSpPr>
        <p:spPr>
          <a:xfrm>
            <a:off x="5528731" y="3079562"/>
            <a:ext cx="731520" cy="411480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0" rIns="45720" rtlCol="0" anchor="ctr" anchorCtr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1200" b="1" dirty="0" err="1">
                <a:solidFill>
                  <a:srgbClr val="646464"/>
                </a:solidFill>
                <a:latin typeface="Inconsolata" panose="00000509000000000000" pitchFamily="49" charset="0"/>
              </a:rPr>
              <a:t>SSTable</a:t>
            </a:r>
            <a:endParaRPr lang="en-US" sz="1200" b="1" dirty="0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sp>
        <p:nvSpPr>
          <p:cNvPr id="495" name="L1 SSTable1">
            <a:extLst>
              <a:ext uri="{FF2B5EF4-FFF2-40B4-BE49-F238E27FC236}">
                <a16:creationId xmlns:a16="http://schemas.microsoft.com/office/drawing/2014/main" id="{8E06B5DA-5ABC-DCBE-B0EA-3DFE2E3C634A}"/>
              </a:ext>
            </a:extLst>
          </p:cNvPr>
          <p:cNvSpPr/>
          <p:nvPr/>
        </p:nvSpPr>
        <p:spPr>
          <a:xfrm>
            <a:off x="4763643" y="3841314"/>
            <a:ext cx="1478280" cy="411480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0" rIns="45720" rtlCol="0" anchor="ctr" anchorCtr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1200" b="1" dirty="0" err="1">
                <a:solidFill>
                  <a:srgbClr val="646464"/>
                </a:solidFill>
                <a:latin typeface="Inconsolata" panose="00000509000000000000" pitchFamily="49" charset="0"/>
              </a:rPr>
              <a:t>SSTable</a:t>
            </a:r>
            <a:endParaRPr lang="en-US" sz="1200" b="1" dirty="0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sp>
        <p:nvSpPr>
          <p:cNvPr id="503" name="L1 SSTable2">
            <a:extLst>
              <a:ext uri="{FF2B5EF4-FFF2-40B4-BE49-F238E27FC236}">
                <a16:creationId xmlns:a16="http://schemas.microsoft.com/office/drawing/2014/main" id="{21F96629-6668-8D0D-8F19-302A6E3E7199}"/>
              </a:ext>
            </a:extLst>
          </p:cNvPr>
          <p:cNvSpPr/>
          <p:nvPr/>
        </p:nvSpPr>
        <p:spPr>
          <a:xfrm>
            <a:off x="4763643" y="3841315"/>
            <a:ext cx="1478280" cy="411480"/>
          </a:xfrm>
          <a:prstGeom prst="rect">
            <a:avLst/>
          </a:prstGeom>
          <a:solidFill>
            <a:schemeClr val="accent6"/>
          </a:solidFill>
          <a:ln>
            <a:solidFill>
              <a:srgbClr val="64646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tIns="0" rIns="45720" rtlCol="0" anchor="ctr" anchorCtr="0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1200" b="1" dirty="0" err="1">
                <a:solidFill>
                  <a:srgbClr val="646464"/>
                </a:solidFill>
                <a:latin typeface="Inconsolata" panose="00000509000000000000" pitchFamily="49" charset="0"/>
              </a:rPr>
              <a:t>SSTable</a:t>
            </a:r>
            <a:endParaRPr lang="en-US" sz="1200" b="1" dirty="0">
              <a:solidFill>
                <a:srgbClr val="646464"/>
              </a:solidFill>
              <a:latin typeface="Inconsolata" panose="00000509000000000000" pitchFamily="49" charset="0"/>
            </a:endParaRPr>
          </a:p>
        </p:txBody>
      </p:sp>
      <p:sp>
        <p:nvSpPr>
          <p:cNvPr id="504" name="Right Brace 503">
            <a:extLst>
              <a:ext uri="{FF2B5EF4-FFF2-40B4-BE49-F238E27FC236}">
                <a16:creationId xmlns:a16="http://schemas.microsoft.com/office/drawing/2014/main" id="{BFF653BD-9847-9ABD-1CC6-09E76FF598C6}"/>
              </a:ext>
            </a:extLst>
          </p:cNvPr>
          <p:cNvSpPr/>
          <p:nvPr/>
        </p:nvSpPr>
        <p:spPr>
          <a:xfrm rot="5400000">
            <a:off x="5365623" y="3117538"/>
            <a:ext cx="274320" cy="1097280"/>
          </a:xfrm>
          <a:prstGeom prst="rightBrace">
            <a:avLst/>
          </a:prstGeom>
          <a:ln w="28575">
            <a:solidFill>
              <a:srgbClr val="C300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5" name="Right Brace 504">
            <a:extLst>
              <a:ext uri="{FF2B5EF4-FFF2-40B4-BE49-F238E27FC236}">
                <a16:creationId xmlns:a16="http://schemas.microsoft.com/office/drawing/2014/main" id="{A37F71A5-79AD-57DC-CDB1-950ABB606EAB}"/>
              </a:ext>
            </a:extLst>
          </p:cNvPr>
          <p:cNvSpPr/>
          <p:nvPr/>
        </p:nvSpPr>
        <p:spPr>
          <a:xfrm rot="5400000">
            <a:off x="5952363" y="3638539"/>
            <a:ext cx="274320" cy="1578784"/>
          </a:xfrm>
          <a:prstGeom prst="rightBrace">
            <a:avLst/>
          </a:prstGeom>
          <a:ln w="28575">
            <a:solidFill>
              <a:srgbClr val="C300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8" name="Right Arrow 6">
            <a:extLst>
              <a:ext uri="{FF2B5EF4-FFF2-40B4-BE49-F238E27FC236}">
                <a16:creationId xmlns:a16="http://schemas.microsoft.com/office/drawing/2014/main" id="{35F73EC0-C0EE-26F2-05B5-CD25A3A3F01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5231569" y="2571750"/>
            <a:ext cx="457200" cy="457200"/>
          </a:xfrm>
          <a:prstGeom prst="rightArrow">
            <a:avLst>
              <a:gd name="adj1" fmla="val 50000"/>
              <a:gd name="adj2" fmla="val 50019"/>
            </a:avLst>
          </a:prstGeom>
          <a:solidFill>
            <a:srgbClr val="C30037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>
              <a:latin typeface="Inconsolata" panose="00000509000000000000" pitchFamily="49" charset="0"/>
            </a:endParaRPr>
          </a:p>
        </p:txBody>
      </p:sp>
      <p:grpSp>
        <p:nvGrpSpPr>
          <p:cNvPr id="590" name="Group 589">
            <a:extLst>
              <a:ext uri="{FF2B5EF4-FFF2-40B4-BE49-F238E27FC236}">
                <a16:creationId xmlns:a16="http://schemas.microsoft.com/office/drawing/2014/main" id="{02421C41-B01F-4942-0766-9399E9B0F1D2}"/>
              </a:ext>
            </a:extLst>
          </p:cNvPr>
          <p:cNvGrpSpPr/>
          <p:nvPr/>
        </p:nvGrpSpPr>
        <p:grpSpPr>
          <a:xfrm>
            <a:off x="3228953" y="1301083"/>
            <a:ext cx="815559" cy="694144"/>
            <a:chOff x="3228953" y="1301083"/>
            <a:chExt cx="815559" cy="694144"/>
          </a:xfrm>
        </p:grpSpPr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C4422E11-F26F-B1AC-F834-9B915F8B1085}"/>
                </a:ext>
              </a:extLst>
            </p:cNvPr>
            <p:cNvGrpSpPr/>
            <p:nvPr/>
          </p:nvGrpSpPr>
          <p:grpSpPr>
            <a:xfrm>
              <a:off x="3463420" y="1301083"/>
              <a:ext cx="303178" cy="151591"/>
              <a:chOff x="6248399" y="973324"/>
              <a:chExt cx="304798" cy="152401"/>
            </a:xfrm>
            <a:solidFill>
              <a:schemeClr val="bg1"/>
            </a:solidFill>
          </p:grpSpPr>
          <p:sp>
            <p:nvSpPr>
              <p:cNvPr id="545" name="Rounded Rectangle 564">
                <a:extLst>
                  <a:ext uri="{FF2B5EF4-FFF2-40B4-BE49-F238E27FC236}">
                    <a16:creationId xmlns:a16="http://schemas.microsoft.com/office/drawing/2014/main" id="{A2CA4C81-9881-8ECB-8CA6-0523ED49561D}"/>
                  </a:ext>
                </a:extLst>
              </p:cNvPr>
              <p:cNvSpPr/>
              <p:nvPr/>
            </p:nvSpPr>
            <p:spPr>
              <a:xfrm rot="16200000">
                <a:off x="6324597" y="897126"/>
                <a:ext cx="152401" cy="304798"/>
              </a:xfrm>
              <a:prstGeom prst="roundRect">
                <a:avLst/>
              </a:prstGeom>
              <a:grpFill/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RIMSON TEXT" panose="02000503000000000000" pitchFamily="2" charset="77"/>
                </a:endParaRPr>
              </a:p>
            </p:txBody>
          </p:sp>
          <p:cxnSp>
            <p:nvCxnSpPr>
              <p:cNvPr id="546" name="Straight Connector 545">
                <a:extLst>
                  <a:ext uri="{FF2B5EF4-FFF2-40B4-BE49-F238E27FC236}">
                    <a16:creationId xmlns:a16="http://schemas.microsoft.com/office/drawing/2014/main" id="{D3E19EAB-566F-C436-7569-A1656DF5FCDB}"/>
                  </a:ext>
                </a:extLst>
              </p:cNvPr>
              <p:cNvCxnSpPr>
                <a:stCxn id="545" idx="3"/>
                <a:endCxn id="545" idx="1"/>
              </p:cNvCxnSpPr>
              <p:nvPr/>
            </p:nvCxnSpPr>
            <p:spPr>
              <a:xfrm>
                <a:off x="6400798" y="973324"/>
                <a:ext cx="0" cy="152401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7" name="Group 546">
              <a:extLst>
                <a:ext uri="{FF2B5EF4-FFF2-40B4-BE49-F238E27FC236}">
                  <a16:creationId xmlns:a16="http://schemas.microsoft.com/office/drawing/2014/main" id="{0E7D7A7A-90D0-6D9B-2576-80FD6C74AEC0}"/>
                </a:ext>
              </a:extLst>
            </p:cNvPr>
            <p:cNvGrpSpPr/>
            <p:nvPr/>
          </p:nvGrpSpPr>
          <p:grpSpPr>
            <a:xfrm>
              <a:off x="3741336" y="1843636"/>
              <a:ext cx="303176" cy="151591"/>
              <a:chOff x="3086522" y="1421822"/>
              <a:chExt cx="166253" cy="83128"/>
            </a:xfrm>
            <a:solidFill>
              <a:schemeClr val="bg1"/>
            </a:solidFill>
          </p:grpSpPr>
          <p:sp>
            <p:nvSpPr>
              <p:cNvPr id="571" name="Rounded Rectangle 4">
                <a:extLst>
                  <a:ext uri="{FF2B5EF4-FFF2-40B4-BE49-F238E27FC236}">
                    <a16:creationId xmlns:a16="http://schemas.microsoft.com/office/drawing/2014/main" id="{F33ED523-C0CE-5CF4-18AF-7843ECD80034}"/>
                  </a:ext>
                </a:extLst>
              </p:cNvPr>
              <p:cNvSpPr/>
              <p:nvPr/>
            </p:nvSpPr>
            <p:spPr>
              <a:xfrm rot="16200000">
                <a:off x="3128085" y="1380259"/>
                <a:ext cx="83128" cy="166253"/>
              </a:xfrm>
              <a:prstGeom prst="roundRect">
                <a:avLst/>
              </a:prstGeom>
              <a:grpFill/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RIMSON TEXT" panose="02000503000000000000" pitchFamily="2" charset="77"/>
                </a:endParaRPr>
              </a:p>
            </p:txBody>
          </p:sp>
          <p:cxnSp>
            <p:nvCxnSpPr>
              <p:cNvPr id="572" name="Straight Connector 571">
                <a:extLst>
                  <a:ext uri="{FF2B5EF4-FFF2-40B4-BE49-F238E27FC236}">
                    <a16:creationId xmlns:a16="http://schemas.microsoft.com/office/drawing/2014/main" id="{7AAD22D8-3B37-60CD-E3FB-93F6500C913B}"/>
                  </a:ext>
                </a:extLst>
              </p:cNvPr>
              <p:cNvCxnSpPr>
                <a:stCxn id="571" idx="3"/>
                <a:endCxn id="571" idx="1"/>
              </p:cNvCxnSpPr>
              <p:nvPr/>
            </p:nvCxnSpPr>
            <p:spPr>
              <a:xfrm>
                <a:off x="3169650" y="1421822"/>
                <a:ext cx="0" cy="8312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3" name="Group 572">
              <a:extLst>
                <a:ext uri="{FF2B5EF4-FFF2-40B4-BE49-F238E27FC236}">
                  <a16:creationId xmlns:a16="http://schemas.microsoft.com/office/drawing/2014/main" id="{BC6583B3-3139-12B1-55FB-4F22800703E5}"/>
                </a:ext>
              </a:extLst>
            </p:cNvPr>
            <p:cNvGrpSpPr/>
            <p:nvPr/>
          </p:nvGrpSpPr>
          <p:grpSpPr>
            <a:xfrm>
              <a:off x="3228953" y="1843636"/>
              <a:ext cx="303176" cy="151591"/>
              <a:chOff x="2805546" y="1421822"/>
              <a:chExt cx="166253" cy="83128"/>
            </a:xfrm>
            <a:solidFill>
              <a:schemeClr val="bg1"/>
            </a:solidFill>
          </p:grpSpPr>
          <p:sp>
            <p:nvSpPr>
              <p:cNvPr id="574" name="Rounded Rectangle 6">
                <a:extLst>
                  <a:ext uri="{FF2B5EF4-FFF2-40B4-BE49-F238E27FC236}">
                    <a16:creationId xmlns:a16="http://schemas.microsoft.com/office/drawing/2014/main" id="{8B539440-DE98-ECE1-3812-9F7AC21FCA12}"/>
                  </a:ext>
                </a:extLst>
              </p:cNvPr>
              <p:cNvSpPr/>
              <p:nvPr/>
            </p:nvSpPr>
            <p:spPr>
              <a:xfrm rot="16200000">
                <a:off x="2847109" y="1380259"/>
                <a:ext cx="83128" cy="166253"/>
              </a:xfrm>
              <a:prstGeom prst="roundRect">
                <a:avLst/>
              </a:prstGeom>
              <a:grpFill/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RIMSON TEXT" panose="02000503000000000000" pitchFamily="2" charset="77"/>
                </a:endParaRPr>
              </a:p>
            </p:txBody>
          </p:sp>
          <p:cxnSp>
            <p:nvCxnSpPr>
              <p:cNvPr id="575" name="Straight Connector 574">
                <a:extLst>
                  <a:ext uri="{FF2B5EF4-FFF2-40B4-BE49-F238E27FC236}">
                    <a16:creationId xmlns:a16="http://schemas.microsoft.com/office/drawing/2014/main" id="{390E31FA-B5DC-1347-C689-45F455C30FB4}"/>
                  </a:ext>
                </a:extLst>
              </p:cNvPr>
              <p:cNvCxnSpPr>
                <a:stCxn id="574" idx="3"/>
                <a:endCxn id="574" idx="1"/>
              </p:cNvCxnSpPr>
              <p:nvPr/>
            </p:nvCxnSpPr>
            <p:spPr>
              <a:xfrm>
                <a:off x="2888674" y="1421822"/>
                <a:ext cx="0" cy="8312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0" name="Elbow Connector 17">
              <a:extLst>
                <a:ext uri="{FF2B5EF4-FFF2-40B4-BE49-F238E27FC236}">
                  <a16:creationId xmlns:a16="http://schemas.microsoft.com/office/drawing/2014/main" id="{FDBB9A5E-ED96-30C3-7A02-D46EEBB375DC}"/>
                </a:ext>
              </a:extLst>
            </p:cNvPr>
            <p:cNvCxnSpPr>
              <a:cxnSpLocks/>
              <a:stCxn id="545" idx="1"/>
              <a:endCxn id="574" idx="3"/>
            </p:cNvCxnSpPr>
            <p:nvPr/>
          </p:nvCxnSpPr>
          <p:spPr>
            <a:xfrm rot="5400000">
              <a:off x="3302295" y="1530922"/>
              <a:ext cx="390962" cy="234466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Elbow Connector 23">
              <a:extLst>
                <a:ext uri="{FF2B5EF4-FFF2-40B4-BE49-F238E27FC236}">
                  <a16:creationId xmlns:a16="http://schemas.microsoft.com/office/drawing/2014/main" id="{533440EC-8CCE-FE09-FC95-0A184A2357D7}"/>
                </a:ext>
              </a:extLst>
            </p:cNvPr>
            <p:cNvCxnSpPr>
              <a:cxnSpLocks/>
              <a:stCxn id="545" idx="1"/>
              <a:endCxn id="571" idx="3"/>
            </p:cNvCxnSpPr>
            <p:nvPr/>
          </p:nvCxnSpPr>
          <p:spPr>
            <a:xfrm rot="16200000" flipH="1">
              <a:off x="3558487" y="1509196"/>
              <a:ext cx="390962" cy="277918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1" name="MemTable Leaf2">
            <a:extLst>
              <a:ext uri="{FF2B5EF4-FFF2-40B4-BE49-F238E27FC236}">
                <a16:creationId xmlns:a16="http://schemas.microsoft.com/office/drawing/2014/main" id="{26269C63-1851-B5B8-730E-2891A71B6347}"/>
              </a:ext>
            </a:extLst>
          </p:cNvPr>
          <p:cNvGrpSpPr/>
          <p:nvPr/>
        </p:nvGrpSpPr>
        <p:grpSpPr>
          <a:xfrm>
            <a:off x="3506867" y="1995869"/>
            <a:ext cx="386057" cy="542553"/>
            <a:chOff x="3506867" y="1995869"/>
            <a:chExt cx="386057" cy="542553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48136424-26FD-784B-D12A-041C1BAA1082}"/>
                </a:ext>
              </a:extLst>
            </p:cNvPr>
            <p:cNvGrpSpPr/>
            <p:nvPr/>
          </p:nvGrpSpPr>
          <p:grpSpPr>
            <a:xfrm>
              <a:off x="3506867" y="2386831"/>
              <a:ext cx="303176" cy="151591"/>
              <a:chOff x="2805546" y="1421822"/>
              <a:chExt cx="166253" cy="83128"/>
            </a:xfrm>
            <a:solidFill>
              <a:schemeClr val="bg1"/>
            </a:solidFill>
          </p:grpSpPr>
          <p:sp>
            <p:nvSpPr>
              <p:cNvPr id="106" name="Rounded Rectangle 46">
                <a:extLst>
                  <a:ext uri="{FF2B5EF4-FFF2-40B4-BE49-F238E27FC236}">
                    <a16:creationId xmlns:a16="http://schemas.microsoft.com/office/drawing/2014/main" id="{5FE0392D-468D-EA7C-AD9E-BF70F2018E6C}"/>
                  </a:ext>
                </a:extLst>
              </p:cNvPr>
              <p:cNvSpPr/>
              <p:nvPr/>
            </p:nvSpPr>
            <p:spPr>
              <a:xfrm rot="16200000">
                <a:off x="2847109" y="1380259"/>
                <a:ext cx="83128" cy="166253"/>
              </a:xfrm>
              <a:prstGeom prst="roundRect">
                <a:avLst/>
              </a:prstGeom>
              <a:grpFill/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RIMSON TEXT" panose="02000503000000000000" pitchFamily="2" charset="77"/>
                </a:endParaRPr>
              </a:p>
            </p:txBody>
          </p: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9B350AFD-0A82-4A07-AEFD-A1A10029212C}"/>
                  </a:ext>
                </a:extLst>
              </p:cNvPr>
              <p:cNvCxnSpPr>
                <a:stCxn id="106" idx="3"/>
                <a:endCxn id="106" idx="1"/>
              </p:cNvCxnSpPr>
              <p:nvPr/>
            </p:nvCxnSpPr>
            <p:spPr>
              <a:xfrm>
                <a:off x="2888674" y="1421822"/>
                <a:ext cx="0" cy="8312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8" name="Elbow Connector 56">
              <a:extLst>
                <a:ext uri="{FF2B5EF4-FFF2-40B4-BE49-F238E27FC236}">
                  <a16:creationId xmlns:a16="http://schemas.microsoft.com/office/drawing/2014/main" id="{02B6CD83-7FA0-9805-EC93-7BF58998094F}"/>
                </a:ext>
              </a:extLst>
            </p:cNvPr>
            <p:cNvCxnSpPr>
              <a:cxnSpLocks/>
              <a:endCxn id="106" idx="3"/>
            </p:cNvCxnSpPr>
            <p:nvPr/>
          </p:nvCxnSpPr>
          <p:spPr>
            <a:xfrm rot="5400000">
              <a:off x="3580210" y="2074117"/>
              <a:ext cx="390962" cy="234466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2" name="MemTable Leaf3">
            <a:extLst>
              <a:ext uri="{FF2B5EF4-FFF2-40B4-BE49-F238E27FC236}">
                <a16:creationId xmlns:a16="http://schemas.microsoft.com/office/drawing/2014/main" id="{E8F5C5D0-F144-BD9F-E4D8-869C43D586D4}"/>
              </a:ext>
            </a:extLst>
          </p:cNvPr>
          <p:cNvGrpSpPr/>
          <p:nvPr/>
        </p:nvGrpSpPr>
        <p:grpSpPr>
          <a:xfrm>
            <a:off x="3892927" y="1995227"/>
            <a:ext cx="429500" cy="543195"/>
            <a:chOff x="3892927" y="1995227"/>
            <a:chExt cx="429500" cy="543195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07247233-CF64-0649-9D6F-B9FD9CD275A1}"/>
                </a:ext>
              </a:extLst>
            </p:cNvPr>
            <p:cNvGrpSpPr/>
            <p:nvPr/>
          </p:nvGrpSpPr>
          <p:grpSpPr>
            <a:xfrm>
              <a:off x="4019251" y="2386831"/>
              <a:ext cx="303176" cy="151591"/>
              <a:chOff x="3086522" y="1421822"/>
              <a:chExt cx="166253" cy="83128"/>
            </a:xfrm>
            <a:solidFill>
              <a:schemeClr val="bg1"/>
            </a:solidFill>
          </p:grpSpPr>
          <p:sp>
            <p:nvSpPr>
              <p:cNvPr id="103" name="Rounded Rectangle 42">
                <a:extLst>
                  <a:ext uri="{FF2B5EF4-FFF2-40B4-BE49-F238E27FC236}">
                    <a16:creationId xmlns:a16="http://schemas.microsoft.com/office/drawing/2014/main" id="{ECF47FCB-CF4D-5AF0-453F-C56D88F135C9}"/>
                  </a:ext>
                </a:extLst>
              </p:cNvPr>
              <p:cNvSpPr/>
              <p:nvPr/>
            </p:nvSpPr>
            <p:spPr>
              <a:xfrm rot="16200000">
                <a:off x="3128085" y="1380259"/>
                <a:ext cx="83128" cy="166253"/>
              </a:xfrm>
              <a:prstGeom prst="roundRect">
                <a:avLst/>
              </a:prstGeom>
              <a:grpFill/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RIMSON TEXT" panose="02000503000000000000" pitchFamily="2" charset="77"/>
                </a:endParaRPr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0BBB4CC4-681D-DD3E-211C-18E36BF03DEC}"/>
                  </a:ext>
                </a:extLst>
              </p:cNvPr>
              <p:cNvCxnSpPr>
                <a:stCxn id="103" idx="3"/>
                <a:endCxn id="103" idx="1"/>
              </p:cNvCxnSpPr>
              <p:nvPr/>
            </p:nvCxnSpPr>
            <p:spPr>
              <a:xfrm>
                <a:off x="3169650" y="1421822"/>
                <a:ext cx="0" cy="8312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Elbow Connector 59">
              <a:extLst>
                <a:ext uri="{FF2B5EF4-FFF2-40B4-BE49-F238E27FC236}">
                  <a16:creationId xmlns:a16="http://schemas.microsoft.com/office/drawing/2014/main" id="{E003B91C-9FB2-7556-F19A-C038A99E1001}"/>
                </a:ext>
              </a:extLst>
            </p:cNvPr>
            <p:cNvCxnSpPr>
              <a:cxnSpLocks/>
              <a:stCxn id="571" idx="1"/>
              <a:endCxn id="103" idx="3"/>
            </p:cNvCxnSpPr>
            <p:nvPr/>
          </p:nvCxnSpPr>
          <p:spPr>
            <a:xfrm rot="16200000" flipH="1">
              <a:off x="3836082" y="2052072"/>
              <a:ext cx="391604" cy="277914"/>
            </a:xfrm>
            <a:prstGeom prst="bentConnector3">
              <a:avLst>
                <a:gd name="adj1" fmla="val 50000"/>
              </a:avLst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0" name="MemTable Leaf1">
            <a:extLst>
              <a:ext uri="{FF2B5EF4-FFF2-40B4-BE49-F238E27FC236}">
                <a16:creationId xmlns:a16="http://schemas.microsoft.com/office/drawing/2014/main" id="{CB1F60AA-8A97-5833-71F3-672E7689ED2E}"/>
              </a:ext>
            </a:extLst>
          </p:cNvPr>
          <p:cNvGrpSpPr/>
          <p:nvPr/>
        </p:nvGrpSpPr>
        <p:grpSpPr>
          <a:xfrm>
            <a:off x="3061934" y="1995227"/>
            <a:ext cx="361952" cy="542754"/>
            <a:chOff x="2813983" y="1359478"/>
            <a:chExt cx="198484" cy="297630"/>
          </a:xfrm>
          <a:solidFill>
            <a:schemeClr val="bg1"/>
          </a:solidFill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D74A66DF-5F36-D0C6-45C5-0E03A593C370}"/>
                </a:ext>
              </a:extLst>
            </p:cNvPr>
            <p:cNvGrpSpPr/>
            <p:nvPr/>
          </p:nvGrpSpPr>
          <p:grpSpPr>
            <a:xfrm>
              <a:off x="2813983" y="1573980"/>
              <a:ext cx="166253" cy="83128"/>
              <a:chOff x="2805546" y="1421822"/>
              <a:chExt cx="166253" cy="83128"/>
            </a:xfrm>
            <a:grpFill/>
          </p:grpSpPr>
          <p:sp>
            <p:nvSpPr>
              <p:cNvPr id="113" name="Rounded Rectangle 488">
                <a:extLst>
                  <a:ext uri="{FF2B5EF4-FFF2-40B4-BE49-F238E27FC236}">
                    <a16:creationId xmlns:a16="http://schemas.microsoft.com/office/drawing/2014/main" id="{6EF29446-9DD5-F0DF-CF85-F0E4F9D7FB61}"/>
                  </a:ext>
                </a:extLst>
              </p:cNvPr>
              <p:cNvSpPr/>
              <p:nvPr/>
            </p:nvSpPr>
            <p:spPr>
              <a:xfrm rot="16200000">
                <a:off x="2847109" y="1380259"/>
                <a:ext cx="83128" cy="166253"/>
              </a:xfrm>
              <a:prstGeom prst="roundRect">
                <a:avLst/>
              </a:prstGeom>
              <a:grpFill/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RIMSON TEXT" panose="02000503000000000000" pitchFamily="2" charset="77"/>
                </a:endParaRPr>
              </a:p>
            </p:txBody>
          </p: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74810601-DF68-2D48-139D-1646B7BF7794}"/>
                  </a:ext>
                </a:extLst>
              </p:cNvPr>
              <p:cNvCxnSpPr>
                <a:cxnSpLocks/>
                <a:stCxn id="113" idx="3"/>
                <a:endCxn id="113" idx="1"/>
              </p:cNvCxnSpPr>
              <p:nvPr/>
            </p:nvCxnSpPr>
            <p:spPr>
              <a:xfrm>
                <a:off x="2888674" y="1421822"/>
                <a:ext cx="0" cy="83128"/>
              </a:xfrm>
              <a:prstGeom prst="line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2" name="Elbow Connector 493">
              <a:extLst>
                <a:ext uri="{FF2B5EF4-FFF2-40B4-BE49-F238E27FC236}">
                  <a16:creationId xmlns:a16="http://schemas.microsoft.com/office/drawing/2014/main" id="{FFA6F89E-6A55-10B4-326F-812A2164FD00}"/>
                </a:ext>
              </a:extLst>
            </p:cNvPr>
            <p:cNvCxnSpPr>
              <a:cxnSpLocks/>
              <a:stCxn id="574" idx="1"/>
              <a:endCxn id="113" idx="3"/>
            </p:cNvCxnSpPr>
            <p:nvPr/>
          </p:nvCxnSpPr>
          <p:spPr>
            <a:xfrm rot="5400000">
              <a:off x="2847538" y="1409051"/>
              <a:ext cx="214502" cy="115356"/>
            </a:xfrm>
            <a:prstGeom prst="bentConnector3">
              <a:avLst>
                <a:gd name="adj1" fmla="val 50000"/>
              </a:avLst>
            </a:prstGeom>
            <a:grpFill/>
            <a:ln w="12700"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8" name="Highlight Box">
            <a:extLst>
              <a:ext uri="{FF2B5EF4-FFF2-40B4-BE49-F238E27FC236}">
                <a16:creationId xmlns:a16="http://schemas.microsoft.com/office/drawing/2014/main" id="{C92A7FC5-3DA1-EE5E-23CF-5703256107EC}"/>
              </a:ext>
            </a:extLst>
          </p:cNvPr>
          <p:cNvSpPr/>
          <p:nvPr/>
        </p:nvSpPr>
        <p:spPr>
          <a:xfrm>
            <a:off x="2972832" y="2330026"/>
            <a:ext cx="1463040" cy="274320"/>
          </a:xfrm>
          <a:prstGeom prst="roundRect">
            <a:avLst>
              <a:gd name="adj" fmla="val 4675"/>
            </a:avLst>
          </a:prstGeom>
          <a:noFill/>
          <a:ln w="38100">
            <a:solidFill>
              <a:srgbClr val="C300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ight Arrow 6">
            <a:extLst>
              <a:ext uri="{FF2B5EF4-FFF2-40B4-BE49-F238E27FC236}">
                <a16:creationId xmlns:a16="http://schemas.microsoft.com/office/drawing/2014/main" id="{7E8ECB6C-F2FF-52D1-ADB5-0B6589616A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99175" y="1642378"/>
            <a:ext cx="457200" cy="457200"/>
          </a:xfrm>
          <a:prstGeom prst="rightArrow">
            <a:avLst>
              <a:gd name="adj1" fmla="val 50000"/>
              <a:gd name="adj2" fmla="val 50019"/>
            </a:avLst>
          </a:prstGeom>
          <a:solidFill>
            <a:srgbClr val="C30037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>
              <a:latin typeface="Inconsolata" panose="00000509000000000000" pitchFamily="49" charset="0"/>
            </a:endParaRPr>
          </a:p>
        </p:txBody>
      </p:sp>
      <p:sp>
        <p:nvSpPr>
          <p:cNvPr id="126" name="GET">
            <a:extLst>
              <a:ext uri="{FF2B5EF4-FFF2-40B4-BE49-F238E27FC236}">
                <a16:creationId xmlns:a16="http://schemas.microsoft.com/office/drawing/2014/main" id="{788F79CF-E14E-D6DE-CB7A-7821BDE134D0}"/>
              </a:ext>
            </a:extLst>
          </p:cNvPr>
          <p:cNvSpPr txBox="1"/>
          <p:nvPr/>
        </p:nvSpPr>
        <p:spPr>
          <a:xfrm>
            <a:off x="1086262" y="805798"/>
            <a:ext cx="1384995" cy="2215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b="1" dirty="0">
                <a:solidFill>
                  <a:srgbClr val="C30037"/>
                </a:solidFill>
                <a:latin typeface="Inconsolata" panose="00000509000000000000" pitchFamily="49" charset="0"/>
              </a:rPr>
              <a:t>GET (key101)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A28B6A3-AAB5-F697-FC72-A64B9595AD63}"/>
              </a:ext>
            </a:extLst>
          </p:cNvPr>
          <p:cNvGrpSpPr/>
          <p:nvPr/>
        </p:nvGrpSpPr>
        <p:grpSpPr>
          <a:xfrm>
            <a:off x="1256942" y="1465428"/>
            <a:ext cx="1371600" cy="1231564"/>
            <a:chOff x="2277237" y="864842"/>
            <a:chExt cx="1828800" cy="1514986"/>
          </a:xfrm>
        </p:grpSpPr>
        <p:sp>
          <p:nvSpPr>
            <p:cNvPr id="576" name="Rectangle 575">
              <a:extLst>
                <a:ext uri="{FF2B5EF4-FFF2-40B4-BE49-F238E27FC236}">
                  <a16:creationId xmlns:a16="http://schemas.microsoft.com/office/drawing/2014/main" id="{319C8907-89AE-2C77-EC76-C15BF824A767}"/>
                </a:ext>
              </a:extLst>
            </p:cNvPr>
            <p:cNvSpPr/>
            <p:nvPr/>
          </p:nvSpPr>
          <p:spPr>
            <a:xfrm>
              <a:off x="2277237" y="1142512"/>
              <a:ext cx="1828800" cy="1237316"/>
            </a:xfrm>
            <a:prstGeom prst="rect">
              <a:avLst/>
            </a:prstGeom>
            <a:solidFill>
              <a:schemeClr val="accent6"/>
            </a:solidFill>
            <a:ln>
              <a:solidFill>
                <a:srgbClr val="646464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91440" tIns="91440" rIns="45720" rtlCol="0" anchor="t" anchorCtr="0">
              <a:noAutofit/>
            </a:bodyPr>
            <a:lstStyle/>
            <a:p>
              <a:pPr marL="137160" indent="-137160">
                <a:lnSpc>
                  <a:spcPct val="9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Min/Max Key Per </a:t>
              </a:r>
              <a:r>
                <a:rPr lang="en-US" sz="1400" b="1" dirty="0" err="1">
                  <a:solidFill>
                    <a:schemeClr val="accent1"/>
                  </a:solidFill>
                  <a:latin typeface="Inconsolata" panose="00000509000000000000" pitchFamily="49" charset="0"/>
                </a:rPr>
                <a:t>SSTable</a:t>
              </a:r>
              <a:endParaRPr lang="en-US" sz="1400" b="1" dirty="0">
                <a:solidFill>
                  <a:schemeClr val="accent1"/>
                </a:solidFill>
                <a:latin typeface="Inconsolata" panose="00000509000000000000" pitchFamily="49" charset="0"/>
              </a:endParaRPr>
            </a:p>
            <a:p>
              <a:pPr marL="137160" indent="-137160">
                <a:lnSpc>
                  <a:spcPct val="9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b="1" dirty="0">
                  <a:solidFill>
                    <a:schemeClr val="accent1"/>
                  </a:solidFill>
                  <a:latin typeface="Inconsolata" panose="00000509000000000000" pitchFamily="49" charset="0"/>
                </a:rPr>
                <a:t>Key Filter Per Level</a:t>
              </a:r>
            </a:p>
          </p:txBody>
        </p:sp>
        <p:sp>
          <p:nvSpPr>
            <p:cNvPr id="577" name="TextBox 576">
              <a:extLst>
                <a:ext uri="{FF2B5EF4-FFF2-40B4-BE49-F238E27FC236}">
                  <a16:creationId xmlns:a16="http://schemas.microsoft.com/office/drawing/2014/main" id="{C4020F75-C1F5-7EC5-BF0C-F42D973DBE47}"/>
                </a:ext>
              </a:extLst>
            </p:cNvPr>
            <p:cNvSpPr txBox="1"/>
            <p:nvPr/>
          </p:nvSpPr>
          <p:spPr>
            <a:xfrm>
              <a:off x="2298233" y="864842"/>
              <a:ext cx="1786814" cy="28963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b="1" i="1" dirty="0" err="1">
                  <a:solidFill>
                    <a:srgbClr val="646464"/>
                  </a:solidFill>
                  <a:latin typeface="Crimson Text" panose="02000503000000000000" pitchFamily="2" charset="0"/>
                </a:rPr>
                <a:t>SummaryTable</a:t>
              </a:r>
              <a:endParaRPr lang="en-US" b="1" i="1" dirty="0">
                <a:solidFill>
                  <a:srgbClr val="646464"/>
                </a:solidFill>
                <a:latin typeface="Crimson Text" panose="02000503000000000000" pitchFamily="2" charset="0"/>
              </a:endParaRPr>
            </a:p>
          </p:txBody>
        </p:sp>
      </p:grpSp>
      <p:cxnSp>
        <p:nvCxnSpPr>
          <p:cNvPr id="581" name="Straight Arrow Connector 6">
            <a:extLst>
              <a:ext uri="{FF2B5EF4-FFF2-40B4-BE49-F238E27FC236}">
                <a16:creationId xmlns:a16="http://schemas.microsoft.com/office/drawing/2014/main" id="{A3C0F6CD-9A92-18DC-3AE8-EB5249B3EF2E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528814" y="1996979"/>
            <a:ext cx="595236" cy="1995262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rgbClr val="C30037"/>
            </a:solidFill>
            <a:prstDash val="solid"/>
            <a:round/>
            <a:headEnd type="oval" w="lg" len="lg"/>
            <a:tailEnd type="arrow" w="med" len="med"/>
          </a:ln>
          <a:effectLst/>
        </p:spPr>
      </p:cxnSp>
      <p:cxnSp>
        <p:nvCxnSpPr>
          <p:cNvPr id="584" name="Straight Arrow Connector 6">
            <a:extLst>
              <a:ext uri="{FF2B5EF4-FFF2-40B4-BE49-F238E27FC236}">
                <a16:creationId xmlns:a16="http://schemas.microsoft.com/office/drawing/2014/main" id="{0B76BD80-73E7-39B6-7E61-428BC1A1485C}"/>
              </a:ext>
            </a:extLst>
          </p:cNvPr>
          <p:cNvCxnSpPr>
            <a:cxnSpLocks/>
          </p:cNvCxnSpPr>
          <p:nvPr/>
        </p:nvCxnSpPr>
        <p:spPr bwMode="auto">
          <a:xfrm>
            <a:off x="1828801" y="2696991"/>
            <a:ext cx="1981245" cy="1303997"/>
          </a:xfrm>
          <a:prstGeom prst="bentConnector3">
            <a:avLst>
              <a:gd name="adj1" fmla="val 34"/>
            </a:avLst>
          </a:prstGeom>
          <a:solidFill>
            <a:schemeClr val="accent1"/>
          </a:solidFill>
          <a:ln w="28575" cap="flat" cmpd="sng" algn="ctr">
            <a:solidFill>
              <a:srgbClr val="C30037"/>
            </a:solidFill>
            <a:prstDash val="solid"/>
            <a:round/>
            <a:headEnd type="oval" w="lg" len="lg"/>
            <a:tailEnd type="arrow" w="med" len="med"/>
          </a:ln>
          <a:effectLst/>
        </p:spPr>
      </p:cxnSp>
      <p:cxnSp>
        <p:nvCxnSpPr>
          <p:cNvPr id="587" name="Straight Arrow Connector 6">
            <a:extLst>
              <a:ext uri="{FF2B5EF4-FFF2-40B4-BE49-F238E27FC236}">
                <a16:creationId xmlns:a16="http://schemas.microsoft.com/office/drawing/2014/main" id="{E6613240-0957-2C1B-209C-E3CF79D9C2E6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1775877" y="2749915"/>
            <a:ext cx="2118742" cy="2012895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rgbClr val="C30037"/>
            </a:solidFill>
            <a:prstDash val="solid"/>
            <a:round/>
            <a:headEnd type="oval" w="lg" len="lg"/>
            <a:tailEnd type="arrow" w="med" len="med"/>
          </a:ln>
          <a:effectLst/>
        </p:spPr>
      </p:cxnSp>
      <p:sp>
        <p:nvSpPr>
          <p:cNvPr id="597" name="Right Arrow 6">
            <a:extLst>
              <a:ext uri="{FF2B5EF4-FFF2-40B4-BE49-F238E27FC236}">
                <a16:creationId xmlns:a16="http://schemas.microsoft.com/office/drawing/2014/main" id="{2C6FF100-883C-1E6E-FDBB-C8FCDC4139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759862" y="1062990"/>
            <a:ext cx="365760" cy="365760"/>
          </a:xfrm>
          <a:prstGeom prst="rightArrow">
            <a:avLst>
              <a:gd name="adj1" fmla="val 50000"/>
              <a:gd name="adj2" fmla="val 50019"/>
            </a:avLst>
          </a:prstGeom>
          <a:solidFill>
            <a:srgbClr val="C30037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100" dirty="0">
              <a:latin typeface="Inconsolata" panose="00000509000000000000" pitchFamily="49" charset="0"/>
            </a:endParaRPr>
          </a:p>
        </p:txBody>
      </p:sp>
      <p:sp>
        <p:nvSpPr>
          <p:cNvPr id="598" name="Right Arrow 6">
            <a:extLst>
              <a:ext uri="{FF2B5EF4-FFF2-40B4-BE49-F238E27FC236}">
                <a16:creationId xmlns:a16="http://schemas.microsoft.com/office/drawing/2014/main" id="{062F9B9A-BD99-DDA4-9718-5C8870A81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2984938"/>
            <a:ext cx="1920240" cy="614774"/>
          </a:xfrm>
          <a:prstGeom prst="rightArrow">
            <a:avLst>
              <a:gd name="adj1" fmla="val 50000"/>
              <a:gd name="adj2" fmla="val 50013"/>
            </a:avLst>
          </a:prstGeom>
          <a:solidFill>
            <a:srgbClr val="C30037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2000" b="1" i="1" u="none" dirty="0" err="1">
                <a:solidFill>
                  <a:schemeClr val="bg1"/>
                </a:solidFill>
                <a:latin typeface="Crimson Text" panose="02000503000000000000" pitchFamily="2" charset="0"/>
              </a:rPr>
              <a:t>Newest→Oldest</a:t>
            </a:r>
            <a:endParaRPr lang="en-US" altLang="en-US" sz="2000" b="1" i="1" u="none" dirty="0">
              <a:solidFill>
                <a:schemeClr val="bg1"/>
              </a:solidFill>
              <a:latin typeface="Crimson Text" panose="02000503000000000000" pitchFamily="2" charset="0"/>
            </a:endParaRPr>
          </a:p>
        </p:txBody>
      </p:sp>
      <p:sp>
        <p:nvSpPr>
          <p:cNvPr id="599" name="Highlight Box">
            <a:extLst>
              <a:ext uri="{FF2B5EF4-FFF2-40B4-BE49-F238E27FC236}">
                <a16:creationId xmlns:a16="http://schemas.microsoft.com/office/drawing/2014/main" id="{5FBAD21E-C2D1-A335-E68A-D91609F19C09}"/>
              </a:ext>
            </a:extLst>
          </p:cNvPr>
          <p:cNvSpPr/>
          <p:nvPr/>
        </p:nvSpPr>
        <p:spPr>
          <a:xfrm>
            <a:off x="2972832" y="2330026"/>
            <a:ext cx="457200" cy="274320"/>
          </a:xfrm>
          <a:prstGeom prst="roundRect">
            <a:avLst>
              <a:gd name="adj" fmla="val 4675"/>
            </a:avLst>
          </a:prstGeom>
          <a:noFill/>
          <a:ln w="38100">
            <a:solidFill>
              <a:srgbClr val="C300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13F332D-1D7A-59B7-EAEA-F1ABF66EA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57644" y="-19050"/>
            <a:ext cx="386355" cy="254795"/>
          </a:xfrm>
        </p:spPr>
        <p:txBody>
          <a:bodyPr/>
          <a:lstStyle/>
          <a:p>
            <a:fld id="{97DD1AB5-42BA-4E8A-BFEE-435884E16AA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0EEF7-6161-6FB2-42D2-5EF42DAF98C9}"/>
              </a:ext>
            </a:extLst>
          </p:cNvPr>
          <p:cNvSpPr txBox="1"/>
          <p:nvPr/>
        </p:nvSpPr>
        <p:spPr>
          <a:xfrm>
            <a:off x="2096238" y="3078092"/>
            <a:ext cx="1325106" cy="369332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Bloom Filter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67925-1327-FE68-ED32-F2F97E274407}"/>
              </a:ext>
            </a:extLst>
          </p:cNvPr>
          <p:cNvSpPr txBox="1"/>
          <p:nvPr/>
        </p:nvSpPr>
        <p:spPr>
          <a:xfrm>
            <a:off x="2095829" y="3808730"/>
            <a:ext cx="1325106" cy="369332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Bloom Filter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884990-D15D-49C0-DFE8-86D4FD3607E8}"/>
              </a:ext>
            </a:extLst>
          </p:cNvPr>
          <p:cNvSpPr txBox="1"/>
          <p:nvPr/>
        </p:nvSpPr>
        <p:spPr>
          <a:xfrm>
            <a:off x="2095565" y="4603068"/>
            <a:ext cx="1325106" cy="369332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Bloom Filter</a:t>
            </a:r>
          </a:p>
        </p:txBody>
      </p:sp>
    </p:spTree>
    <p:extLst>
      <p:ext uri="{BB962C8B-B14F-4D97-AF65-F5344CB8AC3E}">
        <p14:creationId xmlns:p14="http://schemas.microsoft.com/office/powerpoint/2010/main" val="9651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5082C-3F82-817B-433F-711C18EDA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 Math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9E5F8A-35EF-4E01-2F44-269A3CCBE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0" y="723900"/>
                <a:ext cx="8610600" cy="4419600"/>
              </a:xfrm>
            </p:spPr>
            <p:txBody>
              <a:bodyPr/>
              <a:lstStyle/>
              <a:p>
                <a:r>
                  <a:rPr lang="en-US" sz="2200" b="1" u="sng" dirty="0"/>
                  <a:t>Idea</a:t>
                </a:r>
                <a:r>
                  <a:rPr lang="en-US" sz="2200" dirty="0"/>
                  <a:t>: Probability of 1 hash collision is low.  Each hash collision event is roughly independent.  Probability of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/>
                  <a:t>collisions is </a:t>
                </a:r>
                <a:r>
                  <a:rPr lang="en-US" sz="2200" i="1" dirty="0"/>
                  <a:t>very</a:t>
                </a:r>
                <a:r>
                  <a:rPr lang="en-US" sz="2200" dirty="0"/>
                  <a:t> low.</a:t>
                </a:r>
                <a:endParaRPr lang="en-US" sz="2200" b="1" u="sng" dirty="0"/>
              </a:p>
              <a:p>
                <a:endParaRPr lang="en-US" sz="2200" b="1" dirty="0"/>
              </a:p>
              <a:p>
                <a:r>
                  <a:rPr lang="en-US" sz="2200" dirty="0"/>
                  <a:t>	Prob(probe is 0 after 1 key) 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sz="2200" b="0" dirty="0"/>
              </a:p>
              <a:p>
                <a:r>
                  <a:rPr lang="en-US" sz="2200" dirty="0"/>
                  <a:t>	Prob(probe is 0 after n keys) 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f>
                                      <m:f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sz="2200" i="0" dirty="0"/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:r>
                  <a:rPr lang="en-US" sz="2200" dirty="0"/>
                  <a:t>			                      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f>
                                      <m:f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2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sz="2200" i="0" dirty="0"/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200" dirty="0"/>
              </a:p>
              <a:p>
                <a:endParaRPr lang="en-US" sz="2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9E5F8A-35EF-4E01-2F44-269A3CCBE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723900"/>
                <a:ext cx="8610600" cy="4419600"/>
              </a:xfrm>
              <a:blipFill>
                <a:blip r:embed="rId2"/>
                <a:stretch>
                  <a:fillRect l="-885" t="-2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A1BDC-CF28-E10F-F500-31E5360A2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4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5E9D3-068D-6BAA-0978-459C87572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 Math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781E6-5190-A03B-D727-621FA27AFC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3400" y="721329"/>
                <a:ext cx="8458200" cy="4289824"/>
              </a:xfrm>
            </p:spPr>
            <p:txBody>
              <a:bodyPr/>
              <a:lstStyle/>
              <a:p>
                <a:r>
                  <a:rPr lang="en-US" sz="2400" dirty="0"/>
                  <a:t>Prob(probe is 0 after n keys)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f>
                                      <m:f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sz="2400" i="0" dirty="0"/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r>
                  <a:rPr lang="en-US" sz="2400" b="0" dirty="0"/>
                  <a:t>	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→∞</m:t>
                        </m:r>
                      </m:lim>
                    </m:limLow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lang="en-US" sz="2400" dirty="0"/>
                  <a:t>  </a:t>
                </a:r>
              </a:p>
              <a:p>
                <a:r>
                  <a:rPr lang="en-US" sz="2400" dirty="0"/>
                  <a:t>Prob(probe is 0 after n keys)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/>
                  <a:t> for large m</a:t>
                </a:r>
              </a:p>
              <a:p>
                <a:r>
                  <a:rPr lang="en-US" sz="2400" dirty="0"/>
                  <a:t>Prob(probe is 1 after n keys)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𝑘𝑛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d>
                    <m:r>
                      <m:rPr>
                        <m:nor/>
                      </m:rPr>
                      <a:rPr lang="en-US" sz="2400" i="0" dirty="0"/>
                      <m:t> for large m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Prob(All k probes are 1 after n keys)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2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𝑘𝑛</m:t>
                                    </m:r>
                                  </m:num>
                                  <m:den>
                                    <m:r>
                                      <a:rPr lang="en-US" sz="24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nor/>
                      </m:rPr>
                      <a:rPr lang="en-US" sz="2400" i="0" dirty="0"/>
                      <m:t> for large m</m:t>
                    </m:r>
                  </m:oMath>
                </a14:m>
                <a:endParaRPr lang="en-US" sz="2400" dirty="0"/>
              </a:p>
              <a:p>
                <a:r>
                  <a:rPr lang="en-US" dirty="0"/>
                  <a:t>	</a:t>
                </a:r>
                <a:r>
                  <a:rPr lang="en-US" sz="2000" dirty="0"/>
                  <a:t>-Interested?  Take my grad class! COMP 638 this Spring.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1781E6-5190-A03B-D727-621FA27AF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721329"/>
                <a:ext cx="8458200" cy="4289824"/>
              </a:xfrm>
              <a:blipFill>
                <a:blip r:embed="rId3"/>
                <a:stretch>
                  <a:fillRect l="-1201" t="-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97D40-7114-08A6-8E42-E1798B2F8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442DF-6CF5-C327-87AC-068BA1BAF810}"/>
              </a:ext>
            </a:extLst>
          </p:cNvPr>
          <p:cNvSpPr txBox="1"/>
          <p:nvPr/>
        </p:nvSpPr>
        <p:spPr>
          <a:xfrm>
            <a:off x="6781800" y="1047750"/>
            <a:ext cx="976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(wat?)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50D2F-4D9F-0295-FF52-470DA8369531}"/>
              </a:ext>
            </a:extLst>
          </p:cNvPr>
          <p:cNvSpPr txBox="1"/>
          <p:nvPr/>
        </p:nvSpPr>
        <p:spPr>
          <a:xfrm>
            <a:off x="4100396" y="1733550"/>
            <a:ext cx="4716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(!)</a:t>
            </a:r>
          </a:p>
        </p:txBody>
      </p:sp>
    </p:spTree>
    <p:extLst>
      <p:ext uri="{BB962C8B-B14F-4D97-AF65-F5344CB8AC3E}">
        <p14:creationId xmlns:p14="http://schemas.microsoft.com/office/powerpoint/2010/main" val="318033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AF3A-3391-DFE6-A563-A588C028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Filters IRL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A22D8-ED74-B77C-1DAA-B90DBFA01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F66910-3453-DF06-E3E9-43CD79013614}"/>
                  </a:ext>
                </a:extLst>
              </p:cNvPr>
              <p:cNvSpPr txBox="1"/>
              <p:nvPr/>
            </p:nvSpPr>
            <p:spPr>
              <a:xfrm>
                <a:off x="1268681" y="901153"/>
                <a:ext cx="7506029" cy="959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Given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2400" dirty="0"/>
                  <a:t>, find smallest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such that:</a:t>
                </a:r>
              </a:p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 = Prob(All k probes are 1 after n keys)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𝑘𝑛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24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nor/>
                      </m:rPr>
                      <a:rPr lang="en-US" sz="2400" i="0" dirty="0"/>
                      <m:t>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F66910-3453-DF06-E3E9-43CD79013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681" y="901153"/>
                <a:ext cx="7506029" cy="959109"/>
              </a:xfrm>
              <a:prstGeom prst="rect">
                <a:avLst/>
              </a:prstGeom>
              <a:blipFill>
                <a:blip r:embed="rId2"/>
                <a:stretch>
                  <a:fillRect l="-1182" t="-3947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7FC981-7ED2-415E-D914-23A5BE59A239}"/>
                  </a:ext>
                </a:extLst>
              </p:cNvPr>
              <p:cNvSpPr txBox="1"/>
              <p:nvPr/>
            </p:nvSpPr>
            <p:spPr>
              <a:xfrm>
                <a:off x="1300349" y="2021547"/>
                <a:ext cx="6041206" cy="5865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First, fix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and minimize </a:t>
                </a:r>
                <a:r>
                  <a:rPr lang="en-US" sz="2400" dirty="0" err="1"/>
                  <a:t>w.r.t</a:t>
                </a:r>
                <a:r>
                  <a:rPr lang="en-US" sz="2400" dirty="0"/>
                  <a:t> k,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func>
                      <m:func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7FC981-7ED2-415E-D914-23A5BE59A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349" y="2021547"/>
                <a:ext cx="6041206" cy="586571"/>
              </a:xfrm>
              <a:prstGeom prst="rect">
                <a:avLst/>
              </a:prstGeom>
              <a:blipFill>
                <a:blip r:embed="rId3"/>
                <a:stretch>
                  <a:fillRect l="-1471"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A6CFEF-F970-8464-315E-479DA82DB42C}"/>
                  </a:ext>
                </a:extLst>
              </p:cNvPr>
              <p:cNvSpPr txBox="1"/>
              <p:nvPr/>
            </p:nvSpPr>
            <p:spPr>
              <a:xfrm>
                <a:off x="1300349" y="2660591"/>
                <a:ext cx="60201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Next, for given n, using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/>
                  <a:t> probes, solve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A6CFEF-F970-8464-315E-479DA82DB4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349" y="2660591"/>
                <a:ext cx="6020110" cy="461665"/>
              </a:xfrm>
              <a:prstGeom prst="rect">
                <a:avLst/>
              </a:prstGeom>
              <a:blipFill>
                <a:blip r:embed="rId4"/>
                <a:stretch>
                  <a:fillRect l="-1474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341371-BA70-57E8-9FEF-C9B0CDAA6C8A}"/>
                  </a:ext>
                </a:extLst>
              </p:cNvPr>
              <p:cNvSpPr txBox="1"/>
              <p:nvPr/>
            </p:nvSpPr>
            <p:spPr>
              <a:xfrm>
                <a:off x="1295400" y="3257550"/>
                <a:ext cx="6829049" cy="10129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Optimal # bits per item to </a:t>
                </a:r>
                <a:r>
                  <a:rPr lang="en-US" sz="2400" dirty="0" err="1"/>
                  <a:t>achive</a:t>
                </a:r>
                <a:r>
                  <a:rPr lang="en-US" sz="2400" dirty="0"/>
                  <a:t> false positive rate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−2.08</m:t>
                    </m:r>
                    <m:func>
                      <m:funcPr>
                        <m:ctrlPr>
                          <a:rPr lang="en-US" sz="24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341371-BA70-57E8-9FEF-C9B0CDAA6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3257550"/>
                <a:ext cx="6829049" cy="1012906"/>
              </a:xfrm>
              <a:prstGeom prst="rect">
                <a:avLst/>
              </a:prstGeom>
              <a:blipFill>
                <a:blip r:embed="rId5"/>
                <a:stretch>
                  <a:fillRect l="-1487" t="-3704" r="-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896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AF3A-3391-DFE6-A563-A588C0282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Bloom Filters IRL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A22D8-ED74-B77C-1DAA-B90DBFA01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B92B4D-1BF8-7525-33B8-BFB90BB0E91F}"/>
                  </a:ext>
                </a:extLst>
              </p:cNvPr>
              <p:cNvSpPr txBox="1"/>
              <p:nvPr/>
            </p:nvSpPr>
            <p:spPr>
              <a:xfrm>
                <a:off x="152400" y="819150"/>
                <a:ext cx="8605244" cy="10508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Optimal # bits per item to </a:t>
                </a:r>
                <a:r>
                  <a:rPr lang="en-US" sz="2400" dirty="0" err="1"/>
                  <a:t>achive</a:t>
                </a:r>
                <a:r>
                  <a:rPr lang="en-US" sz="2400" dirty="0"/>
                  <a:t> false positive rate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−2.08</m:t>
                    </m:r>
                    <m:func>
                      <m:funcPr>
                        <m:ctrlPr>
                          <a:rPr lang="en-US" sz="24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</m:func>
                  </m:oMath>
                </a14:m>
                <a:r>
                  <a:rPr lang="en-US" sz="2400" dirty="0"/>
                  <a:t>    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func>
                      <m:funcPr>
                        <m:ctrlPr>
                          <a:rPr lang="en-US" sz="2400" b="0" i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fun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𝜖</m:t>
                            </m:r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func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B92B4D-1BF8-7525-33B8-BFB90BB0E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819150"/>
                <a:ext cx="8605244" cy="1050865"/>
              </a:xfrm>
              <a:prstGeom prst="rect">
                <a:avLst/>
              </a:prstGeom>
              <a:blipFill>
                <a:blip r:embed="rId2"/>
                <a:stretch>
                  <a:fillRect l="-1180" t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B8FD7B-088B-AB67-84EA-6E3E3B3CF7E1}"/>
                  </a:ext>
                </a:extLst>
              </p:cNvPr>
              <p:cNvSpPr txBox="1"/>
              <p:nvPr/>
            </p:nvSpPr>
            <p:spPr>
              <a:xfrm>
                <a:off x="1600200" y="3262509"/>
                <a:ext cx="579120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Say I fix false positive rate of 1%:</a:t>
                </a: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9.6</m:t>
                    </m:r>
                  </m:oMath>
                </a14:m>
                <a:r>
                  <a:rPr lang="en-US" sz="2400" dirty="0"/>
                  <a:t> bits / item</a:t>
                </a:r>
              </a:p>
              <a:p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400" dirty="0"/>
                  <a:t> probes</a:t>
                </a:r>
              </a:p>
              <a:p>
                <a:r>
                  <a:rPr lang="en-US" sz="2400" dirty="0"/>
                  <a:t>For any number of keys!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3B8FD7B-088B-AB67-84EA-6E3E3B3CF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3262509"/>
                <a:ext cx="5791200" cy="1569660"/>
              </a:xfrm>
              <a:prstGeom prst="rect">
                <a:avLst/>
              </a:prstGeom>
              <a:blipFill>
                <a:blip r:embed="rId3"/>
                <a:stretch>
                  <a:fillRect l="-1751" t="-32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DD0916-B82D-7B7E-E316-5242727CB36E}"/>
                  </a:ext>
                </a:extLst>
              </p:cNvPr>
              <p:cNvSpPr txBox="1"/>
              <p:nvPr/>
            </p:nvSpPr>
            <p:spPr>
              <a:xfrm>
                <a:off x="685800" y="2358513"/>
                <a:ext cx="576888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Why do this?</a:t>
                </a:r>
              </a:p>
              <a:p>
                <a:r>
                  <a:rPr lang="en-US" sz="2400" dirty="0"/>
                  <a:t>	Time(insert) or Time(lookup)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DD0916-B82D-7B7E-E316-5242727CB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358513"/>
                <a:ext cx="5768887" cy="830997"/>
              </a:xfrm>
              <a:prstGeom prst="rect">
                <a:avLst/>
              </a:prstGeom>
              <a:blipFill>
                <a:blip r:embed="rId4"/>
                <a:stretch>
                  <a:fillRect l="-1758" t="-597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13C561-E8BB-9425-ED83-C8069B11C455}"/>
                  </a:ext>
                </a:extLst>
              </p:cNvPr>
              <p:cNvSpPr txBox="1"/>
              <p:nvPr/>
            </p:nvSpPr>
            <p:spPr>
              <a:xfrm>
                <a:off x="6209460" y="2545859"/>
                <a:ext cx="1760033" cy="7940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𝜖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13C561-E8BB-9425-ED83-C8069B11C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9460" y="2545859"/>
                <a:ext cx="1760033" cy="7940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82ECFCBE-E31A-0E55-32AA-CAD72C4448F1}"/>
              </a:ext>
            </a:extLst>
          </p:cNvPr>
          <p:cNvSpPr txBox="1"/>
          <p:nvPr/>
        </p:nvSpPr>
        <p:spPr>
          <a:xfrm>
            <a:off x="6042839" y="3687737"/>
            <a:ext cx="2321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ptr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=32 bits</a:t>
            </a:r>
            <a:endParaRPr lang="en-US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7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2DC7-6A21-4E08-62F5-85A7D4AE4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1F25D-7776-C294-9496-969D44864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hlinkClick r:id="rId2"/>
              </a:rPr>
              <a:t>Counting Bloom Filter</a:t>
            </a:r>
            <a:endParaRPr lang="en-US" b="1" dirty="0"/>
          </a:p>
          <a:p>
            <a:pPr lvl="1"/>
            <a:r>
              <a:rPr lang="en-US" dirty="0"/>
              <a:t>Supports dynamically adding and removing keys.</a:t>
            </a:r>
          </a:p>
          <a:p>
            <a:pPr lvl="1"/>
            <a:r>
              <a:rPr lang="en-US" dirty="0"/>
              <a:t>Uses integers instead of bits to count the number of occurrences of a key in a set.</a:t>
            </a:r>
          </a:p>
          <a:p>
            <a:endParaRPr lang="en-US" sz="1200" dirty="0"/>
          </a:p>
          <a:p>
            <a:r>
              <a:rPr lang="en-US" b="1" dirty="0">
                <a:hlinkClick r:id="rId3"/>
              </a:rPr>
              <a:t>Cuckoo Filter</a:t>
            </a:r>
            <a:endParaRPr lang="en-US" b="1" dirty="0"/>
          </a:p>
          <a:p>
            <a:pPr lvl="1"/>
            <a:r>
              <a:rPr lang="en-US" dirty="0"/>
              <a:t>Also supports dynamically adding and removing keys.</a:t>
            </a:r>
          </a:p>
          <a:p>
            <a:pPr lvl="1"/>
            <a:r>
              <a:rPr lang="en-US" dirty="0"/>
              <a:t>Uses a Cuckoo Hash Table but stores </a:t>
            </a:r>
            <a:r>
              <a:rPr lang="en-US" dirty="0">
                <a:hlinkClick r:id="rId4"/>
              </a:rPr>
              <a:t>fingerprints</a:t>
            </a:r>
            <a:r>
              <a:rPr lang="en-US" dirty="0"/>
              <a:t> instead of full keys.</a:t>
            </a:r>
          </a:p>
          <a:p>
            <a:endParaRPr lang="en-US" sz="1200" dirty="0"/>
          </a:p>
          <a:p>
            <a:r>
              <a:rPr lang="en-US" b="1" dirty="0">
                <a:hlinkClick r:id="rId5"/>
              </a:rPr>
              <a:t>Succinct Range Filter</a:t>
            </a:r>
            <a:r>
              <a:rPr lang="en-US" dirty="0"/>
              <a:t> (</a:t>
            </a:r>
            <a:r>
              <a:rPr lang="en-US" dirty="0" err="1"/>
              <a:t>SuRF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Immutable compact trie that supports approximate exact matches and range filtering.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770B3-6C30-6B9B-36A2-CCE287950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13</a:t>
            </a:fld>
            <a:endParaRPr lang="en-US" dirty="0"/>
          </a:p>
        </p:txBody>
      </p:sp>
      <p:pic>
        <p:nvPicPr>
          <p:cNvPr id="14" name="Picture 13">
            <a:hlinkClick r:id="rId6"/>
            <a:extLst>
              <a:ext uri="{FF2B5EF4-FFF2-40B4-BE49-F238E27FC236}">
                <a16:creationId xmlns:a16="http://schemas.microsoft.com/office/drawing/2014/main" id="{F2344B28-42EF-6430-9918-46D8311245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 rot="161895">
            <a:off x="4631410" y="364194"/>
            <a:ext cx="4484536" cy="4572000"/>
          </a:xfrm>
          <a:prstGeom prst="rect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252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5651D-50B4-BE5E-D8F4-7F7B43974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CD9F4F-14C2-90B4-C98D-B25B6F093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Today's Agenda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A65CB-2C2F-1FCD-0C4D-DC341E14A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Bloom Filters</a:t>
            </a:r>
          </a:p>
          <a:p>
            <a:r>
              <a:rPr lang="en-US" dirty="0"/>
              <a:t>Skip Lists</a:t>
            </a:r>
          </a:p>
          <a:p>
            <a:r>
              <a:rPr lang="en-US" dirty="0"/>
              <a:t>Tries / Radix Trees</a:t>
            </a:r>
          </a:p>
          <a:p>
            <a:r>
              <a:rPr lang="en-US" dirty="0"/>
              <a:t>Inverted Indexes</a:t>
            </a:r>
          </a:p>
          <a:p>
            <a:r>
              <a:rPr lang="en-US" dirty="0"/>
              <a:t>Vector Indexes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8A67B4-6D7F-CBFD-6AB0-B12BB513F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844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magnets" hidden="1">
            <a:extLst>
              <a:ext uri="{FF2B5EF4-FFF2-40B4-BE49-F238E27FC236}">
                <a16:creationId xmlns:a16="http://schemas.microsoft.com/office/drawing/2014/main" id="{42F01B9E-AC6C-2F37-99DE-B43EA1FDEB35}"/>
              </a:ext>
            </a:extLst>
          </p:cNvPr>
          <p:cNvGrpSpPr/>
          <p:nvPr/>
        </p:nvGrpSpPr>
        <p:grpSpPr>
          <a:xfrm>
            <a:off x="2162176" y="2167406"/>
            <a:ext cx="4791074" cy="1267761"/>
            <a:chOff x="2162176" y="2167406"/>
            <a:chExt cx="4791074" cy="1267761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8519A485-5FF5-65EB-42BA-E72A79192C61}"/>
                </a:ext>
              </a:extLst>
            </p:cNvPr>
            <p:cNvGrpSpPr/>
            <p:nvPr/>
          </p:nvGrpSpPr>
          <p:grpSpPr>
            <a:xfrm>
              <a:off x="2339817" y="3138956"/>
              <a:ext cx="91440" cy="296211"/>
              <a:chOff x="2339817" y="3162300"/>
              <a:chExt cx="91440" cy="296211"/>
            </a:xfrm>
          </p:grpSpPr>
          <p:sp>
            <p:nvSpPr>
              <p:cNvPr id="38" name="magnet">
                <a:extLst>
                  <a:ext uri="{FF2B5EF4-FFF2-40B4-BE49-F238E27FC236}">
                    <a16:creationId xmlns:a16="http://schemas.microsoft.com/office/drawing/2014/main" id="{74289386-5B61-EF5A-0FB8-5E7C780EB638}"/>
                  </a:ext>
                </a:extLst>
              </p:cNvPr>
              <p:cNvSpPr/>
              <p:nvPr/>
            </p:nvSpPr>
            <p:spPr>
              <a:xfrm>
                <a:off x="2339817" y="336707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39" name="magnet">
                <a:extLst>
                  <a:ext uri="{FF2B5EF4-FFF2-40B4-BE49-F238E27FC236}">
                    <a16:creationId xmlns:a16="http://schemas.microsoft.com/office/drawing/2014/main" id="{EE6C05CF-BF31-987C-1449-BD8A12BCD9F6}"/>
                  </a:ext>
                </a:extLst>
              </p:cNvPr>
              <p:cNvSpPr/>
              <p:nvPr/>
            </p:nvSpPr>
            <p:spPr>
              <a:xfrm>
                <a:off x="2339817" y="316230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054E6FF9-C563-A2D6-83DD-A66602A7D046}"/>
                </a:ext>
              </a:extLst>
            </p:cNvPr>
            <p:cNvGrpSpPr/>
            <p:nvPr/>
          </p:nvGrpSpPr>
          <p:grpSpPr>
            <a:xfrm>
              <a:off x="2809876" y="3138956"/>
              <a:ext cx="91440" cy="296211"/>
              <a:chOff x="2809876" y="3162300"/>
              <a:chExt cx="91440" cy="296211"/>
            </a:xfrm>
          </p:grpSpPr>
          <p:sp>
            <p:nvSpPr>
              <p:cNvPr id="43" name="magnet">
                <a:extLst>
                  <a:ext uri="{FF2B5EF4-FFF2-40B4-BE49-F238E27FC236}">
                    <a16:creationId xmlns:a16="http://schemas.microsoft.com/office/drawing/2014/main" id="{9302CDD8-3358-D8D8-4DE4-B760A68346C2}"/>
                  </a:ext>
                </a:extLst>
              </p:cNvPr>
              <p:cNvSpPr/>
              <p:nvPr/>
            </p:nvSpPr>
            <p:spPr>
              <a:xfrm>
                <a:off x="2809876" y="336707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44" name="magnet">
                <a:extLst>
                  <a:ext uri="{FF2B5EF4-FFF2-40B4-BE49-F238E27FC236}">
                    <a16:creationId xmlns:a16="http://schemas.microsoft.com/office/drawing/2014/main" id="{F9256965-325F-F81D-B965-546A58703269}"/>
                  </a:ext>
                </a:extLst>
              </p:cNvPr>
              <p:cNvSpPr/>
              <p:nvPr/>
            </p:nvSpPr>
            <p:spPr>
              <a:xfrm>
                <a:off x="2809876" y="316230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69" name="Group 168">
              <a:extLst>
                <a:ext uri="{FF2B5EF4-FFF2-40B4-BE49-F238E27FC236}">
                  <a16:creationId xmlns:a16="http://schemas.microsoft.com/office/drawing/2014/main" id="{3C2F7EAB-0439-EA73-D30C-7F791F578823}"/>
                </a:ext>
              </a:extLst>
            </p:cNvPr>
            <p:cNvGrpSpPr/>
            <p:nvPr/>
          </p:nvGrpSpPr>
          <p:grpSpPr>
            <a:xfrm>
              <a:off x="4570810" y="3138956"/>
              <a:ext cx="91440" cy="296211"/>
              <a:chOff x="4570810" y="3162300"/>
              <a:chExt cx="91440" cy="296211"/>
            </a:xfrm>
          </p:grpSpPr>
          <p:sp>
            <p:nvSpPr>
              <p:cNvPr id="54" name="magnet">
                <a:extLst>
                  <a:ext uri="{FF2B5EF4-FFF2-40B4-BE49-F238E27FC236}">
                    <a16:creationId xmlns:a16="http://schemas.microsoft.com/office/drawing/2014/main" id="{46DCB1CA-AF42-3980-E215-66FF34199BCD}"/>
                  </a:ext>
                </a:extLst>
              </p:cNvPr>
              <p:cNvSpPr/>
              <p:nvPr/>
            </p:nvSpPr>
            <p:spPr>
              <a:xfrm>
                <a:off x="4570810" y="336707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55" name="magnet">
                <a:extLst>
                  <a:ext uri="{FF2B5EF4-FFF2-40B4-BE49-F238E27FC236}">
                    <a16:creationId xmlns:a16="http://schemas.microsoft.com/office/drawing/2014/main" id="{4F5511A1-33CB-9D00-5B4B-17F20B1B55CE}"/>
                  </a:ext>
                </a:extLst>
              </p:cNvPr>
              <p:cNvSpPr/>
              <p:nvPr/>
            </p:nvSpPr>
            <p:spPr>
              <a:xfrm>
                <a:off x="4570810" y="316230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38B932CB-B907-A761-A5D7-1C3D15BB8100}"/>
                </a:ext>
              </a:extLst>
            </p:cNvPr>
            <p:cNvGrpSpPr/>
            <p:nvPr/>
          </p:nvGrpSpPr>
          <p:grpSpPr>
            <a:xfrm>
              <a:off x="3692367" y="3138956"/>
              <a:ext cx="91440" cy="296211"/>
              <a:chOff x="3692367" y="3162300"/>
              <a:chExt cx="91440" cy="296211"/>
            </a:xfrm>
          </p:grpSpPr>
          <p:sp>
            <p:nvSpPr>
              <p:cNvPr id="57" name="magnet">
                <a:extLst>
                  <a:ext uri="{FF2B5EF4-FFF2-40B4-BE49-F238E27FC236}">
                    <a16:creationId xmlns:a16="http://schemas.microsoft.com/office/drawing/2014/main" id="{29BF1C54-7423-6DBE-4A7C-81312ABEC384}"/>
                  </a:ext>
                </a:extLst>
              </p:cNvPr>
              <p:cNvSpPr/>
              <p:nvPr/>
            </p:nvSpPr>
            <p:spPr>
              <a:xfrm>
                <a:off x="3692367" y="336707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58" name="magnet">
                <a:extLst>
                  <a:ext uri="{FF2B5EF4-FFF2-40B4-BE49-F238E27FC236}">
                    <a16:creationId xmlns:a16="http://schemas.microsoft.com/office/drawing/2014/main" id="{1ECA0345-BCE4-2C8A-6689-59803689F55F}"/>
                  </a:ext>
                </a:extLst>
              </p:cNvPr>
              <p:cNvSpPr/>
              <p:nvPr/>
            </p:nvSpPr>
            <p:spPr>
              <a:xfrm>
                <a:off x="3692367" y="316230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902911D6-415D-5C99-14C3-4123E11C1B95}"/>
                </a:ext>
              </a:extLst>
            </p:cNvPr>
            <p:cNvGrpSpPr/>
            <p:nvPr/>
          </p:nvGrpSpPr>
          <p:grpSpPr>
            <a:xfrm>
              <a:off x="2162176" y="2167406"/>
              <a:ext cx="91440" cy="296211"/>
              <a:chOff x="2162176" y="2190750"/>
              <a:chExt cx="91440" cy="296211"/>
            </a:xfrm>
          </p:grpSpPr>
          <p:sp>
            <p:nvSpPr>
              <p:cNvPr id="68" name="magnet">
                <a:extLst>
                  <a:ext uri="{FF2B5EF4-FFF2-40B4-BE49-F238E27FC236}">
                    <a16:creationId xmlns:a16="http://schemas.microsoft.com/office/drawing/2014/main" id="{0ADF48B9-E47C-6009-053D-D376AD79A191}"/>
                  </a:ext>
                </a:extLst>
              </p:cNvPr>
              <p:cNvSpPr/>
              <p:nvPr/>
            </p:nvSpPr>
            <p:spPr>
              <a:xfrm>
                <a:off x="2162176" y="239552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69" name="magnet">
                <a:extLst>
                  <a:ext uri="{FF2B5EF4-FFF2-40B4-BE49-F238E27FC236}">
                    <a16:creationId xmlns:a16="http://schemas.microsoft.com/office/drawing/2014/main" id="{0E0DA753-4061-E418-4F49-C858909C0517}"/>
                  </a:ext>
                </a:extLst>
              </p:cNvPr>
              <p:cNvSpPr/>
              <p:nvPr/>
            </p:nvSpPr>
            <p:spPr>
              <a:xfrm>
                <a:off x="2162176" y="219075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24C68D8C-82FC-3BA9-B396-15FF9C490846}"/>
                </a:ext>
              </a:extLst>
            </p:cNvPr>
            <p:cNvGrpSpPr/>
            <p:nvPr/>
          </p:nvGrpSpPr>
          <p:grpSpPr>
            <a:xfrm>
              <a:off x="3044667" y="2167406"/>
              <a:ext cx="91440" cy="296211"/>
              <a:chOff x="3044667" y="2190750"/>
              <a:chExt cx="91440" cy="296211"/>
            </a:xfrm>
          </p:grpSpPr>
          <p:sp>
            <p:nvSpPr>
              <p:cNvPr id="71" name="magnet">
                <a:extLst>
                  <a:ext uri="{FF2B5EF4-FFF2-40B4-BE49-F238E27FC236}">
                    <a16:creationId xmlns:a16="http://schemas.microsoft.com/office/drawing/2014/main" id="{F2FA47EA-B0C9-608D-9258-754FF5AA5F84}"/>
                  </a:ext>
                </a:extLst>
              </p:cNvPr>
              <p:cNvSpPr/>
              <p:nvPr/>
            </p:nvSpPr>
            <p:spPr>
              <a:xfrm>
                <a:off x="3044667" y="239552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72" name="magnet">
                <a:extLst>
                  <a:ext uri="{FF2B5EF4-FFF2-40B4-BE49-F238E27FC236}">
                    <a16:creationId xmlns:a16="http://schemas.microsoft.com/office/drawing/2014/main" id="{507B8BE0-6DAE-A4F0-C36C-EEA1094721E6}"/>
                  </a:ext>
                </a:extLst>
              </p:cNvPr>
              <p:cNvSpPr/>
              <p:nvPr/>
            </p:nvSpPr>
            <p:spPr>
              <a:xfrm>
                <a:off x="3044667" y="219075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7D6E23BB-23CA-B754-5775-9077B52F4D15}"/>
                </a:ext>
              </a:extLst>
            </p:cNvPr>
            <p:cNvGrpSpPr/>
            <p:nvPr/>
          </p:nvGrpSpPr>
          <p:grpSpPr>
            <a:xfrm>
              <a:off x="5452110" y="3138956"/>
              <a:ext cx="91440" cy="296211"/>
              <a:chOff x="5452110" y="3162300"/>
              <a:chExt cx="91440" cy="296211"/>
            </a:xfrm>
          </p:grpSpPr>
          <p:sp>
            <p:nvSpPr>
              <p:cNvPr id="77" name="magnet">
                <a:extLst>
                  <a:ext uri="{FF2B5EF4-FFF2-40B4-BE49-F238E27FC236}">
                    <a16:creationId xmlns:a16="http://schemas.microsoft.com/office/drawing/2014/main" id="{432449C1-EDAE-95AC-77A0-053FFA8023C2}"/>
                  </a:ext>
                </a:extLst>
              </p:cNvPr>
              <p:cNvSpPr/>
              <p:nvPr/>
            </p:nvSpPr>
            <p:spPr>
              <a:xfrm>
                <a:off x="5452110" y="336707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78" name="magnet">
                <a:extLst>
                  <a:ext uri="{FF2B5EF4-FFF2-40B4-BE49-F238E27FC236}">
                    <a16:creationId xmlns:a16="http://schemas.microsoft.com/office/drawing/2014/main" id="{2074E368-6F99-69DF-1654-9C7640F2440D}"/>
                  </a:ext>
                </a:extLst>
              </p:cNvPr>
              <p:cNvSpPr/>
              <p:nvPr/>
            </p:nvSpPr>
            <p:spPr>
              <a:xfrm>
                <a:off x="5452110" y="316230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D5ADB233-5474-D600-F7CD-F45CEFD1605A}"/>
                </a:ext>
              </a:extLst>
            </p:cNvPr>
            <p:cNvGrpSpPr/>
            <p:nvPr/>
          </p:nvGrpSpPr>
          <p:grpSpPr>
            <a:xfrm>
              <a:off x="5275660" y="2167406"/>
              <a:ext cx="91440" cy="296211"/>
              <a:chOff x="5275660" y="2190750"/>
              <a:chExt cx="91440" cy="296211"/>
            </a:xfrm>
          </p:grpSpPr>
          <p:sp>
            <p:nvSpPr>
              <p:cNvPr id="80" name="magnet">
                <a:extLst>
                  <a:ext uri="{FF2B5EF4-FFF2-40B4-BE49-F238E27FC236}">
                    <a16:creationId xmlns:a16="http://schemas.microsoft.com/office/drawing/2014/main" id="{8D8DF30E-83C3-31CE-108A-5CDBCDC3C506}"/>
                  </a:ext>
                </a:extLst>
              </p:cNvPr>
              <p:cNvSpPr/>
              <p:nvPr/>
            </p:nvSpPr>
            <p:spPr>
              <a:xfrm>
                <a:off x="5275660" y="239552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1" name="magnet">
                <a:extLst>
                  <a:ext uri="{FF2B5EF4-FFF2-40B4-BE49-F238E27FC236}">
                    <a16:creationId xmlns:a16="http://schemas.microsoft.com/office/drawing/2014/main" id="{769A726B-5A33-1BC7-CD05-800F345BAC05}"/>
                  </a:ext>
                </a:extLst>
              </p:cNvPr>
              <p:cNvSpPr/>
              <p:nvPr/>
            </p:nvSpPr>
            <p:spPr>
              <a:xfrm>
                <a:off x="5275660" y="219075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1C56FA1B-0DFB-F4A2-2811-0D5B302CC3FA}"/>
                </a:ext>
              </a:extLst>
            </p:cNvPr>
            <p:cNvGrpSpPr/>
            <p:nvPr/>
          </p:nvGrpSpPr>
          <p:grpSpPr>
            <a:xfrm>
              <a:off x="6156960" y="2167406"/>
              <a:ext cx="91440" cy="296211"/>
              <a:chOff x="6156960" y="2190750"/>
              <a:chExt cx="91440" cy="296211"/>
            </a:xfrm>
          </p:grpSpPr>
          <p:sp>
            <p:nvSpPr>
              <p:cNvPr id="83" name="magnet">
                <a:extLst>
                  <a:ext uri="{FF2B5EF4-FFF2-40B4-BE49-F238E27FC236}">
                    <a16:creationId xmlns:a16="http://schemas.microsoft.com/office/drawing/2014/main" id="{2460717A-E8DB-A52D-A830-270177618244}"/>
                  </a:ext>
                </a:extLst>
              </p:cNvPr>
              <p:cNvSpPr/>
              <p:nvPr/>
            </p:nvSpPr>
            <p:spPr>
              <a:xfrm>
                <a:off x="6156960" y="239552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4" name="magnet">
                <a:extLst>
                  <a:ext uri="{FF2B5EF4-FFF2-40B4-BE49-F238E27FC236}">
                    <a16:creationId xmlns:a16="http://schemas.microsoft.com/office/drawing/2014/main" id="{E7579020-553F-4712-B9CD-6B457068D5D5}"/>
                  </a:ext>
                </a:extLst>
              </p:cNvPr>
              <p:cNvSpPr/>
              <p:nvPr/>
            </p:nvSpPr>
            <p:spPr>
              <a:xfrm>
                <a:off x="6156960" y="219075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5078BBFF-E4BF-CA30-A3C6-88BBBFD7D118}"/>
                </a:ext>
              </a:extLst>
            </p:cNvPr>
            <p:cNvGrpSpPr/>
            <p:nvPr/>
          </p:nvGrpSpPr>
          <p:grpSpPr>
            <a:xfrm>
              <a:off x="5980510" y="3138956"/>
              <a:ext cx="91440" cy="296211"/>
              <a:chOff x="5980510" y="3162300"/>
              <a:chExt cx="91440" cy="296211"/>
            </a:xfrm>
          </p:grpSpPr>
          <p:sp>
            <p:nvSpPr>
              <p:cNvPr id="86" name="magnet">
                <a:extLst>
                  <a:ext uri="{FF2B5EF4-FFF2-40B4-BE49-F238E27FC236}">
                    <a16:creationId xmlns:a16="http://schemas.microsoft.com/office/drawing/2014/main" id="{0C610203-C759-6922-7643-B81159E58785}"/>
                  </a:ext>
                </a:extLst>
              </p:cNvPr>
              <p:cNvSpPr/>
              <p:nvPr/>
            </p:nvSpPr>
            <p:spPr>
              <a:xfrm>
                <a:off x="5980510" y="336707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7" name="magnet">
                <a:extLst>
                  <a:ext uri="{FF2B5EF4-FFF2-40B4-BE49-F238E27FC236}">
                    <a16:creationId xmlns:a16="http://schemas.microsoft.com/office/drawing/2014/main" id="{6EDDB81D-682C-6181-0B84-417349D51413}"/>
                  </a:ext>
                </a:extLst>
              </p:cNvPr>
              <p:cNvSpPr/>
              <p:nvPr/>
            </p:nvSpPr>
            <p:spPr>
              <a:xfrm>
                <a:off x="5980510" y="316230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4987B8A6-F3D6-8736-5CDE-3742EA4D380F}"/>
                </a:ext>
              </a:extLst>
            </p:cNvPr>
            <p:cNvGrpSpPr/>
            <p:nvPr/>
          </p:nvGrpSpPr>
          <p:grpSpPr>
            <a:xfrm>
              <a:off x="6861810" y="3138956"/>
              <a:ext cx="91440" cy="296211"/>
              <a:chOff x="6861810" y="3162300"/>
              <a:chExt cx="91440" cy="296211"/>
            </a:xfrm>
          </p:grpSpPr>
          <p:sp>
            <p:nvSpPr>
              <p:cNvPr id="89" name="magnet">
                <a:extLst>
                  <a:ext uri="{FF2B5EF4-FFF2-40B4-BE49-F238E27FC236}">
                    <a16:creationId xmlns:a16="http://schemas.microsoft.com/office/drawing/2014/main" id="{3D65F168-0240-BD4D-294C-C1EB8A3BB237}"/>
                  </a:ext>
                </a:extLst>
              </p:cNvPr>
              <p:cNvSpPr/>
              <p:nvPr/>
            </p:nvSpPr>
            <p:spPr>
              <a:xfrm>
                <a:off x="6861810" y="3367071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90" name="magnet">
                <a:extLst>
                  <a:ext uri="{FF2B5EF4-FFF2-40B4-BE49-F238E27FC236}">
                    <a16:creationId xmlns:a16="http://schemas.microsoft.com/office/drawing/2014/main" id="{31B66E50-8620-4AC5-77F1-CAEAD59ACD1E}"/>
                  </a:ext>
                </a:extLst>
              </p:cNvPr>
              <p:cNvSpPr/>
              <p:nvPr/>
            </p:nvSpPr>
            <p:spPr>
              <a:xfrm>
                <a:off x="6861810" y="3162300"/>
                <a:ext cx="91440" cy="9144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59F76E-FCDA-DBAC-A1CE-3A44720A8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B+Trees</a:t>
            </a:r>
            <a:r>
              <a:rPr lang="en-US" dirty="0"/>
              <a:t> as Fancy Linked Lists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4B108BE-FF83-F0D9-51C8-228BC6044427}"/>
              </a:ext>
            </a:extLst>
          </p:cNvPr>
          <p:cNvGrpSpPr/>
          <p:nvPr/>
        </p:nvGrpSpPr>
        <p:grpSpPr>
          <a:xfrm>
            <a:off x="4651804" y="2546437"/>
            <a:ext cx="4074190" cy="832540"/>
            <a:chOff x="4651804" y="2546437"/>
            <a:chExt cx="4074190" cy="83254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FBCA27D-FE59-C059-2395-7F7ECFB05A87}"/>
                </a:ext>
              </a:extLst>
            </p:cNvPr>
            <p:cNvGrpSpPr/>
            <p:nvPr/>
          </p:nvGrpSpPr>
          <p:grpSpPr>
            <a:xfrm>
              <a:off x="4939734" y="2779292"/>
              <a:ext cx="3530013" cy="599685"/>
              <a:chOff x="1712625" y="2440528"/>
              <a:chExt cx="4494309" cy="763504"/>
            </a:xfrm>
          </p:grpSpPr>
          <p:cxnSp>
            <p:nvCxnSpPr>
              <p:cNvPr id="5" name="AutoShape 14">
                <a:extLst>
                  <a:ext uri="{FF2B5EF4-FFF2-40B4-BE49-F238E27FC236}">
                    <a16:creationId xmlns:a16="http://schemas.microsoft.com/office/drawing/2014/main" id="{6687F8B4-3A2D-A5F7-F460-BEA45536C17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1712625" y="2440528"/>
                <a:ext cx="494795" cy="763504"/>
              </a:xfrm>
              <a:prstGeom prst="straightConnector1">
                <a:avLst/>
              </a:prstGeom>
              <a:noFill/>
              <a:ln w="28575">
                <a:solidFill>
                  <a:srgbClr val="646464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" name="AutoShape 14">
                <a:extLst>
                  <a:ext uri="{FF2B5EF4-FFF2-40B4-BE49-F238E27FC236}">
                    <a16:creationId xmlns:a16="http://schemas.microsoft.com/office/drawing/2014/main" id="{A2B2434D-38A0-A1E0-392D-E828E4E2A07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654193" y="2479460"/>
                <a:ext cx="403702" cy="723449"/>
              </a:xfrm>
              <a:prstGeom prst="straightConnector1">
                <a:avLst/>
              </a:prstGeom>
              <a:noFill/>
              <a:ln w="28575">
                <a:solidFill>
                  <a:srgbClr val="646464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" name="AutoShape 14">
                <a:extLst>
                  <a:ext uri="{FF2B5EF4-FFF2-40B4-BE49-F238E27FC236}">
                    <a16:creationId xmlns:a16="http://schemas.microsoft.com/office/drawing/2014/main" id="{E99991CA-BFE7-3F01-3A2A-0980BE580E32}"/>
                  </a:ext>
                </a:extLst>
              </p:cNvPr>
              <p:cNvCxnSpPr>
                <a:cxnSpLocks noChangeShapeType="1"/>
                <a:endCxn id="20" idx="0"/>
              </p:cNvCxnSpPr>
              <p:nvPr/>
            </p:nvCxnSpPr>
            <p:spPr bwMode="auto">
              <a:xfrm flipH="1">
                <a:off x="5056791" y="2500011"/>
                <a:ext cx="665528" cy="704021"/>
              </a:xfrm>
              <a:prstGeom prst="straightConnector1">
                <a:avLst/>
              </a:prstGeom>
              <a:noFill/>
              <a:ln w="28575">
                <a:solidFill>
                  <a:srgbClr val="646464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" name="AutoShape 14">
                <a:extLst>
                  <a:ext uri="{FF2B5EF4-FFF2-40B4-BE49-F238E27FC236}">
                    <a16:creationId xmlns:a16="http://schemas.microsoft.com/office/drawing/2014/main" id="{7AF0E8FF-34EC-00EF-6C1E-5D86CE0DD0D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729289" y="2500011"/>
                <a:ext cx="477645" cy="704021"/>
              </a:xfrm>
              <a:prstGeom prst="straightConnector1">
                <a:avLst/>
              </a:prstGeom>
              <a:noFill/>
              <a:ln w="28575">
                <a:solidFill>
                  <a:srgbClr val="646464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7" name="Group 93">
              <a:extLst>
                <a:ext uri="{FF2B5EF4-FFF2-40B4-BE49-F238E27FC236}">
                  <a16:creationId xmlns:a16="http://schemas.microsoft.com/office/drawing/2014/main" id="{B03E9CAD-38B1-8E16-A6A2-5919080583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38287" y="2546437"/>
              <a:ext cx="764030" cy="269327"/>
              <a:chOff x="2895600" y="1524000"/>
              <a:chExt cx="1997283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28" name="Flowchart: Predefined Process 27">
                <a:extLst>
                  <a:ext uri="{FF2B5EF4-FFF2-40B4-BE49-F238E27FC236}">
                    <a16:creationId xmlns:a16="http://schemas.microsoft.com/office/drawing/2014/main" id="{0BA0E85D-F087-6404-2F0A-56F257E990D8}"/>
                  </a:ext>
                </a:extLst>
              </p:cNvPr>
              <p:cNvSpPr/>
              <p:nvPr/>
            </p:nvSpPr>
            <p:spPr bwMode="auto">
              <a:xfrm>
                <a:off x="2895600" y="1524000"/>
                <a:ext cx="1065870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35</a:t>
                </a:r>
              </a:p>
            </p:txBody>
          </p:sp>
          <p:sp>
            <p:nvSpPr>
              <p:cNvPr id="29" name="Flowchart: Predefined Process 28">
                <a:extLst>
                  <a:ext uri="{FF2B5EF4-FFF2-40B4-BE49-F238E27FC236}">
                    <a16:creationId xmlns:a16="http://schemas.microsoft.com/office/drawing/2014/main" id="{7257AC98-B423-8C85-06A8-1C2E13189ED7}"/>
                  </a:ext>
                </a:extLst>
              </p:cNvPr>
              <p:cNvSpPr/>
              <p:nvPr/>
            </p:nvSpPr>
            <p:spPr bwMode="auto">
              <a:xfrm>
                <a:off x="3827013" y="1524000"/>
                <a:ext cx="1065870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>
                  <a:solidFill>
                    <a:srgbClr val="646464"/>
                  </a:solidFill>
                  <a:latin typeface="Inconsolata" panose="00000509000000000000" pitchFamily="49" charset="0"/>
                </a:endParaRPr>
              </a:p>
            </p:txBody>
          </p:sp>
        </p:grpSp>
        <p:grpSp>
          <p:nvGrpSpPr>
            <p:cNvPr id="30" name="Group 13">
              <a:extLst>
                <a:ext uri="{FF2B5EF4-FFF2-40B4-BE49-F238E27FC236}">
                  <a16:creationId xmlns:a16="http://schemas.microsoft.com/office/drawing/2014/main" id="{96B60301-06BE-6CAB-90A5-3B0797727E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92830" y="2546437"/>
              <a:ext cx="764965" cy="269327"/>
              <a:chOff x="2895600" y="1524000"/>
              <a:chExt cx="1997283" cy="457200"/>
            </a:xfrm>
            <a:solidFill>
              <a:schemeClr val="bg1">
                <a:lumMod val="85000"/>
              </a:schemeClr>
            </a:solidFill>
          </p:grpSpPr>
          <p:sp>
            <p:nvSpPr>
              <p:cNvPr id="31" name="Flowchart: Predefined Process 30">
                <a:extLst>
                  <a:ext uri="{FF2B5EF4-FFF2-40B4-BE49-F238E27FC236}">
                    <a16:creationId xmlns:a16="http://schemas.microsoft.com/office/drawing/2014/main" id="{860F5F68-3F81-9C17-8CA2-AA12BF50E222}"/>
                  </a:ext>
                </a:extLst>
              </p:cNvPr>
              <p:cNvSpPr/>
              <p:nvPr/>
            </p:nvSpPr>
            <p:spPr bwMode="auto">
              <a:xfrm>
                <a:off x="2895600" y="1524000"/>
                <a:ext cx="1067009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r>
                  <a: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rPr>
                  <a:t>10</a:t>
                </a:r>
              </a:p>
            </p:txBody>
          </p:sp>
          <p:sp>
            <p:nvSpPr>
              <p:cNvPr id="32" name="Flowchart: Predefined Process 31">
                <a:extLst>
                  <a:ext uri="{FF2B5EF4-FFF2-40B4-BE49-F238E27FC236}">
                    <a16:creationId xmlns:a16="http://schemas.microsoft.com/office/drawing/2014/main" id="{BAC1A12A-BC52-3ABC-FA35-658C73137945}"/>
                  </a:ext>
                </a:extLst>
              </p:cNvPr>
              <p:cNvSpPr/>
              <p:nvPr/>
            </p:nvSpPr>
            <p:spPr bwMode="auto">
              <a:xfrm>
                <a:off x="3825876" y="1524000"/>
                <a:ext cx="1067007" cy="457200"/>
              </a:xfrm>
              <a:prstGeom prst="flowChartPredefinedProcess">
                <a:avLst/>
              </a:prstGeom>
              <a:grpFill/>
              <a:ln w="12700" cap="flat" cmpd="sng" algn="ctr">
                <a:solidFill>
                  <a:srgbClr val="64646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pPr algn="ctr" eaLnBrk="0" hangingPunct="0"/>
                <a:endParaRPr lang="en-US">
                  <a:solidFill>
                    <a:srgbClr val="646464"/>
                  </a:solidFill>
                  <a:latin typeface="Inconsolata" panose="00000509000000000000" pitchFamily="49" charset="0"/>
                </a:endParaRPr>
              </a:p>
            </p:txBody>
          </p:sp>
        </p:grpSp>
        <p:cxnSp>
          <p:nvCxnSpPr>
            <p:cNvPr id="99" name="AutoShape 14">
              <a:extLst>
                <a:ext uri="{FF2B5EF4-FFF2-40B4-BE49-F238E27FC236}">
                  <a16:creationId xmlns:a16="http://schemas.microsoft.com/office/drawing/2014/main" id="{C51DEA18-80D0-657E-91A4-7E813963F1E3}"/>
                </a:ext>
              </a:extLst>
            </p:cNvPr>
            <p:cNvCxnSpPr>
              <a:cxnSpLocks noChangeShapeType="1"/>
              <a:stCxn id="72" idx="3"/>
              <a:endCxn id="81" idx="1"/>
            </p:cNvCxnSpPr>
            <p:nvPr/>
          </p:nvCxnSpPr>
          <p:spPr bwMode="auto">
            <a:xfrm>
              <a:off x="6057795" y="2600683"/>
              <a:ext cx="1680492" cy="0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" name="AutoShape 14">
              <a:extLst>
                <a:ext uri="{FF2B5EF4-FFF2-40B4-BE49-F238E27FC236}">
                  <a16:creationId xmlns:a16="http://schemas.microsoft.com/office/drawing/2014/main" id="{5B02786C-96DF-03FA-87F5-F2706C0D72F9}"/>
                </a:ext>
              </a:extLst>
            </p:cNvPr>
            <p:cNvCxnSpPr>
              <a:cxnSpLocks noChangeShapeType="1"/>
              <a:stCxn id="80" idx="1"/>
              <a:endCxn id="71" idx="3"/>
            </p:cNvCxnSpPr>
            <p:nvPr/>
          </p:nvCxnSpPr>
          <p:spPr bwMode="auto">
            <a:xfrm flipH="1">
              <a:off x="6057795" y="2761518"/>
              <a:ext cx="1680492" cy="0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A8FA5786-17DD-D830-1E95-908E3AFF77D0}"/>
                </a:ext>
              </a:extLst>
            </p:cNvPr>
            <p:cNvGrpSpPr/>
            <p:nvPr/>
          </p:nvGrpSpPr>
          <p:grpSpPr>
            <a:xfrm>
              <a:off x="4651804" y="2915013"/>
              <a:ext cx="4074190" cy="257258"/>
              <a:chOff x="1346041" y="2609210"/>
              <a:chExt cx="5187139" cy="327534"/>
            </a:xfrm>
          </p:grpSpPr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A76EDFF1-78DD-3227-BD9F-1A4E282AF1F7}"/>
                  </a:ext>
                </a:extLst>
              </p:cNvPr>
              <p:cNvSpPr txBox="1"/>
              <p:nvPr/>
            </p:nvSpPr>
            <p:spPr>
              <a:xfrm>
                <a:off x="1346041" y="2659745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&lt;10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C4CB342C-86F8-EBFC-B858-8BD0C27E54D9}"/>
                  </a:ext>
                </a:extLst>
              </p:cNvPr>
              <p:cNvSpPr txBox="1"/>
              <p:nvPr/>
            </p:nvSpPr>
            <p:spPr>
              <a:xfrm>
                <a:off x="3012211" y="2641597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≥10</a:t>
                </a:r>
              </a:p>
            </p:txBody>
          </p: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F1DFEABD-F5B0-86CE-B51F-ADEAEB7C168C}"/>
                  </a:ext>
                </a:extLst>
              </p:cNvPr>
              <p:cNvGrpSpPr/>
              <p:nvPr/>
            </p:nvGrpSpPr>
            <p:grpSpPr>
              <a:xfrm>
                <a:off x="4649461" y="2609210"/>
                <a:ext cx="1883719" cy="317443"/>
                <a:chOff x="4649461" y="2574560"/>
                <a:chExt cx="1883719" cy="317443"/>
              </a:xfrm>
            </p:grpSpPr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72C7AB4E-2D0E-4632-23BB-6DD1239CA2D3}"/>
                    </a:ext>
                  </a:extLst>
                </p:cNvPr>
                <p:cNvSpPr txBox="1"/>
                <p:nvPr/>
              </p:nvSpPr>
              <p:spPr>
                <a:xfrm>
                  <a:off x="4649461" y="2574560"/>
                  <a:ext cx="3462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</a:rPr>
                    <a:t>&lt;35</a:t>
                  </a:r>
                </a:p>
              </p:txBody>
            </p: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7898FF4B-5ADB-A9F7-96C5-F62899040542}"/>
                    </a:ext>
                  </a:extLst>
                </p:cNvPr>
                <p:cNvSpPr txBox="1"/>
                <p:nvPr/>
              </p:nvSpPr>
              <p:spPr>
                <a:xfrm>
                  <a:off x="6186931" y="2615004"/>
                  <a:ext cx="34624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</a:rPr>
                    <a:t>≥35</a:t>
                  </a:r>
                </a:p>
              </p:txBody>
            </p:sp>
          </p:grp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5BCB21F-5863-2BA4-F02E-51629F3A0CAA}"/>
              </a:ext>
            </a:extLst>
          </p:cNvPr>
          <p:cNvGrpSpPr/>
          <p:nvPr/>
        </p:nvGrpSpPr>
        <p:grpSpPr>
          <a:xfrm>
            <a:off x="5853462" y="1685296"/>
            <a:ext cx="2088691" cy="861141"/>
            <a:chOff x="5853462" y="1685296"/>
            <a:chExt cx="2088691" cy="861141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C8D84C17-3B8F-EF91-94D0-0BA0F342C7F8}"/>
                </a:ext>
              </a:extLst>
            </p:cNvPr>
            <p:cNvGrpSpPr/>
            <p:nvPr/>
          </p:nvGrpSpPr>
          <p:grpSpPr>
            <a:xfrm>
              <a:off x="5853462" y="1967719"/>
              <a:ext cx="2088691" cy="578718"/>
              <a:chOff x="2587683" y="1611259"/>
              <a:chExt cx="2837407" cy="736808"/>
            </a:xfrm>
          </p:grpSpPr>
          <p:cxnSp>
            <p:nvCxnSpPr>
              <p:cNvPr id="3" name="AutoShape 14">
                <a:extLst>
                  <a:ext uri="{FF2B5EF4-FFF2-40B4-BE49-F238E27FC236}">
                    <a16:creationId xmlns:a16="http://schemas.microsoft.com/office/drawing/2014/main" id="{130A8D5E-7B37-6520-F77B-2D4332143210}"/>
                  </a:ext>
                </a:extLst>
              </p:cNvPr>
              <p:cNvCxnSpPr>
                <a:cxnSpLocks noChangeShapeType="1"/>
                <a:endCxn id="32" idx="0"/>
              </p:cNvCxnSpPr>
              <p:nvPr/>
            </p:nvCxnSpPr>
            <p:spPr bwMode="auto">
              <a:xfrm flipH="1">
                <a:off x="2587683" y="1611259"/>
                <a:ext cx="1565971" cy="736807"/>
              </a:xfrm>
              <a:prstGeom prst="straightConnector1">
                <a:avLst/>
              </a:prstGeom>
              <a:noFill/>
              <a:ln w="28575">
                <a:solidFill>
                  <a:srgbClr val="646464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" name="AutoShape 14">
                <a:extLst>
                  <a:ext uri="{FF2B5EF4-FFF2-40B4-BE49-F238E27FC236}">
                    <a16:creationId xmlns:a16="http://schemas.microsoft.com/office/drawing/2014/main" id="{005AFEDA-5060-5CF1-B0FF-3990D3DDA1E6}"/>
                  </a:ext>
                </a:extLst>
              </p:cNvPr>
              <p:cNvCxnSpPr>
                <a:cxnSpLocks noChangeShapeType="1"/>
                <a:endCxn id="28" idx="0"/>
              </p:cNvCxnSpPr>
              <p:nvPr/>
            </p:nvCxnSpPr>
            <p:spPr bwMode="auto">
              <a:xfrm>
                <a:off x="4153654" y="1611260"/>
                <a:ext cx="1271436" cy="736807"/>
              </a:xfrm>
              <a:prstGeom prst="straightConnector1">
                <a:avLst/>
              </a:prstGeom>
              <a:noFill/>
              <a:ln w="28575">
                <a:solidFill>
                  <a:srgbClr val="646464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D8274998-9520-2E88-2751-EA8D5580DBBE}"/>
                </a:ext>
              </a:extLst>
            </p:cNvPr>
            <p:cNvGrpSpPr/>
            <p:nvPr/>
          </p:nvGrpSpPr>
          <p:grpSpPr>
            <a:xfrm>
              <a:off x="5943600" y="1986933"/>
              <a:ext cx="1996733" cy="296829"/>
              <a:chOff x="2387044" y="1736122"/>
              <a:chExt cx="2698424" cy="307705"/>
            </a:xfrm>
          </p:grpSpPr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9266C24C-EF67-093A-ABAB-BE82185331F5}"/>
                  </a:ext>
                </a:extLst>
              </p:cNvPr>
              <p:cNvSpPr txBox="1"/>
              <p:nvPr/>
            </p:nvSpPr>
            <p:spPr>
              <a:xfrm>
                <a:off x="2387044" y="1736122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&lt;20</a:t>
                </a: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352E0016-D4E2-E1AE-B998-CD18DD46FA8B}"/>
                  </a:ext>
                </a:extLst>
              </p:cNvPr>
              <p:cNvSpPr txBox="1"/>
              <p:nvPr/>
            </p:nvSpPr>
            <p:spPr>
              <a:xfrm>
                <a:off x="4739219" y="1766828"/>
                <a:ext cx="3462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≥20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9A637BA5-BF58-53D3-398E-351DECA1DCDA}"/>
                </a:ext>
              </a:extLst>
            </p:cNvPr>
            <p:cNvGrpSpPr/>
            <p:nvPr/>
          </p:nvGrpSpPr>
          <p:grpSpPr>
            <a:xfrm>
              <a:off x="6665486" y="1685296"/>
              <a:ext cx="716937" cy="269327"/>
              <a:chOff x="3829051" y="1236805"/>
              <a:chExt cx="973931" cy="342900"/>
            </a:xfrm>
          </p:grpSpPr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4C29C051-CC3F-A9DC-3684-DDEE4DB866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29051" y="1236805"/>
                <a:ext cx="973931" cy="342900"/>
                <a:chOff x="2895600" y="1524000"/>
                <a:chExt cx="1997284" cy="457200"/>
              </a:xfrm>
              <a:solidFill>
                <a:schemeClr val="bg1">
                  <a:lumMod val="85000"/>
                </a:schemeClr>
              </a:solidFill>
            </p:grpSpPr>
            <p:sp>
              <p:nvSpPr>
                <p:cNvPr id="10" name="Flowchart: Predefined Process 9">
                  <a:extLst>
                    <a:ext uri="{FF2B5EF4-FFF2-40B4-BE49-F238E27FC236}">
                      <a16:creationId xmlns:a16="http://schemas.microsoft.com/office/drawing/2014/main" id="{A20C93FA-4B01-091A-ECFA-C4D48ED7D29E}"/>
                    </a:ext>
                  </a:extLst>
                </p:cNvPr>
                <p:cNvSpPr/>
                <p:nvPr/>
              </p:nvSpPr>
              <p:spPr bwMode="auto">
                <a:xfrm>
                  <a:off x="2895600" y="1524000"/>
                  <a:ext cx="1067009" cy="457200"/>
                </a:xfrm>
                <a:prstGeom prst="flowChartPredefinedProcess">
                  <a:avLst/>
                </a:prstGeom>
                <a:grpFill/>
                <a:ln w="12700" cap="flat" cmpd="sng" algn="ctr">
                  <a:solidFill>
                    <a:srgbClr val="64646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n-US" dirty="0">
                      <a:solidFill>
                        <a:srgbClr val="646464"/>
                      </a:solidFill>
                      <a:latin typeface="Inconsolata" panose="00000509000000000000" pitchFamily="49" charset="0"/>
                    </a:rPr>
                    <a:t>20</a:t>
                  </a:r>
                </a:p>
              </p:txBody>
            </p:sp>
            <p:sp>
              <p:nvSpPr>
                <p:cNvPr id="11" name="Flowchart: Predefined Process 10">
                  <a:extLst>
                    <a:ext uri="{FF2B5EF4-FFF2-40B4-BE49-F238E27FC236}">
                      <a16:creationId xmlns:a16="http://schemas.microsoft.com/office/drawing/2014/main" id="{3736DFE6-8853-1E30-3256-C7C8F8977D31}"/>
                    </a:ext>
                  </a:extLst>
                </p:cNvPr>
                <p:cNvSpPr/>
                <p:nvPr/>
              </p:nvSpPr>
              <p:spPr bwMode="auto">
                <a:xfrm>
                  <a:off x="3825876" y="1524000"/>
                  <a:ext cx="1067008" cy="457200"/>
                </a:xfrm>
                <a:prstGeom prst="flowChartPredefinedProcess">
                  <a:avLst/>
                </a:prstGeom>
                <a:grpFill/>
                <a:ln w="12700" cap="flat" cmpd="sng" algn="ctr">
                  <a:solidFill>
                    <a:srgbClr val="64646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pPr algn="ctr" eaLnBrk="0" hangingPunct="0"/>
                  <a:endParaRPr lang="en-US">
                    <a:solidFill>
                      <a:srgbClr val="646464"/>
                    </a:solidFill>
                    <a:latin typeface="Inconsolata" panose="00000509000000000000" pitchFamily="49" charset="0"/>
                  </a:endParaRPr>
                </a:p>
              </p:txBody>
            </p:sp>
          </p:grpSp>
          <p:sp>
            <p:nvSpPr>
              <p:cNvPr id="25" name="magnet" hidden="1">
                <a:extLst>
                  <a:ext uri="{FF2B5EF4-FFF2-40B4-BE49-F238E27FC236}">
                    <a16:creationId xmlns:a16="http://schemas.microsoft.com/office/drawing/2014/main" id="{B9446014-0355-645A-5A19-BED8A8DC676B}"/>
                  </a:ext>
                </a:extLst>
              </p:cNvPr>
              <p:cNvSpPr/>
              <p:nvPr/>
            </p:nvSpPr>
            <p:spPr>
              <a:xfrm>
                <a:off x="3829051" y="1236805"/>
                <a:ext cx="45720" cy="45720"/>
              </a:xfrm>
              <a:prstGeom prst="rect">
                <a:avLst/>
              </a:prstGeom>
              <a:solidFill>
                <a:schemeClr val="accent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26" name="magnet" hidden="1">
                <a:extLst>
                  <a:ext uri="{FF2B5EF4-FFF2-40B4-BE49-F238E27FC236}">
                    <a16:creationId xmlns:a16="http://schemas.microsoft.com/office/drawing/2014/main" id="{B7D7FDE9-36EA-FE48-756C-6C9C139A1CDC}"/>
                  </a:ext>
                </a:extLst>
              </p:cNvPr>
              <p:cNvSpPr/>
              <p:nvPr/>
            </p:nvSpPr>
            <p:spPr>
              <a:xfrm>
                <a:off x="4757262" y="1236805"/>
                <a:ext cx="45720" cy="45720"/>
              </a:xfrm>
              <a:prstGeom prst="rect">
                <a:avLst/>
              </a:prstGeom>
              <a:solidFill>
                <a:schemeClr val="accent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100">
                  <a:solidFill>
                    <a:srgbClr val="F76D6D"/>
                  </a:solidFill>
                  <a:latin typeface="Inconsolata" panose="00000509000000000000" pitchFamily="49" charset="0"/>
                </a:endParaRPr>
              </a:p>
            </p:txBody>
          </p:sp>
        </p:grpSp>
      </p:grpSp>
      <p:grpSp>
        <p:nvGrpSpPr>
          <p:cNvPr id="59" name="Group 58" hidden="1">
            <a:extLst>
              <a:ext uri="{FF2B5EF4-FFF2-40B4-BE49-F238E27FC236}">
                <a16:creationId xmlns:a16="http://schemas.microsoft.com/office/drawing/2014/main" id="{65663053-2FFB-CA1A-BC00-A98AEAA2716D}"/>
              </a:ext>
            </a:extLst>
          </p:cNvPr>
          <p:cNvGrpSpPr/>
          <p:nvPr/>
        </p:nvGrpSpPr>
        <p:grpSpPr>
          <a:xfrm>
            <a:off x="1457326" y="3412791"/>
            <a:ext cx="973931" cy="45720"/>
            <a:chOff x="1457326" y="3412791"/>
            <a:chExt cx="973931" cy="45720"/>
          </a:xfrm>
        </p:grpSpPr>
        <p:sp>
          <p:nvSpPr>
            <p:cNvPr id="51" name="magnet">
              <a:extLst>
                <a:ext uri="{FF2B5EF4-FFF2-40B4-BE49-F238E27FC236}">
                  <a16:creationId xmlns:a16="http://schemas.microsoft.com/office/drawing/2014/main" id="{9DCD7D6E-7256-2493-4387-B3AFE691F5CA}"/>
                </a:ext>
              </a:extLst>
            </p:cNvPr>
            <p:cNvSpPr/>
            <p:nvPr/>
          </p:nvSpPr>
          <p:spPr>
            <a:xfrm>
              <a:off x="1457326" y="3412791"/>
              <a:ext cx="45720" cy="4572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100">
                <a:solidFill>
                  <a:srgbClr val="F76D6D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52" name="magnet">
              <a:extLst>
                <a:ext uri="{FF2B5EF4-FFF2-40B4-BE49-F238E27FC236}">
                  <a16:creationId xmlns:a16="http://schemas.microsoft.com/office/drawing/2014/main" id="{E585164D-6FDE-C68B-7954-47B8656C2BD4}"/>
                </a:ext>
              </a:extLst>
            </p:cNvPr>
            <p:cNvSpPr/>
            <p:nvPr/>
          </p:nvSpPr>
          <p:spPr>
            <a:xfrm>
              <a:off x="2385537" y="3412791"/>
              <a:ext cx="45720" cy="45720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100">
                <a:solidFill>
                  <a:srgbClr val="F76D6D"/>
                </a:solidFill>
                <a:latin typeface="Inconsolata" panose="00000509000000000000" pitchFamily="49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28054F8-0F9A-A67B-FF9A-9C069B751233}"/>
              </a:ext>
            </a:extLst>
          </p:cNvPr>
          <p:cNvGrpSpPr/>
          <p:nvPr/>
        </p:nvGrpSpPr>
        <p:grpSpPr>
          <a:xfrm>
            <a:off x="4560758" y="3378978"/>
            <a:ext cx="4345527" cy="795876"/>
            <a:chOff x="4560758" y="3378978"/>
            <a:chExt cx="4345527" cy="795876"/>
          </a:xfrm>
        </p:grpSpPr>
        <p:cxnSp>
          <p:nvCxnSpPr>
            <p:cNvPr id="102" name="AutoShape 14">
              <a:extLst>
                <a:ext uri="{FF2B5EF4-FFF2-40B4-BE49-F238E27FC236}">
                  <a16:creationId xmlns:a16="http://schemas.microsoft.com/office/drawing/2014/main" id="{87B707EA-00F1-E02C-3A80-6F184C898B6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328366" y="3412594"/>
              <a:ext cx="297383" cy="0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1" name="AutoShape 14">
              <a:extLst>
                <a:ext uri="{FF2B5EF4-FFF2-40B4-BE49-F238E27FC236}">
                  <a16:creationId xmlns:a16="http://schemas.microsoft.com/office/drawing/2014/main" id="{0E8E33E8-981F-BAEA-DDDD-CC0F65994D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88071" y="3413675"/>
              <a:ext cx="618144" cy="0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4" name="AutoShape 14">
              <a:extLst>
                <a:ext uri="{FF2B5EF4-FFF2-40B4-BE49-F238E27FC236}">
                  <a16:creationId xmlns:a16="http://schemas.microsoft.com/office/drawing/2014/main" id="{F9C55B04-77E0-DF15-985B-8C50B04FE4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770244" y="3413675"/>
              <a:ext cx="343206" cy="0"/>
            </a:xfrm>
            <a:prstGeom prst="straightConnector1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D8CD912-747A-A109-1369-CCB3D9AD2828}"/>
                </a:ext>
              </a:extLst>
            </p:cNvPr>
            <p:cNvGrpSpPr/>
            <p:nvPr/>
          </p:nvGrpSpPr>
          <p:grpSpPr>
            <a:xfrm>
              <a:off x="4560758" y="3378978"/>
              <a:ext cx="4345527" cy="795876"/>
              <a:chOff x="1457326" y="3111039"/>
              <a:chExt cx="5532598" cy="1013286"/>
            </a:xfrm>
          </p:grpSpPr>
          <p:sp>
            <p:nvSpPr>
              <p:cNvPr id="24" name="Right Arrow 6">
                <a:extLst>
                  <a:ext uri="{FF2B5EF4-FFF2-40B4-BE49-F238E27FC236}">
                    <a16:creationId xmlns:a16="http://schemas.microsoft.com/office/drawing/2014/main" id="{FF4B8E12-7805-B376-56A0-7FF468D8F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7326" y="3509551"/>
                <a:ext cx="5532598" cy="614774"/>
              </a:xfrm>
              <a:prstGeom prst="rightArrow">
                <a:avLst>
                  <a:gd name="adj1" fmla="val 50000"/>
                  <a:gd name="adj2" fmla="val 50013"/>
                </a:avLst>
              </a:prstGeom>
              <a:solidFill>
                <a:srgbClr val="C30037"/>
              </a:solidFill>
              <a:ln w="28575">
                <a:noFill/>
                <a:round/>
                <a:headEnd type="none" w="sm" len="sm"/>
                <a:tailEnd type="triangle" w="med" len="med"/>
              </a:ln>
            </p:spPr>
            <p:txBody>
              <a:bodyPr wrap="none" anchor="ctr"/>
              <a:lstStyle>
                <a:lvl1pPr>
                  <a:defRPr sz="2800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800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800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800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800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2000" b="1" i="1" u="none" dirty="0">
                    <a:solidFill>
                      <a:schemeClr val="bg1"/>
                    </a:solidFill>
                    <a:latin typeface="Crimson Text" panose="02000503000000000000" pitchFamily="2" charset="0"/>
                  </a:rPr>
                  <a:t>Index Key(s) </a:t>
                </a:r>
                <a:r>
                  <a:rPr lang="en-US" altLang="en-US" sz="2000" b="1" i="1" u="none" dirty="0" err="1">
                    <a:solidFill>
                      <a:schemeClr val="bg1"/>
                    </a:solidFill>
                    <a:latin typeface="Crimson Text" panose="02000503000000000000" pitchFamily="2" charset="0"/>
                  </a:rPr>
                  <a:t>Low→High</a:t>
                </a:r>
                <a:endParaRPr lang="en-US" altLang="en-US" sz="2000" b="1" i="1" u="none" dirty="0">
                  <a:solidFill>
                    <a:schemeClr val="bg1"/>
                  </a:solidFill>
                  <a:latin typeface="Crimson Text" panose="02000503000000000000" pitchFamily="2" charset="0"/>
                </a:endParaRPr>
              </a:p>
            </p:txBody>
          </p:sp>
          <p:cxnSp>
            <p:nvCxnSpPr>
              <p:cNvPr id="105" name="AutoShape 14">
                <a:extLst>
                  <a:ext uri="{FF2B5EF4-FFF2-40B4-BE49-F238E27FC236}">
                    <a16:creationId xmlns:a16="http://schemas.microsoft.com/office/drawing/2014/main" id="{DB788E30-6367-666B-B7AA-1C0E9616C8A6}"/>
                  </a:ext>
                </a:extLst>
              </p:cNvPr>
              <p:cNvCxnSpPr>
                <a:cxnSpLocks noChangeShapeType="1"/>
                <a:stCxn id="43" idx="1"/>
                <a:endCxn id="38" idx="3"/>
              </p:cNvCxnSpPr>
              <p:nvPr/>
            </p:nvCxnSpPr>
            <p:spPr bwMode="auto">
              <a:xfrm flipH="1">
                <a:off x="2431257" y="3389447"/>
                <a:ext cx="378619" cy="0"/>
              </a:xfrm>
              <a:prstGeom prst="straightConnector1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F35F10A3-4FE8-3A28-77B6-945F73BAE460}"/>
                  </a:ext>
                </a:extLst>
              </p:cNvPr>
              <p:cNvGrpSpPr/>
              <p:nvPr/>
            </p:nvGrpSpPr>
            <p:grpSpPr>
              <a:xfrm>
                <a:off x="1457326" y="3111039"/>
                <a:ext cx="973930" cy="343837"/>
                <a:chOff x="1457326" y="3114674"/>
                <a:chExt cx="973930" cy="343837"/>
              </a:xfrm>
            </p:grpSpPr>
            <p:sp>
              <p:nvSpPr>
                <p:cNvPr id="14" name="Flowchart: Predefined Process 13">
                  <a:extLst>
                    <a:ext uri="{FF2B5EF4-FFF2-40B4-BE49-F238E27FC236}">
                      <a16:creationId xmlns:a16="http://schemas.microsoft.com/office/drawing/2014/main" id="{0189518B-14EE-E03F-DFBA-B420572F60FD}"/>
                    </a:ext>
                  </a:extLst>
                </p:cNvPr>
                <p:cNvSpPr/>
                <p:nvPr/>
              </p:nvSpPr>
              <p:spPr bwMode="auto">
                <a:xfrm>
                  <a:off x="1910954" y="3115611"/>
                  <a:ext cx="520302" cy="342900"/>
                </a:xfrm>
                <a:prstGeom prst="flowChartPredefinedProcess">
                  <a:avLst/>
                </a:prstGeom>
                <a:solidFill>
                  <a:schemeClr val="bg1">
                    <a:lumMod val="85000"/>
                  </a:schemeClr>
                </a:solidFill>
                <a:ln w="12700" cap="flat" cmpd="sng" algn="ctr">
                  <a:solidFill>
                    <a:srgbClr val="64646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pPr algn="ctr" eaLnBrk="0" hangingPunct="0"/>
                  <a:endParaRPr lang="en-US" dirty="0">
                    <a:solidFill>
                      <a:srgbClr val="646464"/>
                    </a:solidFill>
                    <a:latin typeface="Inconsolata" panose="00000509000000000000" pitchFamily="49" charset="0"/>
                  </a:endParaRPr>
                </a:p>
              </p:txBody>
            </p:sp>
            <p:grpSp>
              <p:nvGrpSpPr>
                <p:cNvPr id="66" name="leafnode">
                  <a:extLst>
                    <a:ext uri="{FF2B5EF4-FFF2-40B4-BE49-F238E27FC236}">
                      <a16:creationId xmlns:a16="http://schemas.microsoft.com/office/drawing/2014/main" id="{9AAE8088-A337-C87F-8343-B984228AF20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457326" y="3114674"/>
                  <a:ext cx="527240" cy="343836"/>
                  <a:chOff x="1035766" y="2124118"/>
                  <a:chExt cx="1387474" cy="904832"/>
                </a:xfrm>
              </p:grpSpPr>
              <p:sp>
                <p:nvSpPr>
                  <p:cNvPr id="67" name="Flowchart: Predefined Process 66">
                    <a:extLst>
                      <a:ext uri="{FF2B5EF4-FFF2-40B4-BE49-F238E27FC236}">
                        <a16:creationId xmlns:a16="http://schemas.microsoft.com/office/drawing/2014/main" id="{47544962-CEA7-2681-997F-4302B248C62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>
                    <a:off x="1035766" y="2124118"/>
                    <a:ext cx="1387474" cy="904832"/>
                  </a:xfrm>
                  <a:prstGeom prst="flowChartPredefinedProcess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2700" cap="flat" cmpd="sng" algn="ctr">
                    <a:solidFill>
                      <a:srgbClr val="64646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en-US" dirty="0">
                        <a:solidFill>
                          <a:srgbClr val="646464"/>
                        </a:solidFill>
                        <a:latin typeface="Inconsolata" panose="00000509000000000000" pitchFamily="49" charset="0"/>
                      </a:rPr>
                      <a:t>6</a:t>
                    </a:r>
                  </a:p>
                </p:txBody>
              </p:sp>
              <p:sp>
                <p:nvSpPr>
                  <p:cNvPr id="70" name="Rectangle 69">
                    <a:extLst>
                      <a:ext uri="{FF2B5EF4-FFF2-40B4-BE49-F238E27FC236}">
                        <a16:creationId xmlns:a16="http://schemas.microsoft.com/office/drawing/2014/main" id="{064B6641-5D00-3E82-5DC2-D208579435BA}"/>
                      </a:ext>
                    </a:extLst>
                  </p:cNvPr>
                  <p:cNvSpPr/>
                  <p:nvPr/>
                </p:nvSpPr>
                <p:spPr>
                  <a:xfrm>
                    <a:off x="1041498" y="2130382"/>
                    <a:ext cx="177703" cy="898566"/>
                  </a:xfrm>
                  <a:prstGeom prst="rect">
                    <a:avLst/>
                  </a:prstGeom>
                  <a:solidFill>
                    <a:srgbClr val="646464"/>
                  </a:solidFill>
                  <a:ln w="12700" cap="flat" cmpd="sng" algn="ctr">
                    <a:solidFill>
                      <a:srgbClr val="64646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>
                      <a:solidFill>
                        <a:srgbClr val="646464"/>
                      </a:solidFill>
                      <a:latin typeface="Inconsolata" panose="00000509000000000000" pitchFamily="49" charset="0"/>
                    </a:endParaRPr>
                  </a:p>
                </p:txBody>
              </p:sp>
            </p:grpSp>
          </p:grpSp>
          <p:cxnSp>
            <p:nvCxnSpPr>
              <p:cNvPr id="108" name="AutoShape 14">
                <a:extLst>
                  <a:ext uri="{FF2B5EF4-FFF2-40B4-BE49-F238E27FC236}">
                    <a16:creationId xmlns:a16="http://schemas.microsoft.com/office/drawing/2014/main" id="{A61AF221-FD14-0075-EDBA-16CCC8988742}"/>
                  </a:ext>
                </a:extLst>
              </p:cNvPr>
              <p:cNvCxnSpPr>
                <a:cxnSpLocks noChangeShapeType="1"/>
                <a:stCxn id="54" idx="1"/>
                <a:endCxn id="57" idx="3"/>
              </p:cNvCxnSpPr>
              <p:nvPr/>
            </p:nvCxnSpPr>
            <p:spPr bwMode="auto">
              <a:xfrm flipH="1">
                <a:off x="3783807" y="3389447"/>
                <a:ext cx="787003" cy="0"/>
              </a:xfrm>
              <a:prstGeom prst="straightConnector1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7" name="AutoShape 14">
                <a:extLst>
                  <a:ext uri="{FF2B5EF4-FFF2-40B4-BE49-F238E27FC236}">
                    <a16:creationId xmlns:a16="http://schemas.microsoft.com/office/drawing/2014/main" id="{82536983-0A97-B813-EB76-D122458D8DA8}"/>
                  </a:ext>
                </a:extLst>
              </p:cNvPr>
              <p:cNvCxnSpPr>
                <a:cxnSpLocks noChangeShapeType="1"/>
                <a:stCxn id="86" idx="1"/>
                <a:endCxn id="77" idx="3"/>
              </p:cNvCxnSpPr>
              <p:nvPr/>
            </p:nvCxnSpPr>
            <p:spPr bwMode="auto">
              <a:xfrm flipH="1">
                <a:off x="5543550" y="3389447"/>
                <a:ext cx="436960" cy="0"/>
              </a:xfrm>
              <a:prstGeom prst="straightConnector1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9226059D-E3C5-119D-D3B2-3C352D85DD84}"/>
                  </a:ext>
                </a:extLst>
              </p:cNvPr>
              <p:cNvGrpSpPr/>
              <p:nvPr/>
            </p:nvGrpSpPr>
            <p:grpSpPr>
              <a:xfrm>
                <a:off x="2809876" y="3111039"/>
                <a:ext cx="973931" cy="342900"/>
                <a:chOff x="2809876" y="3111039"/>
                <a:chExt cx="973931" cy="342900"/>
              </a:xfrm>
            </p:grpSpPr>
            <p:grpSp>
              <p:nvGrpSpPr>
                <p:cNvPr id="15" name="Group 22">
                  <a:extLst>
                    <a:ext uri="{FF2B5EF4-FFF2-40B4-BE49-F238E27FC236}">
                      <a16:creationId xmlns:a16="http://schemas.microsoft.com/office/drawing/2014/main" id="{E21C24CF-4B61-2A2B-56CE-812BC81FB42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09876" y="3111039"/>
                  <a:ext cx="973931" cy="342900"/>
                  <a:chOff x="2895600" y="1524000"/>
                  <a:chExt cx="1997283" cy="457200"/>
                </a:xfrm>
                <a:solidFill>
                  <a:schemeClr val="bg1">
                    <a:lumMod val="85000"/>
                  </a:schemeClr>
                </a:solidFill>
              </p:grpSpPr>
              <p:sp>
                <p:nvSpPr>
                  <p:cNvPr id="16" name="Flowchart: Predefined Process 15">
                    <a:extLst>
                      <a:ext uri="{FF2B5EF4-FFF2-40B4-BE49-F238E27FC236}">
                        <a16:creationId xmlns:a16="http://schemas.microsoft.com/office/drawing/2014/main" id="{F6BA9635-C12A-1EA1-5DDB-83C3D90AB4F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95600" y="1524000"/>
                    <a:ext cx="1067009" cy="457200"/>
                  </a:xfrm>
                  <a:prstGeom prst="flowChartPredefinedProcess">
                    <a:avLst/>
                  </a:prstGeom>
                  <a:grpFill/>
                  <a:ln w="12700" cap="flat" cmpd="sng" algn="ctr">
                    <a:solidFill>
                      <a:srgbClr val="64646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en-US" dirty="0">
                        <a:solidFill>
                          <a:srgbClr val="646464"/>
                        </a:solidFill>
                        <a:latin typeface="Inconsolata" panose="00000509000000000000" pitchFamily="49" charset="0"/>
                      </a:rPr>
                      <a:t>10</a:t>
                    </a:r>
                  </a:p>
                </p:txBody>
              </p:sp>
              <p:sp>
                <p:nvSpPr>
                  <p:cNvPr id="17" name="Flowchart: Predefined Process 16">
                    <a:extLst>
                      <a:ext uri="{FF2B5EF4-FFF2-40B4-BE49-F238E27FC236}">
                        <a16:creationId xmlns:a16="http://schemas.microsoft.com/office/drawing/2014/main" id="{0514F0DF-411D-51AF-6996-7B591981AE6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25876" y="1524000"/>
                    <a:ext cx="1067007" cy="457200"/>
                  </a:xfrm>
                  <a:prstGeom prst="flowChartPredefinedProcess">
                    <a:avLst/>
                  </a:prstGeom>
                  <a:grpFill/>
                  <a:ln w="12700" cap="flat" cmpd="sng" algn="ctr">
                    <a:solidFill>
                      <a:srgbClr val="64646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endParaRPr lang="en-US" dirty="0">
                      <a:solidFill>
                        <a:srgbClr val="646464"/>
                      </a:solidFill>
                      <a:latin typeface="Inconsolata" panose="00000509000000000000" pitchFamily="49" charset="0"/>
                    </a:endParaRPr>
                  </a:p>
                </p:txBody>
              </p:sp>
            </p:grp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7381788A-869F-D5AB-F1A8-7F447906CC1D}"/>
                    </a:ext>
                  </a:extLst>
                </p:cNvPr>
                <p:cNvSpPr/>
                <p:nvPr/>
              </p:nvSpPr>
              <p:spPr>
                <a:xfrm>
                  <a:off x="2809876" y="3111039"/>
                  <a:ext cx="67527" cy="341774"/>
                </a:xfrm>
                <a:prstGeom prst="rect">
                  <a:avLst/>
                </a:prstGeom>
                <a:solidFill>
                  <a:srgbClr val="646464"/>
                </a:solidFill>
                <a:ln w="12700" cap="flat" cmpd="sng" algn="ctr">
                  <a:solidFill>
                    <a:srgbClr val="64646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pPr algn="ctr" eaLnBrk="0" hangingPunct="0"/>
                  <a:endParaRPr lang="en-US">
                    <a:solidFill>
                      <a:srgbClr val="646464"/>
                    </a:solidFill>
                    <a:latin typeface="Inconsolata" panose="00000509000000000000" pitchFamily="49" charset="0"/>
                  </a:endParaRPr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E40D8FF6-7974-352B-5E5E-B3A3695AF9FA}"/>
                  </a:ext>
                </a:extLst>
              </p:cNvPr>
              <p:cNvGrpSpPr/>
              <p:nvPr/>
            </p:nvGrpSpPr>
            <p:grpSpPr>
              <a:xfrm>
                <a:off x="4570810" y="3111039"/>
                <a:ext cx="972740" cy="342900"/>
                <a:chOff x="4570810" y="3115611"/>
                <a:chExt cx="972740" cy="342900"/>
              </a:xfrm>
            </p:grpSpPr>
            <p:grpSp>
              <p:nvGrpSpPr>
                <p:cNvPr id="18" name="Group 96">
                  <a:extLst>
                    <a:ext uri="{FF2B5EF4-FFF2-40B4-BE49-F238E27FC236}">
                      <a16:creationId xmlns:a16="http://schemas.microsoft.com/office/drawing/2014/main" id="{8710F73E-17BA-6088-8160-28B21B1529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70810" y="3115611"/>
                  <a:ext cx="972740" cy="342900"/>
                  <a:chOff x="2895600" y="1524000"/>
                  <a:chExt cx="1997283" cy="457200"/>
                </a:xfrm>
                <a:solidFill>
                  <a:schemeClr val="bg1">
                    <a:lumMod val="85000"/>
                  </a:schemeClr>
                </a:solidFill>
              </p:grpSpPr>
              <p:sp>
                <p:nvSpPr>
                  <p:cNvPr id="19" name="Flowchart: Predefined Process 18">
                    <a:extLst>
                      <a:ext uri="{FF2B5EF4-FFF2-40B4-BE49-F238E27FC236}">
                        <a16:creationId xmlns:a16="http://schemas.microsoft.com/office/drawing/2014/main" id="{B06AB18E-79D5-B197-49CB-CE61896EF6D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95600" y="1524000"/>
                    <a:ext cx="1065870" cy="457200"/>
                  </a:xfrm>
                  <a:prstGeom prst="flowChartPredefinedProcess">
                    <a:avLst/>
                  </a:prstGeom>
                  <a:grpFill/>
                  <a:ln w="12700" cap="flat" cmpd="sng" algn="ctr">
                    <a:solidFill>
                      <a:srgbClr val="64646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en-US" dirty="0">
                        <a:solidFill>
                          <a:srgbClr val="646464"/>
                        </a:solidFill>
                        <a:latin typeface="Inconsolata" panose="00000509000000000000" pitchFamily="49" charset="0"/>
                      </a:rPr>
                      <a:t>20</a:t>
                    </a:r>
                  </a:p>
                </p:txBody>
              </p:sp>
              <p:sp>
                <p:nvSpPr>
                  <p:cNvPr id="20" name="Flowchart: Predefined Process 19">
                    <a:extLst>
                      <a:ext uri="{FF2B5EF4-FFF2-40B4-BE49-F238E27FC236}">
                        <a16:creationId xmlns:a16="http://schemas.microsoft.com/office/drawing/2014/main" id="{FE7D11EA-2C8D-53A4-3D72-A16C2A0F7F2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27013" y="1524000"/>
                    <a:ext cx="1065870" cy="457200"/>
                  </a:xfrm>
                  <a:prstGeom prst="flowChartPredefinedProcess">
                    <a:avLst/>
                  </a:prstGeom>
                  <a:grpFill/>
                  <a:ln w="12700" cap="flat" cmpd="sng" algn="ctr">
                    <a:solidFill>
                      <a:srgbClr val="64646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en-US" dirty="0">
                        <a:solidFill>
                          <a:srgbClr val="646464"/>
                        </a:solidFill>
                        <a:latin typeface="Inconsolata" panose="00000509000000000000" pitchFamily="49" charset="0"/>
                      </a:rPr>
                      <a:t>31</a:t>
                    </a:r>
                  </a:p>
                </p:txBody>
              </p:sp>
            </p:grp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B1EEC136-A6B2-06FD-8772-A70FEEBA3BD7}"/>
                    </a:ext>
                  </a:extLst>
                </p:cNvPr>
                <p:cNvSpPr/>
                <p:nvPr/>
              </p:nvSpPr>
              <p:spPr>
                <a:xfrm>
                  <a:off x="4570810" y="3116737"/>
                  <a:ext cx="67527" cy="341774"/>
                </a:xfrm>
                <a:prstGeom prst="rect">
                  <a:avLst/>
                </a:prstGeom>
                <a:solidFill>
                  <a:srgbClr val="646464"/>
                </a:solidFill>
                <a:ln w="12700" cap="flat" cmpd="sng" algn="ctr">
                  <a:solidFill>
                    <a:srgbClr val="64646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pPr algn="ctr" eaLnBrk="0" hangingPunct="0"/>
                  <a:endParaRPr lang="en-US">
                    <a:solidFill>
                      <a:srgbClr val="646464"/>
                    </a:solidFill>
                    <a:latin typeface="Inconsolata" panose="00000509000000000000" pitchFamily="49" charset="0"/>
                  </a:endParaRPr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77BBA34B-CFB9-3888-6693-0C42F92154CF}"/>
                  </a:ext>
                </a:extLst>
              </p:cNvPr>
              <p:cNvGrpSpPr/>
              <p:nvPr/>
            </p:nvGrpSpPr>
            <p:grpSpPr>
              <a:xfrm>
                <a:off x="5980510" y="3111039"/>
                <a:ext cx="972740" cy="342900"/>
                <a:chOff x="5980510" y="3115611"/>
                <a:chExt cx="972740" cy="342900"/>
              </a:xfrm>
            </p:grpSpPr>
            <p:grpSp>
              <p:nvGrpSpPr>
                <p:cNvPr id="21" name="Group 99">
                  <a:extLst>
                    <a:ext uri="{FF2B5EF4-FFF2-40B4-BE49-F238E27FC236}">
                      <a16:creationId xmlns:a16="http://schemas.microsoft.com/office/drawing/2014/main" id="{0BBA1525-16DE-32D0-4E70-B33034B2A1E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980510" y="3115611"/>
                  <a:ext cx="972740" cy="342900"/>
                  <a:chOff x="2895600" y="1524000"/>
                  <a:chExt cx="1997283" cy="457200"/>
                </a:xfrm>
                <a:solidFill>
                  <a:schemeClr val="bg1">
                    <a:lumMod val="85000"/>
                  </a:schemeClr>
                </a:solidFill>
              </p:grpSpPr>
              <p:sp>
                <p:nvSpPr>
                  <p:cNvPr id="22" name="Flowchart: Predefined Process 21">
                    <a:extLst>
                      <a:ext uri="{FF2B5EF4-FFF2-40B4-BE49-F238E27FC236}">
                        <a16:creationId xmlns:a16="http://schemas.microsoft.com/office/drawing/2014/main" id="{E9B9BE7A-A8FC-E419-32DF-73A9FA692E2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95600" y="1524000"/>
                    <a:ext cx="1065870" cy="457200"/>
                  </a:xfrm>
                  <a:prstGeom prst="flowChartPredefinedProcess">
                    <a:avLst/>
                  </a:prstGeom>
                  <a:grpFill/>
                  <a:ln w="12700" cap="flat" cmpd="sng" algn="ctr">
                    <a:solidFill>
                      <a:srgbClr val="64646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en-US" dirty="0">
                        <a:solidFill>
                          <a:srgbClr val="646464"/>
                        </a:solidFill>
                        <a:latin typeface="Inconsolata" panose="00000509000000000000" pitchFamily="49" charset="0"/>
                      </a:rPr>
                      <a:t>38</a:t>
                    </a:r>
                  </a:p>
                </p:txBody>
              </p:sp>
              <p:sp>
                <p:nvSpPr>
                  <p:cNvPr id="23" name="Flowchart: Predefined Process 22">
                    <a:extLst>
                      <a:ext uri="{FF2B5EF4-FFF2-40B4-BE49-F238E27FC236}">
                        <a16:creationId xmlns:a16="http://schemas.microsoft.com/office/drawing/2014/main" id="{EE97B39C-1547-349F-3A18-631795A6A0F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27013" y="1524000"/>
                    <a:ext cx="1065870" cy="457200"/>
                  </a:xfrm>
                  <a:prstGeom prst="flowChartPredefinedProcess">
                    <a:avLst/>
                  </a:prstGeom>
                  <a:grpFill/>
                  <a:ln w="12700" cap="flat" cmpd="sng" algn="ctr">
                    <a:solidFill>
                      <a:srgbClr val="64646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anchor="ctr"/>
                  <a:lstStyle/>
                  <a:p>
                    <a:pPr algn="ctr" eaLnBrk="0" hangingPunct="0"/>
                    <a:r>
                      <a:rPr lang="en-US" dirty="0">
                        <a:solidFill>
                          <a:srgbClr val="646464"/>
                        </a:solidFill>
                        <a:latin typeface="Inconsolata" panose="00000509000000000000" pitchFamily="49" charset="0"/>
                      </a:rPr>
                      <a:t>44</a:t>
                    </a:r>
                  </a:p>
                </p:txBody>
              </p:sp>
            </p:grp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A320E31E-6D2C-913D-26F5-74EE252956A4}"/>
                    </a:ext>
                  </a:extLst>
                </p:cNvPr>
                <p:cNvSpPr/>
                <p:nvPr/>
              </p:nvSpPr>
              <p:spPr>
                <a:xfrm>
                  <a:off x="5980510" y="3116737"/>
                  <a:ext cx="67527" cy="341774"/>
                </a:xfrm>
                <a:prstGeom prst="rect">
                  <a:avLst/>
                </a:prstGeom>
                <a:solidFill>
                  <a:srgbClr val="646464"/>
                </a:solidFill>
                <a:ln w="12700" cap="flat" cmpd="sng" algn="ctr">
                  <a:solidFill>
                    <a:srgbClr val="64646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pPr algn="ctr" eaLnBrk="0" hangingPunct="0"/>
                  <a:endParaRPr lang="en-US">
                    <a:solidFill>
                      <a:srgbClr val="646464"/>
                    </a:solidFill>
                    <a:latin typeface="Inconsolata" panose="00000509000000000000" pitchFamily="49" charset="0"/>
                  </a:endParaRPr>
                </a:p>
              </p:txBody>
            </p:sp>
          </p:grpSp>
        </p:grpSp>
      </p:grpSp>
      <p:pic>
        <p:nvPicPr>
          <p:cNvPr id="82" name="Picture 2">
            <a:extLst>
              <a:ext uri="{FF2B5EF4-FFF2-40B4-BE49-F238E27FC236}">
                <a16:creationId xmlns:a16="http://schemas.microsoft.com/office/drawing/2014/main" id="{01A56E23-FD5C-F705-5393-F4A5A905F8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t="11808" r="8519" b="23246"/>
          <a:stretch/>
        </p:blipFill>
        <p:spPr bwMode="auto">
          <a:xfrm>
            <a:off x="152400" y="895350"/>
            <a:ext cx="4036718" cy="3062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AEC295AB-277E-0ED2-985A-48B0F7C9BCA2}"/>
              </a:ext>
            </a:extLst>
          </p:cNvPr>
          <p:cNvGrpSpPr/>
          <p:nvPr/>
        </p:nvGrpSpPr>
        <p:grpSpPr>
          <a:xfrm>
            <a:off x="1533126" y="3198941"/>
            <a:ext cx="2250681" cy="1578555"/>
            <a:chOff x="1533126" y="3198941"/>
            <a:chExt cx="2250681" cy="1578555"/>
          </a:xfrm>
        </p:grpSpPr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B1670DDA-84C0-731E-37B1-904EA140A2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65139" y="3198941"/>
              <a:ext cx="526257" cy="120922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8C1D7A0-39C0-E3BC-90C8-37C0AFAD16BE}"/>
                </a:ext>
              </a:extLst>
            </p:cNvPr>
            <p:cNvSpPr txBox="1"/>
            <p:nvPr/>
          </p:nvSpPr>
          <p:spPr>
            <a:xfrm>
              <a:off x="1533126" y="4408164"/>
              <a:ext cx="22506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"M words begin here"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908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3F62A26-DEFC-4CE1-9625-A7D710C2D8D9}"/>
              </a:ext>
            </a:extLst>
          </p:cNvPr>
          <p:cNvGrpSpPr/>
          <p:nvPr/>
        </p:nvGrpSpPr>
        <p:grpSpPr>
          <a:xfrm>
            <a:off x="383504" y="3958590"/>
            <a:ext cx="8066097" cy="365760"/>
            <a:chOff x="383504" y="3958590"/>
            <a:chExt cx="8066097" cy="365760"/>
          </a:xfrm>
        </p:grpSpPr>
        <p:sp>
          <p:nvSpPr>
            <p:cNvPr id="6" name="Rectangle 5"/>
            <p:cNvSpPr/>
            <p:nvPr/>
          </p:nvSpPr>
          <p:spPr>
            <a:xfrm>
              <a:off x="383504" y="395859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b" anchorCtr="0"/>
            <a:lstStyle/>
            <a:p>
              <a:pPr algn="ctr"/>
              <a:r>
                <a: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sz="2000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840261" y="3958590"/>
              <a:ext cx="457200" cy="365760"/>
              <a:chOff x="1698611" y="3461328"/>
              <a:chExt cx="457200" cy="31345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600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12" name="Rectangle 11"/>
            <p:cNvSpPr/>
            <p:nvPr/>
          </p:nvSpPr>
          <p:spPr>
            <a:xfrm>
              <a:off x="1575476" y="395859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b" anchorCtr="0"/>
            <a:lstStyle/>
            <a:p>
              <a:pPr algn="ctr"/>
              <a:r>
                <a: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sz="2000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2032233" y="3958590"/>
              <a:ext cx="457200" cy="365760"/>
              <a:chOff x="1698611" y="3461328"/>
              <a:chExt cx="457200" cy="313459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600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18" name="Rectangle 17"/>
            <p:cNvSpPr/>
            <p:nvPr/>
          </p:nvSpPr>
          <p:spPr>
            <a:xfrm>
              <a:off x="2767448" y="395859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b" anchorCtr="0"/>
            <a:lstStyle/>
            <a:p>
              <a:pPr algn="ctr"/>
              <a:r>
                <a: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sz="2000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3224205" y="3958590"/>
              <a:ext cx="457200" cy="365760"/>
              <a:chOff x="1698611" y="3461328"/>
              <a:chExt cx="457200" cy="313459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600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24" name="Rectangle 23"/>
            <p:cNvSpPr/>
            <p:nvPr/>
          </p:nvSpPr>
          <p:spPr>
            <a:xfrm>
              <a:off x="3959420" y="395859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b" anchorCtr="0"/>
            <a:lstStyle/>
            <a:p>
              <a:pPr algn="ctr"/>
              <a:r>
                <a: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sz="2000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4416177" y="3958590"/>
              <a:ext cx="457200" cy="365760"/>
              <a:chOff x="1698611" y="3461328"/>
              <a:chExt cx="457200" cy="313459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600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6343364" y="395859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b" anchorCtr="0"/>
            <a:lstStyle/>
            <a:p>
              <a:pPr algn="ctr"/>
              <a:r>
                <a: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sz="2000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6800121" y="3958590"/>
              <a:ext cx="457200" cy="365760"/>
              <a:chOff x="1698611" y="3461328"/>
              <a:chExt cx="457200" cy="313459"/>
            </a:xfrm>
          </p:grpSpPr>
          <p:sp>
            <p:nvSpPr>
              <p:cNvPr id="33" name="Rectangle 32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sz="1600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sp>
          <p:nvSpPr>
            <p:cNvPr id="39" name="Rectangle 38"/>
            <p:cNvSpPr/>
            <p:nvPr/>
          </p:nvSpPr>
          <p:spPr>
            <a:xfrm>
              <a:off x="5151392" y="395859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b" anchorCtr="0"/>
            <a:lstStyle/>
            <a:p>
              <a:pPr algn="ctr"/>
              <a:r>
                <a: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sz="2000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5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608149" y="395859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Inconsolata" panose="00000509000000000000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535644" y="395859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b" anchorCtr="0"/>
            <a:lstStyle/>
            <a:p>
              <a:pPr algn="ctr"/>
              <a:r>
                <a:rPr lang="en-US" sz="20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sz="2000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7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992401" y="395859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Inconsolata" panose="00000509000000000000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Linked lists are "simplest" index, but...</a:t>
            </a:r>
          </a:p>
          <a:p>
            <a:r>
              <a:rPr lang="en-US" dirty="0"/>
              <a:t>All operations have to linear search.</a:t>
            </a:r>
          </a:p>
          <a:p>
            <a:pPr lvl="1"/>
            <a:r>
              <a:rPr lang="en-US" dirty="0"/>
              <a:t>Average Cost: </a:t>
            </a:r>
            <a:r>
              <a:rPr lang="en-US" b="1" dirty="0">
                <a:solidFill>
                  <a:schemeClr val="accent1"/>
                </a:solidFill>
              </a:rPr>
              <a:t>O(n)</a:t>
            </a:r>
            <a:endParaRPr lang="en-US" b="1" dirty="0"/>
          </a:p>
          <a:p>
            <a:pPr lvl="1"/>
            <a:r>
              <a:rPr lang="en-US" dirty="0"/>
              <a:t>More than one way to index a linked list...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223483" y="3569216"/>
            <a:ext cx="457200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600" dirty="0">
              <a:solidFill>
                <a:srgbClr val="EF3E42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607427" y="3569216"/>
            <a:ext cx="457200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600" dirty="0">
              <a:solidFill>
                <a:srgbClr val="EF3E42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39539" y="3569216"/>
            <a:ext cx="457200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600" dirty="0">
              <a:solidFill>
                <a:srgbClr val="EF3E42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cxnSp>
        <p:nvCxnSpPr>
          <p:cNvPr id="47" name="Curved Connector 39"/>
          <p:cNvCxnSpPr>
            <a:endCxn id="18" idx="0"/>
          </p:cNvCxnSpPr>
          <p:nvPr/>
        </p:nvCxnSpPr>
        <p:spPr>
          <a:xfrm>
            <a:off x="1068361" y="3752096"/>
            <a:ext cx="1927687" cy="206494"/>
          </a:xfrm>
          <a:prstGeom prst="bentConnector2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urved Connector 39"/>
          <p:cNvCxnSpPr>
            <a:endCxn id="39" idx="0"/>
          </p:cNvCxnSpPr>
          <p:nvPr/>
        </p:nvCxnSpPr>
        <p:spPr>
          <a:xfrm>
            <a:off x="3452527" y="3752096"/>
            <a:ext cx="1927465" cy="206494"/>
          </a:xfrm>
          <a:prstGeom prst="bentConnector2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39"/>
          <p:cNvCxnSpPr>
            <a:endCxn id="54" idx="0"/>
          </p:cNvCxnSpPr>
          <p:nvPr/>
        </p:nvCxnSpPr>
        <p:spPr>
          <a:xfrm>
            <a:off x="5823067" y="3752096"/>
            <a:ext cx="1941177" cy="206494"/>
          </a:xfrm>
          <a:prstGeom prst="bentConnector2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991679" y="3569216"/>
            <a:ext cx="457200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600" dirty="0">
              <a:solidFill>
                <a:srgbClr val="EF3E42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39539" y="3183731"/>
            <a:ext cx="457200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600" dirty="0">
              <a:solidFill>
                <a:srgbClr val="EF3E42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cxnSp>
        <p:nvCxnSpPr>
          <p:cNvPr id="60" name="Curved Connector 39"/>
          <p:cNvCxnSpPr>
            <a:endCxn id="39" idx="0"/>
          </p:cNvCxnSpPr>
          <p:nvPr/>
        </p:nvCxnSpPr>
        <p:spPr>
          <a:xfrm>
            <a:off x="1073941" y="3362045"/>
            <a:ext cx="4306051" cy="596545"/>
          </a:xfrm>
          <a:prstGeom prst="bentConnector2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607427" y="3183731"/>
            <a:ext cx="457200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600" dirty="0">
              <a:solidFill>
                <a:srgbClr val="EF3E42"/>
              </a:solidFill>
              <a:latin typeface="Consolas" pitchFamily="49" charset="0"/>
              <a:ea typeface="DejaVu Sans Mono" pitchFamily="49" charset="0"/>
              <a:cs typeface="Consolas" pitchFamily="49" charset="0"/>
            </a:endParaRPr>
          </a:p>
        </p:txBody>
      </p:sp>
      <p:cxnSp>
        <p:nvCxnSpPr>
          <p:cNvPr id="63" name="Curved Connector 39"/>
          <p:cNvCxnSpPr/>
          <p:nvPr/>
        </p:nvCxnSpPr>
        <p:spPr>
          <a:xfrm>
            <a:off x="5832304" y="3366611"/>
            <a:ext cx="2927610" cy="0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urved Connector 39"/>
          <p:cNvCxnSpPr/>
          <p:nvPr/>
        </p:nvCxnSpPr>
        <p:spPr>
          <a:xfrm>
            <a:off x="8221001" y="3752096"/>
            <a:ext cx="539496" cy="0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CC2B730F-82BE-4CDE-968F-51B5F4967D70}"/>
              </a:ext>
            </a:extLst>
          </p:cNvPr>
          <p:cNvGrpSpPr/>
          <p:nvPr/>
        </p:nvGrpSpPr>
        <p:grpSpPr>
          <a:xfrm>
            <a:off x="1073941" y="4141469"/>
            <a:ext cx="7685973" cy="1"/>
            <a:chOff x="1073941" y="4141469"/>
            <a:chExt cx="7685973" cy="1"/>
          </a:xfrm>
        </p:grpSpPr>
        <p:cxnSp>
          <p:nvCxnSpPr>
            <p:cNvPr id="35" name="Curved Connector 39"/>
            <p:cNvCxnSpPr>
              <a:endCxn id="12" idx="1"/>
            </p:cNvCxnSpPr>
            <p:nvPr/>
          </p:nvCxnSpPr>
          <p:spPr>
            <a:xfrm>
              <a:off x="1073941" y="4141469"/>
              <a:ext cx="5015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urved Connector 39"/>
            <p:cNvCxnSpPr>
              <a:endCxn id="24" idx="1"/>
            </p:cNvCxnSpPr>
            <p:nvPr/>
          </p:nvCxnSpPr>
          <p:spPr>
            <a:xfrm>
              <a:off x="3457885" y="4141469"/>
              <a:ext cx="5015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9"/>
            <p:cNvCxnSpPr>
              <a:endCxn id="18" idx="1"/>
            </p:cNvCxnSpPr>
            <p:nvPr/>
          </p:nvCxnSpPr>
          <p:spPr>
            <a:xfrm>
              <a:off x="2265913" y="4141469"/>
              <a:ext cx="5015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urved Connector 39"/>
            <p:cNvCxnSpPr>
              <a:endCxn id="39" idx="1"/>
            </p:cNvCxnSpPr>
            <p:nvPr/>
          </p:nvCxnSpPr>
          <p:spPr>
            <a:xfrm>
              <a:off x="4649857" y="4141469"/>
              <a:ext cx="5015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urved Connector 39"/>
            <p:cNvCxnSpPr>
              <a:endCxn id="30" idx="1"/>
            </p:cNvCxnSpPr>
            <p:nvPr/>
          </p:nvCxnSpPr>
          <p:spPr>
            <a:xfrm>
              <a:off x="5841829" y="4141469"/>
              <a:ext cx="5015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urved Connector 39"/>
            <p:cNvCxnSpPr>
              <a:endCxn id="54" idx="1"/>
            </p:cNvCxnSpPr>
            <p:nvPr/>
          </p:nvCxnSpPr>
          <p:spPr>
            <a:xfrm>
              <a:off x="7024584" y="4141469"/>
              <a:ext cx="511060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urved Connector 39"/>
            <p:cNvCxnSpPr/>
            <p:nvPr/>
          </p:nvCxnSpPr>
          <p:spPr>
            <a:xfrm>
              <a:off x="8220279" y="4141469"/>
              <a:ext cx="5396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585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4" grpId="0" animBg="1"/>
      <p:bldP spid="56" grpId="0" animBg="1"/>
      <p:bldP spid="59" grpId="0" animBg="1"/>
      <p:bldP spid="6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666750"/>
                <a:ext cx="5197368" cy="4523155"/>
              </a:xfrm>
            </p:spPr>
            <p:txBody>
              <a:bodyPr/>
              <a:lstStyle/>
              <a:p>
                <a:r>
                  <a:rPr lang="en-US" dirty="0"/>
                  <a:t>Multiple levels of linked lists with extra pointers to </a:t>
                </a:r>
                <a:r>
                  <a:rPr lang="en-US" u="sng" dirty="0"/>
                  <a:t>skip</a:t>
                </a:r>
                <a:r>
                  <a:rPr lang="en-US" dirty="0"/>
                  <a:t> over entries.</a:t>
                </a:r>
              </a:p>
              <a:p>
                <a:pPr lvl="1"/>
                <a:r>
                  <a:rPr lang="en-US" dirty="0"/>
                  <a:t>1</a:t>
                </a:r>
                <a:r>
                  <a:rPr lang="en-US" baseline="30000" dirty="0"/>
                  <a:t>st</a:t>
                </a:r>
                <a:r>
                  <a:rPr lang="en-US" dirty="0"/>
                  <a:t> level is a sorted list of all keys.</a:t>
                </a:r>
              </a:p>
              <a:p>
                <a:pPr lvl="1"/>
                <a:r>
                  <a:rPr lang="en-US" dirty="0"/>
                  <a:t>2</a:t>
                </a:r>
                <a:r>
                  <a:rPr lang="en-US" baseline="30000" dirty="0"/>
                  <a:t>nd</a:t>
                </a:r>
                <a:r>
                  <a:rPr lang="en-US" dirty="0"/>
                  <a:t> level links every other key</a:t>
                </a:r>
              </a:p>
              <a:p>
                <a:pPr lvl="1"/>
                <a:r>
                  <a:rPr lang="en-US" dirty="0"/>
                  <a:t>3</a:t>
                </a:r>
                <a:r>
                  <a:rPr lang="en-US" baseline="30000" dirty="0"/>
                  <a:t>rd</a:t>
                </a:r>
                <a:r>
                  <a:rPr lang="en-US" dirty="0"/>
                  <a:t> level links every fourth key</a:t>
                </a:r>
              </a:p>
              <a:p>
                <a:pPr lvl="1"/>
                <a:r>
                  <a:rPr lang="en-US" dirty="0"/>
                  <a:t>Each level has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fraction of the keys of one below it</a:t>
                </a:r>
              </a:p>
              <a:p>
                <a:endParaRPr lang="en-US" sz="1200" dirty="0"/>
              </a:p>
              <a:p>
                <a:r>
                  <a:rPr lang="en-US" dirty="0"/>
                  <a:t>Maintains keys in sorted order without requiring global rebalancing.</a:t>
                </a:r>
              </a:p>
              <a:p>
                <a:pPr lvl="1"/>
                <a:r>
                  <a:rPr lang="en-US" b="1" dirty="0"/>
                  <a:t>Want: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chemeClr val="accent1"/>
                    </a:solidFill>
                  </a:rPr>
                  <a:t>O(log n)</a:t>
                </a:r>
                <a:r>
                  <a:rPr lang="en-US" dirty="0"/>
                  <a:t> search times.</a:t>
                </a:r>
              </a:p>
              <a:p>
                <a:r>
                  <a:rPr lang="en-US" dirty="0"/>
                  <a:t>Mostly for in-memory data structures.</a:t>
                </a:r>
              </a:p>
              <a:p>
                <a:pPr lvl="1"/>
                <a:r>
                  <a:rPr lang="en-US" dirty="0"/>
                  <a:t>Example: LSM </a:t>
                </a:r>
                <a:r>
                  <a:rPr lang="en-US" dirty="0" err="1"/>
                  <a:t>MemTable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666750"/>
                <a:ext cx="5197368" cy="4523155"/>
              </a:xfrm>
              <a:blipFill>
                <a:blip r:embed="rId3"/>
                <a:stretch>
                  <a:fillRect l="-1951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17</a:t>
            </a:fld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7" name="Picture 6">
            <a:hlinkClick r:id="rId4"/>
            <a:extLst>
              <a:ext uri="{FF2B5EF4-FFF2-40B4-BE49-F238E27FC236}">
                <a16:creationId xmlns:a16="http://schemas.microsoft.com/office/drawing/2014/main" id="{E5424886-FDB9-490B-93E0-55415054A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1896" y="819150"/>
            <a:ext cx="2473036" cy="3200400"/>
          </a:xfrm>
          <a:prstGeom prst="rect">
            <a:avLst/>
          </a:prstGeom>
          <a:ln>
            <a:solidFill>
              <a:srgbClr val="646464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301C66-5818-4A24-999E-A41F3E2A60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806968" y="4181548"/>
            <a:ext cx="1206650" cy="2641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9015E3-D647-4686-975E-C6E70FE667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4896" y="4194248"/>
            <a:ext cx="1722904" cy="19803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C57C6A1-13A0-40CE-A75A-24838658D4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16096" y="4476312"/>
            <a:ext cx="1670092" cy="42245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C6D53B8-B0F1-01D6-E148-A47A784834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70164" y="4597259"/>
            <a:ext cx="1463040" cy="33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667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roup 238"/>
          <p:cNvGrpSpPr/>
          <p:nvPr/>
        </p:nvGrpSpPr>
        <p:grpSpPr>
          <a:xfrm>
            <a:off x="8232969" y="1231481"/>
            <a:ext cx="838892" cy="3258180"/>
            <a:chOff x="113608" y="837569"/>
            <a:chExt cx="838892" cy="3258180"/>
          </a:xfrm>
        </p:grpSpPr>
        <p:sp>
          <p:nvSpPr>
            <p:cNvPr id="240" name="Rectangle 239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41" name="TextBox 15"/>
            <p:cNvSpPr txBox="1">
              <a:spLocks noChangeArrowheads="1"/>
            </p:cNvSpPr>
            <p:nvPr/>
          </p:nvSpPr>
          <p:spPr bwMode="auto">
            <a:xfrm>
              <a:off x="113608" y="837569"/>
              <a:ext cx="8388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algn="ctr" eaLnBrk="0" hangingPunct="0">
                <a:defRPr sz="2400" b="1" i="1">
                  <a:solidFill>
                    <a:prstClr val="black">
                      <a:lumMod val="50000"/>
                      <a:lumOff val="50000"/>
                    </a:prstClr>
                  </a:solidFill>
                  <a:latin typeface="Proxima Nova Rg" panose="02000506030000020004" pitchFamily="50" charset="0"/>
                  <a:ea typeface="ＭＳ Ｐゴシック" charset="-128"/>
                </a:defRPr>
              </a:lvl1pPr>
            </a:lstStyle>
            <a:p>
              <a:r>
                <a:rPr lang="en-US" dirty="0">
                  <a:latin typeface="+mn-lt"/>
                </a:rPr>
                <a:t>End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55475C1-6B9D-428D-817D-94E397259960}"/>
              </a:ext>
            </a:extLst>
          </p:cNvPr>
          <p:cNvGrpSpPr/>
          <p:nvPr/>
        </p:nvGrpSpPr>
        <p:grpSpPr>
          <a:xfrm>
            <a:off x="48293" y="1233807"/>
            <a:ext cx="9054178" cy="3389371"/>
            <a:chOff x="-18666" y="1147054"/>
            <a:chExt cx="9169640" cy="3389371"/>
          </a:xfrm>
        </p:grpSpPr>
        <p:sp>
          <p:nvSpPr>
            <p:cNvPr id="102" name="Highlight Box">
              <a:extLst>
                <a:ext uri="{FF2B5EF4-FFF2-40B4-BE49-F238E27FC236}">
                  <a16:creationId xmlns:a16="http://schemas.microsoft.com/office/drawing/2014/main" id="{8E623591-074D-4C9A-9B1F-91E81466F922}"/>
                </a:ext>
              </a:extLst>
            </p:cNvPr>
            <p:cNvSpPr/>
            <p:nvPr/>
          </p:nvSpPr>
          <p:spPr>
            <a:xfrm>
              <a:off x="-18666" y="1147054"/>
              <a:ext cx="1443186" cy="3383280"/>
            </a:xfrm>
            <a:prstGeom prst="roundRect">
              <a:avLst>
                <a:gd name="adj" fmla="val 4675"/>
              </a:avLst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3" name="Highlight Box">
              <a:extLst>
                <a:ext uri="{FF2B5EF4-FFF2-40B4-BE49-F238E27FC236}">
                  <a16:creationId xmlns:a16="http://schemas.microsoft.com/office/drawing/2014/main" id="{3FEE5A25-FFFE-4810-812E-4C1FC2072DD3}"/>
                </a:ext>
              </a:extLst>
            </p:cNvPr>
            <p:cNvSpPr/>
            <p:nvPr/>
          </p:nvSpPr>
          <p:spPr>
            <a:xfrm>
              <a:off x="8244490" y="1153145"/>
              <a:ext cx="906484" cy="3383280"/>
            </a:xfrm>
            <a:prstGeom prst="roundRect">
              <a:avLst>
                <a:gd name="adj" fmla="val 4675"/>
              </a:avLst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215" name="Group 214"/>
          <p:cNvGrpSpPr/>
          <p:nvPr/>
        </p:nvGrpSpPr>
        <p:grpSpPr>
          <a:xfrm>
            <a:off x="36236" y="1200150"/>
            <a:ext cx="1411563" cy="3258180"/>
            <a:chOff x="92056" y="837569"/>
            <a:chExt cx="1320565" cy="3258180"/>
          </a:xfrm>
        </p:grpSpPr>
        <p:sp>
          <p:nvSpPr>
            <p:cNvPr id="211" name="Rectangle 210"/>
            <p:cNvSpPr/>
            <p:nvPr/>
          </p:nvSpPr>
          <p:spPr>
            <a:xfrm>
              <a:off x="129533" y="1206900"/>
              <a:ext cx="1283088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 dirty="0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12" name="TextBox 15"/>
            <p:cNvSpPr txBox="1">
              <a:spLocks noChangeArrowheads="1"/>
            </p:cNvSpPr>
            <p:nvPr/>
          </p:nvSpPr>
          <p:spPr bwMode="auto">
            <a:xfrm>
              <a:off x="92056" y="837569"/>
              <a:ext cx="91694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algn="ctr" eaLnBrk="0" hangingPunct="0">
                <a:defRPr sz="2400" b="1" i="1">
                  <a:solidFill>
                    <a:prstClr val="black">
                      <a:lumMod val="50000"/>
                      <a:lumOff val="50000"/>
                    </a:prstClr>
                  </a:solidFill>
                  <a:latin typeface="Proxima Nova Rg" panose="02000506030000020004" pitchFamily="50" charset="0"/>
                  <a:ea typeface="ＭＳ Ｐゴシック" charset="-128"/>
                </a:defRPr>
              </a:lvl1pPr>
            </a:lstStyle>
            <a:p>
              <a:r>
                <a:rPr lang="en-US" dirty="0">
                  <a:latin typeface="+mn-lt"/>
                </a:rPr>
                <a:t>Levels</a:t>
              </a: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304454" y="3726811"/>
            <a:ext cx="457200" cy="365760"/>
            <a:chOff x="1698611" y="3461328"/>
            <a:chExt cx="457200" cy="313459"/>
          </a:xfrm>
        </p:grpSpPr>
        <p:sp>
          <p:nvSpPr>
            <p:cNvPr id="90" name="Rectangle 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304454" y="2788376"/>
            <a:ext cx="457200" cy="365760"/>
            <a:chOff x="1698611" y="3461328"/>
            <a:chExt cx="457200" cy="313459"/>
          </a:xfrm>
        </p:grpSpPr>
        <p:sp>
          <p:nvSpPr>
            <p:cNvPr id="93" name="Rectangle 92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304454" y="1849941"/>
            <a:ext cx="457200" cy="365760"/>
            <a:chOff x="1698611" y="3461328"/>
            <a:chExt cx="457200" cy="313459"/>
          </a:xfrm>
        </p:grpSpPr>
        <p:sp>
          <p:nvSpPr>
            <p:cNvPr id="178" name="Rectangle 177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77769" y="3726811"/>
            <a:ext cx="913957" cy="731520"/>
            <a:chOff x="1597819" y="3431974"/>
            <a:chExt cx="913957" cy="731520"/>
          </a:xfrm>
        </p:grpSpPr>
        <p:sp>
          <p:nvSpPr>
            <p:cNvPr id="4" name="Rectangle 3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2307398" y="2788376"/>
            <a:ext cx="914400" cy="731520"/>
            <a:chOff x="1597819" y="2526030"/>
            <a:chExt cx="914400" cy="731520"/>
          </a:xfrm>
        </p:grpSpPr>
        <p:sp>
          <p:nvSpPr>
            <p:cNvPr id="76" name="Rectangle 75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80" name="Group 79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96" name="Group 95"/>
          <p:cNvGrpSpPr/>
          <p:nvPr/>
        </p:nvGrpSpPr>
        <p:grpSpPr>
          <a:xfrm>
            <a:off x="2307841" y="3726811"/>
            <a:ext cx="913957" cy="731520"/>
            <a:chOff x="1597819" y="3431974"/>
            <a:chExt cx="913957" cy="731520"/>
          </a:xfrm>
        </p:grpSpPr>
        <p:sp>
          <p:nvSpPr>
            <p:cNvPr id="97" name="Rectangle 96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99" name="Group 98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00" name="Rectangle 9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09" name="Group 108"/>
          <p:cNvGrpSpPr/>
          <p:nvPr/>
        </p:nvGrpSpPr>
        <p:grpSpPr>
          <a:xfrm>
            <a:off x="3537913" y="3726811"/>
            <a:ext cx="913957" cy="731520"/>
            <a:chOff x="1597819" y="3431974"/>
            <a:chExt cx="913957" cy="731520"/>
          </a:xfrm>
        </p:grpSpPr>
        <p:sp>
          <p:nvSpPr>
            <p:cNvPr id="110" name="Rectangle 109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grpSp>
          <p:nvGrpSpPr>
            <p:cNvPr id="112" name="Group 111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13" name="Rectangle 112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17" name="Group 116"/>
          <p:cNvGrpSpPr/>
          <p:nvPr/>
        </p:nvGrpSpPr>
        <p:grpSpPr>
          <a:xfrm>
            <a:off x="4767985" y="3726811"/>
            <a:ext cx="913957" cy="731520"/>
            <a:chOff x="1597819" y="3431974"/>
            <a:chExt cx="913957" cy="731520"/>
          </a:xfrm>
        </p:grpSpPr>
        <p:sp>
          <p:nvSpPr>
            <p:cNvPr id="118" name="Rectangle 117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21" name="Rectangle 120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23" name="Group 122"/>
          <p:cNvGrpSpPr/>
          <p:nvPr/>
        </p:nvGrpSpPr>
        <p:grpSpPr>
          <a:xfrm>
            <a:off x="4767985" y="2788376"/>
            <a:ext cx="914400" cy="731520"/>
            <a:chOff x="1597819" y="2526030"/>
            <a:chExt cx="914400" cy="731520"/>
          </a:xfrm>
        </p:grpSpPr>
        <p:sp>
          <p:nvSpPr>
            <p:cNvPr id="124" name="Rectangle 123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5" name="Group 124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129" name="Rectangle 128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01" name="Group 200"/>
          <p:cNvGrpSpPr/>
          <p:nvPr/>
        </p:nvGrpSpPr>
        <p:grpSpPr>
          <a:xfrm>
            <a:off x="7228129" y="3726811"/>
            <a:ext cx="913957" cy="731520"/>
            <a:chOff x="1597819" y="3431974"/>
            <a:chExt cx="913957" cy="731520"/>
          </a:xfrm>
        </p:grpSpPr>
        <p:sp>
          <p:nvSpPr>
            <p:cNvPr id="202" name="Rectangle 201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grpSp>
          <p:nvGrpSpPr>
            <p:cNvPr id="204" name="Group 203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205" name="Rectangle 204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Lists Basics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18</a:t>
            </a:fld>
            <a:endParaRPr lang="en-US" dirty="0"/>
          </a:p>
        </p:txBody>
      </p:sp>
      <p:cxnSp>
        <p:nvCxnSpPr>
          <p:cNvPr id="39" name="Curved Connector 39"/>
          <p:cNvCxnSpPr>
            <a:stCxn id="30" idx="3"/>
            <a:endCxn id="97" idx="1"/>
          </p:cNvCxnSpPr>
          <p:nvPr/>
        </p:nvCxnSpPr>
        <p:spPr>
          <a:xfrm>
            <a:off x="1768206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39"/>
          <p:cNvCxnSpPr>
            <a:stCxn id="81" idx="2"/>
            <a:endCxn id="97" idx="0"/>
          </p:cNvCxnSpPr>
          <p:nvPr/>
        </p:nvCxnSpPr>
        <p:spPr>
          <a:xfrm>
            <a:off x="2535998" y="3331964"/>
            <a:ext cx="443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39"/>
          <p:cNvCxnSpPr>
            <a:stCxn id="113" idx="3"/>
            <a:endCxn id="118" idx="1"/>
          </p:cNvCxnSpPr>
          <p:nvPr/>
        </p:nvCxnSpPr>
        <p:spPr>
          <a:xfrm>
            <a:off x="4228350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urved Connector 39"/>
          <p:cNvCxnSpPr>
            <a:stCxn id="100" idx="3"/>
            <a:endCxn id="110" idx="1"/>
          </p:cNvCxnSpPr>
          <p:nvPr/>
        </p:nvCxnSpPr>
        <p:spPr>
          <a:xfrm>
            <a:off x="2998278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39"/>
          <p:cNvCxnSpPr>
            <a:stCxn id="129" idx="2"/>
            <a:endCxn id="118" idx="0"/>
          </p:cNvCxnSpPr>
          <p:nvPr/>
        </p:nvCxnSpPr>
        <p:spPr>
          <a:xfrm>
            <a:off x="4996585" y="3331964"/>
            <a:ext cx="0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urved Connector 39"/>
          <p:cNvCxnSpPr>
            <a:stCxn id="86" idx="3"/>
            <a:endCxn id="124" idx="1"/>
          </p:cNvCxnSpPr>
          <p:nvPr/>
        </p:nvCxnSpPr>
        <p:spPr>
          <a:xfrm>
            <a:off x="2998278" y="2971255"/>
            <a:ext cx="1769707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Group 182"/>
          <p:cNvGrpSpPr/>
          <p:nvPr/>
        </p:nvGrpSpPr>
        <p:grpSpPr>
          <a:xfrm>
            <a:off x="8458200" y="3726811"/>
            <a:ext cx="457200" cy="365760"/>
            <a:chOff x="1698611" y="3461328"/>
            <a:chExt cx="457200" cy="313459"/>
          </a:xfrm>
        </p:grpSpPr>
        <p:sp>
          <p:nvSpPr>
            <p:cNvPr id="184" name="Rectangle 183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endParaRPr lang="en-US" sz="400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6" name="Group 185"/>
          <p:cNvGrpSpPr/>
          <p:nvPr/>
        </p:nvGrpSpPr>
        <p:grpSpPr>
          <a:xfrm>
            <a:off x="8458200" y="2788376"/>
            <a:ext cx="457200" cy="365760"/>
            <a:chOff x="1698611" y="3461328"/>
            <a:chExt cx="457200" cy="313459"/>
          </a:xfrm>
        </p:grpSpPr>
        <p:sp>
          <p:nvSpPr>
            <p:cNvPr id="187" name="Rectangle 186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endParaRPr lang="en-US" sz="400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9" name="Group 188"/>
          <p:cNvGrpSpPr/>
          <p:nvPr/>
        </p:nvGrpSpPr>
        <p:grpSpPr>
          <a:xfrm>
            <a:off x="8458200" y="1849941"/>
            <a:ext cx="457200" cy="365760"/>
            <a:chOff x="1698611" y="3461328"/>
            <a:chExt cx="457200" cy="313459"/>
          </a:xfrm>
        </p:grpSpPr>
        <p:sp>
          <p:nvSpPr>
            <p:cNvPr id="190" name="Rectangle 1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endParaRPr lang="en-US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cxnSp>
        <p:nvCxnSpPr>
          <p:cNvPr id="208" name="Curved Connector 39"/>
          <p:cNvCxnSpPr>
            <a:stCxn id="205" idx="3"/>
            <a:endCxn id="185" idx="1"/>
          </p:cNvCxnSpPr>
          <p:nvPr/>
        </p:nvCxnSpPr>
        <p:spPr>
          <a:xfrm>
            <a:off x="7918566" y="3909690"/>
            <a:ext cx="53963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39"/>
          <p:cNvCxnSpPr>
            <a:stCxn id="90" idx="3"/>
            <a:endCxn id="4" idx="1"/>
          </p:cNvCxnSpPr>
          <p:nvPr/>
        </p:nvCxnSpPr>
        <p:spPr>
          <a:xfrm flipV="1">
            <a:off x="531784" y="3909691"/>
            <a:ext cx="54598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urved Connector 39"/>
          <p:cNvCxnSpPr>
            <a:stCxn id="93" idx="3"/>
            <a:endCxn id="76" idx="1"/>
          </p:cNvCxnSpPr>
          <p:nvPr/>
        </p:nvCxnSpPr>
        <p:spPr>
          <a:xfrm flipV="1">
            <a:off x="531784" y="2971256"/>
            <a:ext cx="177561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/>
              <p:cNvSpPr txBox="1"/>
              <p:nvPr/>
            </p:nvSpPr>
            <p:spPr>
              <a:xfrm>
                <a:off x="109104" y="4138283"/>
                <a:ext cx="805869" cy="284309"/>
              </a:xfrm>
              <a:prstGeom prst="rect">
                <a:avLst/>
              </a:prstGeom>
              <a:noFill/>
            </p:spPr>
            <p:txBody>
              <a:bodyPr wrap="square" lIns="0" tIns="45720" rIns="0" bIns="45720" rtlCol="0" anchor="ctr" anchorCtr="0">
                <a:spAutoFit/>
              </a:bodyPr>
              <a:lstStyle/>
              <a:p>
                <a:pPr algn="ctr">
                  <a:lnSpc>
                    <a:spcPct val="75000"/>
                  </a:lnSpc>
                </a:pP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16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6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sz="16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16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600" b="1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6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b="1" i="1" dirty="0">
                    <a:solidFill>
                      <a:schemeClr val="accent1"/>
                    </a:solidFill>
                    <a:latin typeface="Crimson Text" pitchFamily="2" charset="0"/>
                  </a:rPr>
                  <a:t>=N</a:t>
                </a:r>
              </a:p>
            </p:txBody>
          </p:sp>
        </mc:Choice>
        <mc:Fallback xmlns="">
          <p:sp>
            <p:nvSpPr>
              <p:cNvPr id="216" name="TextBox 2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04" y="4138283"/>
                <a:ext cx="805869" cy="284309"/>
              </a:xfrm>
              <a:prstGeom prst="rect">
                <a:avLst/>
              </a:prstGeom>
              <a:blipFill>
                <a:blip r:embed="rId2"/>
                <a:stretch>
                  <a:fillRect l="-9375" t="-21739" r="-12500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TextBox 216"/>
              <p:cNvSpPr txBox="1"/>
              <p:nvPr/>
            </p:nvSpPr>
            <p:spPr>
              <a:xfrm>
                <a:off x="141157" y="3174276"/>
                <a:ext cx="1132111" cy="276999"/>
              </a:xfrm>
              <a:prstGeom prst="rect">
                <a:avLst/>
              </a:prstGeom>
              <a:noFill/>
            </p:spPr>
            <p:txBody>
              <a:bodyPr wrap="square" lIns="0" tIns="45720" rIns="0" bIns="45720" rtlCol="0" anchor="ctr" anchorCtr="0">
                <a:spAutoFit/>
              </a:bodyPr>
              <a:lstStyle/>
              <a:p>
                <a:pPr algn="ctr">
                  <a:lnSpc>
                    <a:spcPct val="75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lit/>
                        </m:rPr>
                        <a:rPr lang="en-US" sz="16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16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𝒑𝑵</m:t>
                      </m:r>
                    </m:oMath>
                  </m:oMathPara>
                </a14:m>
                <a:endParaRPr lang="en-US" sz="1600" b="1" i="1" dirty="0">
                  <a:solidFill>
                    <a:schemeClr val="accent1"/>
                  </a:solidFill>
                  <a:latin typeface="Crimson Text" pitchFamily="2" charset="0"/>
                </a:endParaRPr>
              </a:p>
            </p:txBody>
          </p:sp>
        </mc:Choice>
        <mc:Fallback xmlns="">
          <p:sp>
            <p:nvSpPr>
              <p:cNvPr id="217" name="TextBox 2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57" y="3174276"/>
                <a:ext cx="1132111" cy="276999"/>
              </a:xfrm>
              <a:prstGeom prst="rect">
                <a:avLst/>
              </a:prstGeom>
              <a:blipFill>
                <a:blip r:embed="rId3"/>
                <a:stretch>
                  <a:fillRect l="-8889" t="-9091" r="-2222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TextBox 217"/>
              <p:cNvSpPr txBox="1"/>
              <p:nvPr/>
            </p:nvSpPr>
            <p:spPr>
              <a:xfrm>
                <a:off x="129068" y="2253600"/>
                <a:ext cx="1319984" cy="281167"/>
              </a:xfrm>
              <a:prstGeom prst="rect">
                <a:avLst/>
              </a:prstGeom>
              <a:noFill/>
            </p:spPr>
            <p:txBody>
              <a:bodyPr wrap="square" lIns="0" tIns="45720" rIns="0" bIns="45720" rtlCol="0" anchor="ctr" anchorCtr="0">
                <a:spAutoFit/>
              </a:bodyPr>
              <a:lstStyle/>
              <a:p>
                <a:pPr algn="ctr">
                  <a:lnSpc>
                    <a:spcPct val="75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lit/>
                        </m:rPr>
                        <a:rPr lang="en-US" sz="16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n-US" sz="1600" b="1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sz="16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p>
                          <m:r>
                            <a:rPr lang="en-US" sz="1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6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</m:oMath>
                  </m:oMathPara>
                </a14:m>
                <a:endParaRPr lang="en-US" sz="1600" b="1" i="1" dirty="0">
                  <a:solidFill>
                    <a:schemeClr val="accent1"/>
                  </a:solidFill>
                  <a:latin typeface="Crimson Text" pitchFamily="2" charset="0"/>
                </a:endParaRPr>
              </a:p>
            </p:txBody>
          </p:sp>
        </mc:Choice>
        <mc:Fallback xmlns="">
          <p:sp>
            <p:nvSpPr>
              <p:cNvPr id="218" name="TextBox 2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68" y="2253600"/>
                <a:ext cx="1319984" cy="281167"/>
              </a:xfrm>
              <a:prstGeom prst="rect">
                <a:avLst/>
              </a:prstGeom>
              <a:blipFill>
                <a:blip r:embed="rId4"/>
                <a:stretch>
                  <a:fillRect l="-3810" t="-8696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6" name="Curved Connector 39"/>
          <p:cNvCxnSpPr>
            <a:cxnSpLocks/>
          </p:cNvCxnSpPr>
          <p:nvPr/>
        </p:nvCxnSpPr>
        <p:spPr>
          <a:xfrm>
            <a:off x="533227" y="2028424"/>
            <a:ext cx="7924973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urved Connector 39"/>
          <p:cNvCxnSpPr>
            <a:cxnSpLocks/>
          </p:cNvCxnSpPr>
          <p:nvPr/>
        </p:nvCxnSpPr>
        <p:spPr>
          <a:xfrm flipV="1">
            <a:off x="5453341" y="3905252"/>
            <a:ext cx="1769264" cy="2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urved Connector 39"/>
          <p:cNvCxnSpPr>
            <a:cxnSpLocks/>
          </p:cNvCxnSpPr>
          <p:nvPr/>
        </p:nvCxnSpPr>
        <p:spPr>
          <a:xfrm>
            <a:off x="5461115" y="2971253"/>
            <a:ext cx="29993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Highlight Box"/>
          <p:cNvSpPr/>
          <p:nvPr/>
        </p:nvSpPr>
        <p:spPr>
          <a:xfrm>
            <a:off x="113608" y="3681214"/>
            <a:ext cx="8991368" cy="822960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3" name="Highlight Box"/>
          <p:cNvSpPr/>
          <p:nvPr/>
        </p:nvSpPr>
        <p:spPr>
          <a:xfrm>
            <a:off x="113608" y="2736850"/>
            <a:ext cx="8991368" cy="822960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4" name="Highlight Box"/>
          <p:cNvSpPr/>
          <p:nvPr/>
        </p:nvSpPr>
        <p:spPr>
          <a:xfrm>
            <a:off x="113608" y="1797050"/>
            <a:ext cx="8991368" cy="822960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0A43DD-3C9D-9EA7-ACBB-3B3503DC74DD}"/>
                  </a:ext>
                </a:extLst>
              </p:cNvPr>
              <p:cNvSpPr txBox="1"/>
              <p:nvPr/>
            </p:nvSpPr>
            <p:spPr>
              <a:xfrm>
                <a:off x="2853728" y="715885"/>
                <a:ext cx="380109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>
                <a:defPPr>
                  <a:defRPr lang="en-US"/>
                </a:defPPr>
                <a:lvl1pPr>
                  <a:defRPr b="1" i="1">
                    <a:solidFill>
                      <a:srgbClr val="C00000"/>
                    </a:solidFill>
                  </a:defRPr>
                </a:lvl1pPr>
              </a:lstStyle>
              <a:p>
                <a:r>
                  <a:rPr lang="en-US" i="0" dirty="0">
                    <a:solidFill>
                      <a:schemeClr val="tx1"/>
                    </a:solidFill>
                  </a:rPr>
                  <a:t>Flip a coin w/ prob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i="0" dirty="0">
                    <a:solidFill>
                      <a:schemeClr val="tx1"/>
                    </a:solidFill>
                  </a:rPr>
                  <a:t> to decide how many levels to add the new key into.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0A43DD-3C9D-9EA7-ACBB-3B3503DC7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728" y="715885"/>
                <a:ext cx="3801096" cy="553998"/>
              </a:xfrm>
              <a:prstGeom prst="rect">
                <a:avLst/>
              </a:prstGeom>
              <a:blipFill>
                <a:blip r:embed="rId5"/>
                <a:stretch>
                  <a:fillRect l="-3654" t="-1363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17792B3-4161-5124-1E58-31934DBD7832}"/>
              </a:ext>
            </a:extLst>
          </p:cNvPr>
          <p:cNvSpPr txBox="1"/>
          <p:nvPr/>
        </p:nvSpPr>
        <p:spPr>
          <a:xfrm>
            <a:off x="1733960" y="1376929"/>
            <a:ext cx="335992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rgbClr val="C00000"/>
                </a:solidFill>
              </a:defRPr>
            </a:lvl1pPr>
          </a:lstStyle>
          <a:p>
            <a:r>
              <a:rPr lang="en-US" i="0" dirty="0">
                <a:solidFill>
                  <a:schemeClr val="tx1"/>
                </a:solidFill>
              </a:rPr>
              <a:t>How many levels in expectation?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F683986-514C-0F4B-265E-3A33A6DFBF8A}"/>
                  </a:ext>
                </a:extLst>
              </p:cNvPr>
              <p:cNvSpPr txBox="1"/>
              <p:nvPr/>
            </p:nvSpPr>
            <p:spPr>
              <a:xfrm>
                <a:off x="6563942" y="1308603"/>
                <a:ext cx="1056058" cy="394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sub>
                          </m:sSub>
                        </m:fName>
                        <m:e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F683986-514C-0F4B-265E-3A33A6DFB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3942" y="1308603"/>
                <a:ext cx="1056058" cy="394210"/>
              </a:xfrm>
              <a:prstGeom prst="rect">
                <a:avLst/>
              </a:prstGeom>
              <a:blipFill>
                <a:blip r:embed="rId6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AA927B-E2E8-C3E6-7BC8-7796E7028A53}"/>
                  </a:ext>
                </a:extLst>
              </p:cNvPr>
              <p:cNvSpPr txBox="1"/>
              <p:nvPr/>
            </p:nvSpPr>
            <p:spPr>
              <a:xfrm>
                <a:off x="5318717" y="1315447"/>
                <a:ext cx="13347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≈1→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CAA927B-E2E8-C3E6-7BC8-7796E7028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717" y="1315447"/>
                <a:ext cx="1334724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645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5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5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"/>
                            </p:stCondLst>
                            <p:childTnLst>
                              <p:par>
                                <p:cTn id="4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/>
      <p:bldP spid="217" grpId="0"/>
      <p:bldP spid="218" grpId="0"/>
      <p:bldP spid="242" grpId="0" animBg="1"/>
      <p:bldP spid="242" grpId="1" animBg="1"/>
      <p:bldP spid="243" grpId="1" animBg="1"/>
      <p:bldP spid="243" grpId="2" animBg="1"/>
      <p:bldP spid="244" grpId="1" animBg="1"/>
      <p:bldP spid="10" grpId="0"/>
      <p:bldP spid="12" grpId="0"/>
      <p:bldP spid="13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roup 238"/>
          <p:cNvGrpSpPr/>
          <p:nvPr/>
        </p:nvGrpSpPr>
        <p:grpSpPr>
          <a:xfrm>
            <a:off x="8266084" y="1200150"/>
            <a:ext cx="838892" cy="3258180"/>
            <a:chOff x="113608" y="837569"/>
            <a:chExt cx="838892" cy="3258180"/>
          </a:xfrm>
        </p:grpSpPr>
        <p:sp>
          <p:nvSpPr>
            <p:cNvPr id="240" name="Rectangle 239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41" name="TextBox 15"/>
            <p:cNvSpPr txBox="1">
              <a:spLocks noChangeArrowheads="1"/>
            </p:cNvSpPr>
            <p:nvPr/>
          </p:nvSpPr>
          <p:spPr bwMode="auto">
            <a:xfrm>
              <a:off x="113608" y="837569"/>
              <a:ext cx="8388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algn="ctr" eaLnBrk="0" hangingPunct="0">
                <a:defRPr sz="2400" b="1" i="1">
                  <a:solidFill>
                    <a:prstClr val="black">
                      <a:lumMod val="50000"/>
                      <a:lumOff val="50000"/>
                    </a:prstClr>
                  </a:solidFill>
                  <a:latin typeface="Proxima Nova Rg" panose="02000506030000020004" pitchFamily="50" charset="0"/>
                  <a:ea typeface="ＭＳ Ｐゴシック" charset="-128"/>
                </a:defRPr>
              </a:lvl1pPr>
            </a:lstStyle>
            <a:p>
              <a:r>
                <a:rPr lang="en-US" dirty="0">
                  <a:latin typeface="+mn-lt"/>
                </a:rPr>
                <a:t>End</a:t>
              </a:r>
            </a:p>
          </p:txBody>
        </p:sp>
      </p:grpSp>
      <p:grpSp>
        <p:nvGrpSpPr>
          <p:cNvPr id="215" name="Group 214"/>
          <p:cNvGrpSpPr/>
          <p:nvPr/>
        </p:nvGrpSpPr>
        <p:grpSpPr>
          <a:xfrm>
            <a:off x="92056" y="1200150"/>
            <a:ext cx="916940" cy="3258180"/>
            <a:chOff x="92056" y="837569"/>
            <a:chExt cx="916940" cy="3258180"/>
          </a:xfrm>
        </p:grpSpPr>
        <p:sp>
          <p:nvSpPr>
            <p:cNvPr id="211" name="Rectangle 210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 dirty="0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12" name="TextBox 15"/>
            <p:cNvSpPr txBox="1">
              <a:spLocks noChangeArrowheads="1"/>
            </p:cNvSpPr>
            <p:nvPr/>
          </p:nvSpPr>
          <p:spPr bwMode="auto">
            <a:xfrm>
              <a:off x="92056" y="837569"/>
              <a:ext cx="91694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algn="ctr" eaLnBrk="0" hangingPunct="0">
                <a:defRPr sz="2400" b="1" i="1">
                  <a:solidFill>
                    <a:prstClr val="black">
                      <a:lumMod val="50000"/>
                      <a:lumOff val="50000"/>
                    </a:prstClr>
                  </a:solidFill>
                  <a:latin typeface="Proxima Nova Rg" panose="02000506030000020004" pitchFamily="50" charset="0"/>
                  <a:ea typeface="ＭＳ Ｐゴシック" charset="-128"/>
                </a:defRPr>
              </a:lvl1pPr>
            </a:lstStyle>
            <a:p>
              <a:r>
                <a:rPr lang="en-US" dirty="0">
                  <a:latin typeface="+mn-lt"/>
                </a:rPr>
                <a:t>Levels</a:t>
              </a: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304454" y="3726811"/>
            <a:ext cx="457200" cy="365760"/>
            <a:chOff x="1698611" y="3461328"/>
            <a:chExt cx="457200" cy="313459"/>
          </a:xfrm>
        </p:grpSpPr>
        <p:sp>
          <p:nvSpPr>
            <p:cNvPr id="90" name="Rectangle 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304454" y="2788376"/>
            <a:ext cx="457200" cy="365760"/>
            <a:chOff x="1698611" y="3461328"/>
            <a:chExt cx="457200" cy="313459"/>
          </a:xfrm>
        </p:grpSpPr>
        <p:sp>
          <p:nvSpPr>
            <p:cNvPr id="93" name="Rectangle 92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304454" y="1849941"/>
            <a:ext cx="457200" cy="365760"/>
            <a:chOff x="1698611" y="3461328"/>
            <a:chExt cx="457200" cy="313459"/>
          </a:xfrm>
        </p:grpSpPr>
        <p:sp>
          <p:nvSpPr>
            <p:cNvPr id="178" name="Rectangle 177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77769" y="3726811"/>
            <a:ext cx="913957" cy="731520"/>
            <a:chOff x="1597819" y="3431974"/>
            <a:chExt cx="913957" cy="731520"/>
          </a:xfrm>
        </p:grpSpPr>
        <p:sp>
          <p:nvSpPr>
            <p:cNvPr id="4" name="Rectangle 3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2307398" y="2788376"/>
            <a:ext cx="914400" cy="731520"/>
            <a:chOff x="1597819" y="2526030"/>
            <a:chExt cx="914400" cy="731520"/>
          </a:xfrm>
        </p:grpSpPr>
        <p:sp>
          <p:nvSpPr>
            <p:cNvPr id="76" name="Rectangle 75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80" name="Group 79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96" name="Group 95"/>
          <p:cNvGrpSpPr/>
          <p:nvPr/>
        </p:nvGrpSpPr>
        <p:grpSpPr>
          <a:xfrm>
            <a:off x="2307841" y="3726811"/>
            <a:ext cx="913957" cy="731520"/>
            <a:chOff x="1597819" y="3431974"/>
            <a:chExt cx="913957" cy="731520"/>
          </a:xfrm>
        </p:grpSpPr>
        <p:sp>
          <p:nvSpPr>
            <p:cNvPr id="97" name="Rectangle 96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99" name="Group 98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00" name="Rectangle 9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09" name="Group 108"/>
          <p:cNvGrpSpPr/>
          <p:nvPr/>
        </p:nvGrpSpPr>
        <p:grpSpPr>
          <a:xfrm>
            <a:off x="3537913" y="3726811"/>
            <a:ext cx="913957" cy="731520"/>
            <a:chOff x="1597819" y="3431974"/>
            <a:chExt cx="913957" cy="731520"/>
          </a:xfrm>
        </p:grpSpPr>
        <p:sp>
          <p:nvSpPr>
            <p:cNvPr id="110" name="Rectangle 109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grpSp>
          <p:nvGrpSpPr>
            <p:cNvPr id="112" name="Group 111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13" name="Rectangle 112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17" name="Group 116"/>
          <p:cNvGrpSpPr/>
          <p:nvPr/>
        </p:nvGrpSpPr>
        <p:grpSpPr>
          <a:xfrm>
            <a:off x="4767985" y="3726811"/>
            <a:ext cx="913957" cy="731520"/>
            <a:chOff x="1597819" y="3431974"/>
            <a:chExt cx="913957" cy="731520"/>
          </a:xfrm>
        </p:grpSpPr>
        <p:sp>
          <p:nvSpPr>
            <p:cNvPr id="118" name="Rectangle 117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21" name="Rectangle 120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23" name="Group 122"/>
          <p:cNvGrpSpPr/>
          <p:nvPr/>
        </p:nvGrpSpPr>
        <p:grpSpPr>
          <a:xfrm>
            <a:off x="4767985" y="2788376"/>
            <a:ext cx="914400" cy="731520"/>
            <a:chOff x="1597819" y="2526030"/>
            <a:chExt cx="914400" cy="731520"/>
          </a:xfrm>
        </p:grpSpPr>
        <p:sp>
          <p:nvSpPr>
            <p:cNvPr id="124" name="Rectangle 123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5" name="Group 124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129" name="Rectangle 128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01" name="Group 200"/>
          <p:cNvGrpSpPr/>
          <p:nvPr/>
        </p:nvGrpSpPr>
        <p:grpSpPr>
          <a:xfrm>
            <a:off x="7228129" y="3726811"/>
            <a:ext cx="913957" cy="731520"/>
            <a:chOff x="1597819" y="3431974"/>
            <a:chExt cx="913957" cy="731520"/>
          </a:xfrm>
        </p:grpSpPr>
        <p:sp>
          <p:nvSpPr>
            <p:cNvPr id="202" name="Rectangle 201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grpSp>
          <p:nvGrpSpPr>
            <p:cNvPr id="204" name="Group 203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205" name="Rectangle 204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Lists: INSERT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19</a:t>
            </a:fld>
            <a:endParaRPr lang="en-US" dirty="0"/>
          </a:p>
        </p:txBody>
      </p:sp>
      <p:cxnSp>
        <p:nvCxnSpPr>
          <p:cNvPr id="39" name="Curved Connector 39"/>
          <p:cNvCxnSpPr>
            <a:stCxn id="30" idx="3"/>
            <a:endCxn id="97" idx="1"/>
          </p:cNvCxnSpPr>
          <p:nvPr/>
        </p:nvCxnSpPr>
        <p:spPr>
          <a:xfrm>
            <a:off x="1768206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39"/>
          <p:cNvCxnSpPr>
            <a:stCxn id="81" idx="2"/>
            <a:endCxn id="97" idx="0"/>
          </p:cNvCxnSpPr>
          <p:nvPr/>
        </p:nvCxnSpPr>
        <p:spPr>
          <a:xfrm>
            <a:off x="2535998" y="3331964"/>
            <a:ext cx="443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39"/>
          <p:cNvCxnSpPr>
            <a:stCxn id="113" idx="3"/>
            <a:endCxn id="118" idx="1"/>
          </p:cNvCxnSpPr>
          <p:nvPr/>
        </p:nvCxnSpPr>
        <p:spPr>
          <a:xfrm>
            <a:off x="4228350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urved Connector 39"/>
          <p:cNvCxnSpPr>
            <a:stCxn id="100" idx="3"/>
            <a:endCxn id="110" idx="1"/>
          </p:cNvCxnSpPr>
          <p:nvPr/>
        </p:nvCxnSpPr>
        <p:spPr>
          <a:xfrm>
            <a:off x="2998278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39"/>
          <p:cNvCxnSpPr>
            <a:stCxn id="129" idx="2"/>
            <a:endCxn id="118" idx="0"/>
          </p:cNvCxnSpPr>
          <p:nvPr/>
        </p:nvCxnSpPr>
        <p:spPr>
          <a:xfrm>
            <a:off x="4996585" y="3331964"/>
            <a:ext cx="0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urved Connector 39"/>
          <p:cNvCxnSpPr>
            <a:stCxn id="86" idx="3"/>
            <a:endCxn id="124" idx="1"/>
          </p:cNvCxnSpPr>
          <p:nvPr/>
        </p:nvCxnSpPr>
        <p:spPr>
          <a:xfrm>
            <a:off x="2998278" y="2971255"/>
            <a:ext cx="1769707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urved Connector 39"/>
          <p:cNvCxnSpPr>
            <a:stCxn id="127" idx="3"/>
            <a:endCxn id="145" idx="1"/>
          </p:cNvCxnSpPr>
          <p:nvPr/>
        </p:nvCxnSpPr>
        <p:spPr>
          <a:xfrm>
            <a:off x="5458865" y="2971255"/>
            <a:ext cx="539192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urved Connector 39"/>
          <p:cNvCxnSpPr>
            <a:stCxn id="121" idx="3"/>
            <a:endCxn id="139" idx="1"/>
          </p:cNvCxnSpPr>
          <p:nvPr/>
        </p:nvCxnSpPr>
        <p:spPr>
          <a:xfrm>
            <a:off x="5458422" y="3909690"/>
            <a:ext cx="539635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urved Connector 39"/>
          <p:cNvCxnSpPr>
            <a:stCxn id="178" idx="3"/>
            <a:endCxn id="170" idx="1"/>
          </p:cNvCxnSpPr>
          <p:nvPr/>
        </p:nvCxnSpPr>
        <p:spPr>
          <a:xfrm flipV="1">
            <a:off x="531784" y="2032821"/>
            <a:ext cx="5466273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Group 182"/>
          <p:cNvGrpSpPr/>
          <p:nvPr/>
        </p:nvGrpSpPr>
        <p:grpSpPr>
          <a:xfrm>
            <a:off x="8458200" y="3726811"/>
            <a:ext cx="457200" cy="365760"/>
            <a:chOff x="1698611" y="3461328"/>
            <a:chExt cx="457200" cy="313459"/>
          </a:xfrm>
        </p:grpSpPr>
        <p:sp>
          <p:nvSpPr>
            <p:cNvPr id="184" name="Rectangle 183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endParaRPr lang="en-US" sz="400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6" name="Group 185"/>
          <p:cNvGrpSpPr/>
          <p:nvPr/>
        </p:nvGrpSpPr>
        <p:grpSpPr>
          <a:xfrm>
            <a:off x="8458200" y="2788376"/>
            <a:ext cx="457200" cy="365760"/>
            <a:chOff x="1698611" y="3461328"/>
            <a:chExt cx="457200" cy="313459"/>
          </a:xfrm>
        </p:grpSpPr>
        <p:sp>
          <p:nvSpPr>
            <p:cNvPr id="187" name="Rectangle 186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endParaRPr lang="en-US" sz="400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9" name="Group 188"/>
          <p:cNvGrpSpPr/>
          <p:nvPr/>
        </p:nvGrpSpPr>
        <p:grpSpPr>
          <a:xfrm>
            <a:off x="8458200" y="1849941"/>
            <a:ext cx="457200" cy="365760"/>
            <a:chOff x="1698611" y="3461328"/>
            <a:chExt cx="457200" cy="313459"/>
          </a:xfrm>
        </p:grpSpPr>
        <p:sp>
          <p:nvSpPr>
            <p:cNvPr id="190" name="Rectangle 1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endParaRPr lang="en-US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cxnSp>
        <p:nvCxnSpPr>
          <p:cNvPr id="208" name="Curved Connector 39"/>
          <p:cNvCxnSpPr>
            <a:stCxn id="205" idx="3"/>
            <a:endCxn id="185" idx="1"/>
          </p:cNvCxnSpPr>
          <p:nvPr/>
        </p:nvCxnSpPr>
        <p:spPr>
          <a:xfrm>
            <a:off x="7918566" y="3909690"/>
            <a:ext cx="53963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39"/>
          <p:cNvCxnSpPr>
            <a:stCxn id="90" idx="3"/>
            <a:endCxn id="4" idx="1"/>
          </p:cNvCxnSpPr>
          <p:nvPr/>
        </p:nvCxnSpPr>
        <p:spPr>
          <a:xfrm flipV="1">
            <a:off x="531784" y="3909691"/>
            <a:ext cx="54598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urved Connector 39"/>
          <p:cNvCxnSpPr>
            <a:stCxn id="93" idx="3"/>
            <a:endCxn id="76" idx="1"/>
          </p:cNvCxnSpPr>
          <p:nvPr/>
        </p:nvCxnSpPr>
        <p:spPr>
          <a:xfrm flipV="1">
            <a:off x="531784" y="2971256"/>
            <a:ext cx="177561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Content Placeholder 28"/>
          <p:cNvSpPr txBox="1">
            <a:spLocks/>
          </p:cNvSpPr>
          <p:nvPr/>
        </p:nvSpPr>
        <p:spPr>
          <a:xfrm>
            <a:off x="2822726" y="666750"/>
            <a:ext cx="3498549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 i="1">
                <a:solidFill>
                  <a:schemeClr val="bg1">
                    <a:lumMod val="50000"/>
                  </a:schemeClr>
                </a:solidFill>
                <a:latin typeface="Proxima Nova Rg" panose="02000506030000020004" pitchFamily="50" charset="0"/>
                <a:ea typeface="Crimson Text" pitchFamily="2" charset="0"/>
              </a:defRPr>
            </a:lvl1pPr>
            <a:lvl2pPr marL="0" indent="-342900">
              <a:spcBef>
                <a:spcPts val="0"/>
              </a:spcBef>
              <a:buFont typeface="Times New Roman" pitchFamily="18" charset="0"/>
              <a:buChar char="→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Insert K</a:t>
            </a:r>
            <a:r>
              <a:rPr lang="en-US" sz="24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5</a:t>
            </a:r>
          </a:p>
        </p:txBody>
      </p:sp>
      <p:cxnSp>
        <p:nvCxnSpPr>
          <p:cNvPr id="226" name="Curved Connector 39"/>
          <p:cNvCxnSpPr>
            <a:endCxn id="191" idx="1"/>
          </p:cNvCxnSpPr>
          <p:nvPr/>
        </p:nvCxnSpPr>
        <p:spPr>
          <a:xfrm>
            <a:off x="533227" y="2032820"/>
            <a:ext cx="7924973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Curved Connector 39"/>
          <p:cNvCxnSpPr>
            <a:endCxn id="202" idx="1"/>
          </p:cNvCxnSpPr>
          <p:nvPr/>
        </p:nvCxnSpPr>
        <p:spPr>
          <a:xfrm flipV="1">
            <a:off x="5458865" y="3909691"/>
            <a:ext cx="1769264" cy="2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urved Connector 39"/>
          <p:cNvCxnSpPr>
            <a:stCxn id="127" idx="3"/>
            <a:endCxn id="188" idx="1"/>
          </p:cNvCxnSpPr>
          <p:nvPr/>
        </p:nvCxnSpPr>
        <p:spPr>
          <a:xfrm>
            <a:off x="5458865" y="2971255"/>
            <a:ext cx="29993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Highlight Box"/>
          <p:cNvSpPr/>
          <p:nvPr/>
        </p:nvSpPr>
        <p:spPr>
          <a:xfrm>
            <a:off x="5860454" y="1748176"/>
            <a:ext cx="1188720" cy="2880974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5998057" y="1849941"/>
            <a:ext cx="914400" cy="2608390"/>
            <a:chOff x="5998057" y="1849941"/>
            <a:chExt cx="914400" cy="2608390"/>
          </a:xfrm>
        </p:grpSpPr>
        <p:grpSp>
          <p:nvGrpSpPr>
            <p:cNvPr id="144" name="Group 143"/>
            <p:cNvGrpSpPr/>
            <p:nvPr/>
          </p:nvGrpSpPr>
          <p:grpSpPr>
            <a:xfrm>
              <a:off x="5998057" y="2788376"/>
              <a:ext cx="914400" cy="731520"/>
              <a:chOff x="1597819" y="2526030"/>
              <a:chExt cx="914400" cy="731520"/>
            </a:xfrm>
          </p:grpSpPr>
          <p:sp>
            <p:nvSpPr>
              <p:cNvPr id="145" name="Rectangle 144"/>
              <p:cNvSpPr/>
              <p:nvPr/>
            </p:nvSpPr>
            <p:spPr>
              <a:xfrm>
                <a:off x="1597819" y="2526030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46" name="Group 145"/>
              <p:cNvGrpSpPr/>
              <p:nvPr/>
            </p:nvGrpSpPr>
            <p:grpSpPr>
              <a:xfrm>
                <a:off x="1597819" y="2891790"/>
                <a:ext cx="457200" cy="365760"/>
                <a:chOff x="1698611" y="3461328"/>
                <a:chExt cx="457200" cy="313459"/>
              </a:xfrm>
            </p:grpSpPr>
            <p:sp>
              <p:nvSpPr>
                <p:cNvPr id="150" name="Rectangle 149"/>
                <p:cNvSpPr/>
                <p:nvPr/>
              </p:nvSpPr>
              <p:spPr>
                <a:xfrm>
                  <a:off x="1835771" y="3461328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51" name="Rectangle 150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147" name="Group 146"/>
              <p:cNvGrpSpPr/>
              <p:nvPr/>
            </p:nvGrpSpPr>
            <p:grpSpPr>
              <a:xfrm>
                <a:off x="2055019" y="2526030"/>
                <a:ext cx="457200" cy="365760"/>
                <a:chOff x="1698611" y="3461328"/>
                <a:chExt cx="457200" cy="313459"/>
              </a:xfrm>
            </p:grpSpPr>
            <p:sp>
              <p:nvSpPr>
                <p:cNvPr id="148" name="Rectangle 147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49" name="Rectangle 148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69" name="Group 168"/>
            <p:cNvGrpSpPr/>
            <p:nvPr/>
          </p:nvGrpSpPr>
          <p:grpSpPr>
            <a:xfrm>
              <a:off x="5998057" y="1849941"/>
              <a:ext cx="914400" cy="731520"/>
              <a:chOff x="1597819" y="2526030"/>
              <a:chExt cx="914400" cy="73152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1597819" y="2526030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71" name="Group 170"/>
              <p:cNvGrpSpPr/>
              <p:nvPr/>
            </p:nvGrpSpPr>
            <p:grpSpPr>
              <a:xfrm>
                <a:off x="1597819" y="2891790"/>
                <a:ext cx="457200" cy="365760"/>
                <a:chOff x="1698611" y="3461328"/>
                <a:chExt cx="457200" cy="313459"/>
              </a:xfrm>
            </p:grpSpPr>
            <p:sp>
              <p:nvSpPr>
                <p:cNvPr id="175" name="Rectangle 174"/>
                <p:cNvSpPr/>
                <p:nvPr/>
              </p:nvSpPr>
              <p:spPr>
                <a:xfrm>
                  <a:off x="1835771" y="3461328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76" name="Rectangle 175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172" name="Group 171"/>
              <p:cNvGrpSpPr/>
              <p:nvPr/>
            </p:nvGrpSpPr>
            <p:grpSpPr>
              <a:xfrm>
                <a:off x="2055019" y="2526030"/>
                <a:ext cx="457200" cy="365760"/>
                <a:chOff x="1698611" y="3461328"/>
                <a:chExt cx="457200" cy="313459"/>
              </a:xfrm>
            </p:grpSpPr>
            <p:sp>
              <p:nvSpPr>
                <p:cNvPr id="173" name="Rectangle 172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74" name="Rectangle 173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38" name="Group 137"/>
            <p:cNvGrpSpPr/>
            <p:nvPr/>
          </p:nvGrpSpPr>
          <p:grpSpPr>
            <a:xfrm>
              <a:off x="5998057" y="3726811"/>
              <a:ext cx="913957" cy="731520"/>
              <a:chOff x="1597819" y="3431974"/>
              <a:chExt cx="913957" cy="731520"/>
            </a:xfrm>
          </p:grpSpPr>
          <p:sp>
            <p:nvSpPr>
              <p:cNvPr id="139" name="Rectangle 138"/>
              <p:cNvSpPr/>
              <p:nvPr/>
            </p:nvSpPr>
            <p:spPr>
              <a:xfrm>
                <a:off x="1597819" y="343197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sp>
            <p:nvSpPr>
              <p:cNvPr id="140" name="Rectangle 139"/>
              <p:cNvSpPr/>
              <p:nvPr/>
            </p:nvSpPr>
            <p:spPr>
              <a:xfrm>
                <a:off x="1597819" y="379773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V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41" name="Group 140"/>
              <p:cNvGrpSpPr/>
              <p:nvPr/>
            </p:nvGrpSpPr>
            <p:grpSpPr>
              <a:xfrm>
                <a:off x="2054576" y="3431974"/>
                <a:ext cx="457200" cy="365760"/>
                <a:chOff x="1698611" y="3461328"/>
                <a:chExt cx="457200" cy="313459"/>
              </a:xfrm>
            </p:grpSpPr>
            <p:sp>
              <p:nvSpPr>
                <p:cNvPr id="142" name="Rectangle 141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43" name="Rectangle 142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</p:grpSp>
      <p:grpSp>
        <p:nvGrpSpPr>
          <p:cNvPr id="19" name="Group 18"/>
          <p:cNvGrpSpPr/>
          <p:nvPr/>
        </p:nvGrpSpPr>
        <p:grpSpPr>
          <a:xfrm>
            <a:off x="5458422" y="3909690"/>
            <a:ext cx="1769707" cy="1049688"/>
            <a:chOff x="5458422" y="3909690"/>
            <a:chExt cx="1769707" cy="1049688"/>
          </a:xfrm>
        </p:grpSpPr>
        <p:cxnSp>
          <p:nvCxnSpPr>
            <p:cNvPr id="154" name="Curved Connector 39"/>
            <p:cNvCxnSpPr>
              <a:stCxn id="121" idx="3"/>
              <a:endCxn id="156" idx="1"/>
            </p:cNvCxnSpPr>
            <p:nvPr/>
          </p:nvCxnSpPr>
          <p:spPr>
            <a:xfrm>
              <a:off x="5458422" y="3909690"/>
              <a:ext cx="859675" cy="960774"/>
            </a:xfrm>
            <a:prstGeom prst="bentConnector3">
              <a:avLst>
                <a:gd name="adj1" fmla="val 46676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Rectangle 155"/>
            <p:cNvSpPr/>
            <p:nvPr/>
          </p:nvSpPr>
          <p:spPr>
            <a:xfrm>
              <a:off x="6318097" y="4781550"/>
              <a:ext cx="0" cy="177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Curved Connector 39"/>
            <p:cNvCxnSpPr>
              <a:stCxn id="156" idx="3"/>
              <a:endCxn id="202" idx="1"/>
            </p:cNvCxnSpPr>
            <p:nvPr/>
          </p:nvCxnSpPr>
          <p:spPr>
            <a:xfrm flipV="1">
              <a:off x="6318098" y="3909691"/>
              <a:ext cx="910031" cy="960773"/>
            </a:xfrm>
            <a:prstGeom prst="bentConnector3">
              <a:avLst>
                <a:gd name="adj1" fmla="val 80877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none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9" name="Group 158"/>
          <p:cNvGrpSpPr/>
          <p:nvPr/>
        </p:nvGrpSpPr>
        <p:grpSpPr>
          <a:xfrm>
            <a:off x="531784" y="1504950"/>
            <a:ext cx="7926416" cy="527872"/>
            <a:chOff x="2738150" y="3493071"/>
            <a:chExt cx="7926416" cy="527872"/>
          </a:xfrm>
        </p:grpSpPr>
        <p:cxnSp>
          <p:nvCxnSpPr>
            <p:cNvPr id="160" name="Curved Connector 39"/>
            <p:cNvCxnSpPr>
              <a:stCxn id="178" idx="3"/>
              <a:endCxn id="161" idx="1"/>
            </p:cNvCxnSpPr>
            <p:nvPr/>
          </p:nvCxnSpPr>
          <p:spPr>
            <a:xfrm flipV="1">
              <a:off x="2738150" y="3581985"/>
              <a:ext cx="5927110" cy="438958"/>
            </a:xfrm>
            <a:prstGeom prst="bentConnector3">
              <a:avLst>
                <a:gd name="adj1" fmla="val 89867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 160"/>
            <p:cNvSpPr/>
            <p:nvPr/>
          </p:nvSpPr>
          <p:spPr>
            <a:xfrm>
              <a:off x="8665260" y="3493071"/>
              <a:ext cx="0" cy="177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2" name="Curved Connector 39"/>
            <p:cNvCxnSpPr>
              <a:stCxn id="161" idx="3"/>
              <a:endCxn id="191" idx="1"/>
            </p:cNvCxnSpPr>
            <p:nvPr/>
          </p:nvCxnSpPr>
          <p:spPr>
            <a:xfrm>
              <a:off x="8665261" y="3581985"/>
              <a:ext cx="1999305" cy="438957"/>
            </a:xfrm>
            <a:prstGeom prst="bentConnector3">
              <a:avLst>
                <a:gd name="adj1" fmla="val 30076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none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/>
          <p:cNvGrpSpPr/>
          <p:nvPr/>
        </p:nvGrpSpPr>
        <p:grpSpPr>
          <a:xfrm>
            <a:off x="5458865" y="2971255"/>
            <a:ext cx="2999335" cy="692723"/>
            <a:chOff x="5306465" y="2818855"/>
            <a:chExt cx="2999335" cy="692723"/>
          </a:xfrm>
        </p:grpSpPr>
        <p:cxnSp>
          <p:nvCxnSpPr>
            <p:cNvPr id="164" name="Curved Connector 39"/>
            <p:cNvCxnSpPr>
              <a:stCxn id="127" idx="3"/>
              <a:endCxn id="165" idx="1"/>
            </p:cNvCxnSpPr>
            <p:nvPr/>
          </p:nvCxnSpPr>
          <p:spPr>
            <a:xfrm>
              <a:off x="5306465" y="2818855"/>
              <a:ext cx="1005306" cy="603809"/>
            </a:xfrm>
            <a:prstGeom prst="bentConnector3">
              <a:avLst>
                <a:gd name="adj1" fmla="val 40094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Rectangle 164"/>
            <p:cNvSpPr/>
            <p:nvPr/>
          </p:nvSpPr>
          <p:spPr>
            <a:xfrm>
              <a:off x="6311771" y="3333750"/>
              <a:ext cx="0" cy="177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6" name="Curved Connector 39"/>
            <p:cNvCxnSpPr>
              <a:stCxn id="165" idx="3"/>
              <a:endCxn id="188" idx="1"/>
            </p:cNvCxnSpPr>
            <p:nvPr/>
          </p:nvCxnSpPr>
          <p:spPr>
            <a:xfrm flipV="1">
              <a:off x="6311772" y="2818856"/>
              <a:ext cx="1994028" cy="603808"/>
            </a:xfrm>
            <a:prstGeom prst="bentConnector3">
              <a:avLst>
                <a:gd name="adj1" fmla="val 29569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none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1" name="Highlight Box"/>
          <p:cNvSpPr/>
          <p:nvPr/>
        </p:nvSpPr>
        <p:spPr>
          <a:xfrm>
            <a:off x="6006972" y="3735214"/>
            <a:ext cx="905042" cy="723117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Highlight Box"/>
          <p:cNvSpPr/>
          <p:nvPr/>
        </p:nvSpPr>
        <p:spPr>
          <a:xfrm>
            <a:off x="6006972" y="2801107"/>
            <a:ext cx="905042" cy="723117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Highlight Box"/>
          <p:cNvSpPr/>
          <p:nvPr/>
        </p:nvSpPr>
        <p:spPr>
          <a:xfrm>
            <a:off x="6006972" y="1849941"/>
            <a:ext cx="905042" cy="723117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2" name="Curved Connector 39"/>
          <p:cNvCxnSpPr>
            <a:stCxn id="173" idx="3"/>
            <a:endCxn id="191" idx="1"/>
          </p:cNvCxnSpPr>
          <p:nvPr/>
        </p:nvCxnSpPr>
        <p:spPr>
          <a:xfrm>
            <a:off x="6688937" y="2032820"/>
            <a:ext cx="1769263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urved Connector 39"/>
          <p:cNvCxnSpPr>
            <a:stCxn id="148" idx="3"/>
            <a:endCxn id="188" idx="1"/>
          </p:cNvCxnSpPr>
          <p:nvPr/>
        </p:nvCxnSpPr>
        <p:spPr>
          <a:xfrm>
            <a:off x="6688937" y="2971255"/>
            <a:ext cx="1769263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Curved Connector 39"/>
          <p:cNvCxnSpPr>
            <a:stCxn id="142" idx="3"/>
            <a:endCxn id="202" idx="1"/>
          </p:cNvCxnSpPr>
          <p:nvPr/>
        </p:nvCxnSpPr>
        <p:spPr>
          <a:xfrm>
            <a:off x="6688494" y="3909690"/>
            <a:ext cx="539635" cy="1"/>
          </a:xfrm>
          <a:prstGeom prst="straightConnector1">
            <a:avLst/>
          </a:prstGeom>
          <a:ln w="28575">
            <a:solidFill>
              <a:schemeClr val="accent1"/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" name="Group 224"/>
          <p:cNvGrpSpPr/>
          <p:nvPr/>
        </p:nvGrpSpPr>
        <p:grpSpPr>
          <a:xfrm>
            <a:off x="6226657" y="2393529"/>
            <a:ext cx="0" cy="1333282"/>
            <a:chOff x="6226657" y="2393529"/>
            <a:chExt cx="0" cy="1333282"/>
          </a:xfrm>
        </p:grpSpPr>
        <p:cxnSp>
          <p:nvCxnSpPr>
            <p:cNvPr id="158" name="Curved Connector 39"/>
            <p:cNvCxnSpPr>
              <a:stCxn id="150" idx="2"/>
              <a:endCxn id="139" idx="0"/>
            </p:cNvCxnSpPr>
            <p:nvPr/>
          </p:nvCxnSpPr>
          <p:spPr>
            <a:xfrm>
              <a:off x="6226657" y="3331964"/>
              <a:ext cx="0" cy="394847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urved Connector 39"/>
            <p:cNvCxnSpPr>
              <a:stCxn id="175" idx="2"/>
              <a:endCxn id="145" idx="0"/>
            </p:cNvCxnSpPr>
            <p:nvPr/>
          </p:nvCxnSpPr>
          <p:spPr>
            <a:xfrm>
              <a:off x="6226657" y="2393529"/>
              <a:ext cx="0" cy="394847"/>
            </a:xfrm>
            <a:prstGeom prst="straightConnector1">
              <a:avLst/>
            </a:prstGeom>
            <a:ln w="28575">
              <a:solidFill>
                <a:schemeClr val="accent1"/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Down Arrow 131">
            <a:extLst>
              <a:ext uri="{FF2B5EF4-FFF2-40B4-BE49-F238E27FC236}">
                <a16:creationId xmlns:a16="http://schemas.microsoft.com/office/drawing/2014/main" id="{E382F50A-942F-002D-823F-9D87799D2C04}"/>
              </a:ext>
            </a:extLst>
          </p:cNvPr>
          <p:cNvSpPr/>
          <p:nvPr/>
        </p:nvSpPr>
        <p:spPr>
          <a:xfrm rot="16200000">
            <a:off x="-35761" y="3701536"/>
            <a:ext cx="539698" cy="464582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35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81481E-6 L -8.33333E-7 -0.1787 " pathEditMode="relative" rAng="0" ptsTypes="AA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9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0.1787 L -8.33333E-7 -0.36944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5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5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5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5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25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5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5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25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25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2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2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5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5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750"/>
                            </p:stCondLst>
                            <p:childTnLst>
                              <p:par>
                                <p:cTn id="10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2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25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" grpId="0" animBg="1"/>
      <p:bldP spid="236" grpId="1" animBg="1"/>
      <p:bldP spid="181" grpId="0" animBg="1"/>
      <p:bldP spid="181" grpId="1" animBg="1"/>
      <p:bldP spid="182" grpId="0" animBg="1"/>
      <p:bldP spid="182" grpId="1" animBg="1"/>
      <p:bldP spid="193" grpId="0" animBg="1"/>
      <p:bldP spid="193" grpId="1" animBg="1"/>
      <p:bldP spid="11" grpId="0" animBg="1"/>
      <p:bldP spid="11" grpId="1" animBg="1"/>
      <p:bldP spid="11" grpId="2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oup 158"/>
          <p:cNvGrpSpPr/>
          <p:nvPr/>
        </p:nvGrpSpPr>
        <p:grpSpPr>
          <a:xfrm>
            <a:off x="8266084" y="1200150"/>
            <a:ext cx="838892" cy="3258180"/>
            <a:chOff x="113608" y="837569"/>
            <a:chExt cx="838892" cy="3258180"/>
          </a:xfrm>
        </p:grpSpPr>
        <p:sp>
          <p:nvSpPr>
            <p:cNvPr id="160" name="Rectangle 159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161" name="TextBox 15"/>
            <p:cNvSpPr txBox="1">
              <a:spLocks noChangeArrowheads="1"/>
            </p:cNvSpPr>
            <p:nvPr/>
          </p:nvSpPr>
          <p:spPr bwMode="auto">
            <a:xfrm>
              <a:off x="113608" y="837569"/>
              <a:ext cx="8388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pPr algn="ctr"/>
              <a:r>
                <a:rPr lang="en-US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End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77769" y="3726811"/>
            <a:ext cx="913957" cy="731520"/>
            <a:chOff x="1597819" y="3431974"/>
            <a:chExt cx="913957" cy="731520"/>
          </a:xfrm>
        </p:grpSpPr>
        <p:sp>
          <p:nvSpPr>
            <p:cNvPr id="4" name="Rectangle 3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2307398" y="2788376"/>
            <a:ext cx="914400" cy="731520"/>
            <a:chOff x="1597819" y="2526030"/>
            <a:chExt cx="914400" cy="731520"/>
          </a:xfrm>
        </p:grpSpPr>
        <p:sp>
          <p:nvSpPr>
            <p:cNvPr id="76" name="Rectangle 75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80" name="Group 79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96" name="Group 95"/>
          <p:cNvGrpSpPr/>
          <p:nvPr/>
        </p:nvGrpSpPr>
        <p:grpSpPr>
          <a:xfrm>
            <a:off x="2307841" y="3726811"/>
            <a:ext cx="913957" cy="731520"/>
            <a:chOff x="1597819" y="3431974"/>
            <a:chExt cx="913957" cy="731520"/>
          </a:xfrm>
        </p:grpSpPr>
        <p:sp>
          <p:nvSpPr>
            <p:cNvPr id="97" name="Rectangle 96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99" name="Group 98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00" name="Rectangle 9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09" name="Group 108"/>
          <p:cNvGrpSpPr/>
          <p:nvPr/>
        </p:nvGrpSpPr>
        <p:grpSpPr>
          <a:xfrm>
            <a:off x="3537913" y="3726811"/>
            <a:ext cx="913957" cy="731520"/>
            <a:chOff x="1597819" y="3431974"/>
            <a:chExt cx="913957" cy="731520"/>
          </a:xfrm>
        </p:grpSpPr>
        <p:sp>
          <p:nvSpPr>
            <p:cNvPr id="110" name="Rectangle 109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grpSp>
          <p:nvGrpSpPr>
            <p:cNvPr id="112" name="Group 111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13" name="Rectangle 112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17" name="Group 116"/>
          <p:cNvGrpSpPr/>
          <p:nvPr/>
        </p:nvGrpSpPr>
        <p:grpSpPr>
          <a:xfrm>
            <a:off x="4767985" y="3726811"/>
            <a:ext cx="913957" cy="731520"/>
            <a:chOff x="1597819" y="3431974"/>
            <a:chExt cx="913957" cy="731520"/>
          </a:xfrm>
        </p:grpSpPr>
        <p:sp>
          <p:nvSpPr>
            <p:cNvPr id="118" name="Rectangle 117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21" name="Rectangle 120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23" name="Group 122"/>
          <p:cNvGrpSpPr/>
          <p:nvPr/>
        </p:nvGrpSpPr>
        <p:grpSpPr>
          <a:xfrm>
            <a:off x="4767985" y="2788376"/>
            <a:ext cx="914400" cy="731520"/>
            <a:chOff x="1597819" y="2526030"/>
            <a:chExt cx="914400" cy="731520"/>
          </a:xfrm>
        </p:grpSpPr>
        <p:sp>
          <p:nvSpPr>
            <p:cNvPr id="124" name="Rectangle 123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5" name="Group 124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129" name="Rectangle 128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22" name="Group 221"/>
          <p:cNvGrpSpPr/>
          <p:nvPr/>
        </p:nvGrpSpPr>
        <p:grpSpPr>
          <a:xfrm>
            <a:off x="5998057" y="1849941"/>
            <a:ext cx="914400" cy="2608390"/>
            <a:chOff x="5998057" y="1849941"/>
            <a:chExt cx="914400" cy="2608390"/>
          </a:xfrm>
        </p:grpSpPr>
        <p:grpSp>
          <p:nvGrpSpPr>
            <p:cNvPr id="138" name="Group 137"/>
            <p:cNvGrpSpPr/>
            <p:nvPr/>
          </p:nvGrpSpPr>
          <p:grpSpPr>
            <a:xfrm>
              <a:off x="5998057" y="3726811"/>
              <a:ext cx="913957" cy="731520"/>
              <a:chOff x="1597819" y="3431974"/>
              <a:chExt cx="913957" cy="731520"/>
            </a:xfrm>
          </p:grpSpPr>
          <p:sp>
            <p:nvSpPr>
              <p:cNvPr id="139" name="Rectangle 138"/>
              <p:cNvSpPr/>
              <p:nvPr/>
            </p:nvSpPr>
            <p:spPr>
              <a:xfrm>
                <a:off x="1597819" y="343197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sp>
            <p:nvSpPr>
              <p:cNvPr id="140" name="Rectangle 139"/>
              <p:cNvSpPr/>
              <p:nvPr/>
            </p:nvSpPr>
            <p:spPr>
              <a:xfrm>
                <a:off x="1597819" y="379773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V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41" name="Group 140"/>
              <p:cNvGrpSpPr/>
              <p:nvPr/>
            </p:nvGrpSpPr>
            <p:grpSpPr>
              <a:xfrm>
                <a:off x="2054576" y="3431974"/>
                <a:ext cx="457200" cy="365760"/>
                <a:chOff x="1698611" y="3461328"/>
                <a:chExt cx="457200" cy="313459"/>
              </a:xfrm>
            </p:grpSpPr>
            <p:sp>
              <p:nvSpPr>
                <p:cNvPr id="142" name="Rectangle 141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43" name="Rectangle 142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44" name="Group 143"/>
            <p:cNvGrpSpPr/>
            <p:nvPr/>
          </p:nvGrpSpPr>
          <p:grpSpPr>
            <a:xfrm>
              <a:off x="5998057" y="2788376"/>
              <a:ext cx="914400" cy="731520"/>
              <a:chOff x="1597819" y="2526030"/>
              <a:chExt cx="914400" cy="731520"/>
            </a:xfrm>
          </p:grpSpPr>
          <p:sp>
            <p:nvSpPr>
              <p:cNvPr id="145" name="Rectangle 144"/>
              <p:cNvSpPr/>
              <p:nvPr/>
            </p:nvSpPr>
            <p:spPr>
              <a:xfrm>
                <a:off x="1597819" y="2526030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46" name="Group 145"/>
              <p:cNvGrpSpPr/>
              <p:nvPr/>
            </p:nvGrpSpPr>
            <p:grpSpPr>
              <a:xfrm>
                <a:off x="1597819" y="2891790"/>
                <a:ext cx="457200" cy="365760"/>
                <a:chOff x="1698611" y="3461328"/>
                <a:chExt cx="457200" cy="313459"/>
              </a:xfrm>
            </p:grpSpPr>
            <p:sp>
              <p:nvSpPr>
                <p:cNvPr id="150" name="Rectangle 149"/>
                <p:cNvSpPr/>
                <p:nvPr/>
              </p:nvSpPr>
              <p:spPr>
                <a:xfrm>
                  <a:off x="1835771" y="3461328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51" name="Rectangle 150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147" name="Group 146"/>
              <p:cNvGrpSpPr/>
              <p:nvPr/>
            </p:nvGrpSpPr>
            <p:grpSpPr>
              <a:xfrm>
                <a:off x="2055019" y="2526030"/>
                <a:ext cx="457200" cy="365760"/>
                <a:chOff x="1698611" y="3461328"/>
                <a:chExt cx="457200" cy="313459"/>
              </a:xfrm>
            </p:grpSpPr>
            <p:sp>
              <p:nvSpPr>
                <p:cNvPr id="148" name="Rectangle 147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49" name="Rectangle 148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69" name="Group 168"/>
            <p:cNvGrpSpPr/>
            <p:nvPr/>
          </p:nvGrpSpPr>
          <p:grpSpPr>
            <a:xfrm>
              <a:off x="5998057" y="1849941"/>
              <a:ext cx="914400" cy="731520"/>
              <a:chOff x="1597819" y="2526030"/>
              <a:chExt cx="914400" cy="73152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1597819" y="2526030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71" name="Group 170"/>
              <p:cNvGrpSpPr/>
              <p:nvPr/>
            </p:nvGrpSpPr>
            <p:grpSpPr>
              <a:xfrm>
                <a:off x="1597819" y="2891790"/>
                <a:ext cx="457200" cy="365760"/>
                <a:chOff x="1698611" y="3461328"/>
                <a:chExt cx="457200" cy="313459"/>
              </a:xfrm>
            </p:grpSpPr>
            <p:sp>
              <p:nvSpPr>
                <p:cNvPr id="175" name="Rectangle 174"/>
                <p:cNvSpPr/>
                <p:nvPr/>
              </p:nvSpPr>
              <p:spPr>
                <a:xfrm>
                  <a:off x="1835771" y="3461328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76" name="Rectangle 175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172" name="Group 171"/>
              <p:cNvGrpSpPr/>
              <p:nvPr/>
            </p:nvGrpSpPr>
            <p:grpSpPr>
              <a:xfrm>
                <a:off x="2055019" y="2526030"/>
                <a:ext cx="457200" cy="365760"/>
                <a:chOff x="1698611" y="3461328"/>
                <a:chExt cx="457200" cy="313459"/>
              </a:xfrm>
            </p:grpSpPr>
            <p:sp>
              <p:nvSpPr>
                <p:cNvPr id="173" name="Rectangle 172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74" name="Rectangle 173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</p:grpSp>
      <p:grpSp>
        <p:nvGrpSpPr>
          <p:cNvPr id="201" name="Group 200"/>
          <p:cNvGrpSpPr/>
          <p:nvPr/>
        </p:nvGrpSpPr>
        <p:grpSpPr>
          <a:xfrm>
            <a:off x="7228129" y="3726811"/>
            <a:ext cx="913957" cy="731520"/>
            <a:chOff x="1597819" y="3431974"/>
            <a:chExt cx="913957" cy="731520"/>
          </a:xfrm>
        </p:grpSpPr>
        <p:sp>
          <p:nvSpPr>
            <p:cNvPr id="202" name="Rectangle 201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grpSp>
          <p:nvGrpSpPr>
            <p:cNvPr id="204" name="Group 203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205" name="Rectangle 204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15" name="Group 214"/>
          <p:cNvGrpSpPr/>
          <p:nvPr/>
        </p:nvGrpSpPr>
        <p:grpSpPr>
          <a:xfrm>
            <a:off x="32072" y="1200150"/>
            <a:ext cx="1029392" cy="3258180"/>
            <a:chOff x="32072" y="837569"/>
            <a:chExt cx="1029392" cy="3258180"/>
          </a:xfrm>
        </p:grpSpPr>
        <p:sp>
          <p:nvSpPr>
            <p:cNvPr id="211" name="Rectangle 210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12" name="TextBox 15"/>
            <p:cNvSpPr txBox="1">
              <a:spLocks noChangeArrowheads="1"/>
            </p:cNvSpPr>
            <p:nvPr/>
          </p:nvSpPr>
          <p:spPr bwMode="auto">
            <a:xfrm>
              <a:off x="32072" y="837569"/>
              <a:ext cx="10293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pPr algn="ctr"/>
              <a:r>
                <a:rPr lang="en-US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Levels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Lists: SEARCH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20</a:t>
            </a:fld>
            <a:endParaRPr lang="en-US" dirty="0"/>
          </a:p>
        </p:txBody>
      </p:sp>
      <p:cxnSp>
        <p:nvCxnSpPr>
          <p:cNvPr id="39" name="Curved Connector 39"/>
          <p:cNvCxnSpPr>
            <a:stCxn id="30" idx="3"/>
            <a:endCxn id="97" idx="1"/>
          </p:cNvCxnSpPr>
          <p:nvPr/>
        </p:nvCxnSpPr>
        <p:spPr>
          <a:xfrm>
            <a:off x="1768206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39"/>
          <p:cNvCxnSpPr>
            <a:stCxn id="81" idx="2"/>
            <a:endCxn id="97" idx="0"/>
          </p:cNvCxnSpPr>
          <p:nvPr/>
        </p:nvCxnSpPr>
        <p:spPr>
          <a:xfrm>
            <a:off x="2535998" y="3331964"/>
            <a:ext cx="443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39"/>
          <p:cNvCxnSpPr>
            <a:stCxn id="113" idx="3"/>
            <a:endCxn id="118" idx="1"/>
          </p:cNvCxnSpPr>
          <p:nvPr/>
        </p:nvCxnSpPr>
        <p:spPr>
          <a:xfrm>
            <a:off x="4228350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urved Connector 39"/>
          <p:cNvCxnSpPr>
            <a:stCxn id="100" idx="3"/>
            <a:endCxn id="110" idx="1"/>
          </p:cNvCxnSpPr>
          <p:nvPr/>
        </p:nvCxnSpPr>
        <p:spPr>
          <a:xfrm>
            <a:off x="2998278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39"/>
          <p:cNvCxnSpPr>
            <a:stCxn id="129" idx="2"/>
            <a:endCxn id="118" idx="0"/>
          </p:cNvCxnSpPr>
          <p:nvPr/>
        </p:nvCxnSpPr>
        <p:spPr>
          <a:xfrm>
            <a:off x="4996585" y="3331964"/>
            <a:ext cx="0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urved Connector 39"/>
          <p:cNvCxnSpPr>
            <a:stCxn id="86" idx="3"/>
            <a:endCxn id="124" idx="1"/>
          </p:cNvCxnSpPr>
          <p:nvPr/>
        </p:nvCxnSpPr>
        <p:spPr>
          <a:xfrm>
            <a:off x="2998278" y="2971255"/>
            <a:ext cx="1769707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/>
          <p:cNvGrpSpPr/>
          <p:nvPr/>
        </p:nvGrpSpPr>
        <p:grpSpPr>
          <a:xfrm>
            <a:off x="304454" y="3726811"/>
            <a:ext cx="457200" cy="365760"/>
            <a:chOff x="1698611" y="3461328"/>
            <a:chExt cx="457200" cy="313459"/>
          </a:xfrm>
        </p:grpSpPr>
        <p:sp>
          <p:nvSpPr>
            <p:cNvPr id="90" name="Rectangle 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304454" y="2788376"/>
            <a:ext cx="457200" cy="365760"/>
            <a:chOff x="1698611" y="3461328"/>
            <a:chExt cx="457200" cy="313459"/>
          </a:xfrm>
        </p:grpSpPr>
        <p:sp>
          <p:nvSpPr>
            <p:cNvPr id="93" name="Rectangle 92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304454" y="1849941"/>
            <a:ext cx="457200" cy="365760"/>
            <a:chOff x="1698611" y="3461328"/>
            <a:chExt cx="457200" cy="313459"/>
          </a:xfrm>
        </p:grpSpPr>
        <p:sp>
          <p:nvSpPr>
            <p:cNvPr id="178" name="Rectangle 177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cxnSp>
        <p:nvCxnSpPr>
          <p:cNvPr id="152" name="Curved Connector 39"/>
          <p:cNvCxnSpPr>
            <a:stCxn id="127" idx="3"/>
            <a:endCxn id="145" idx="1"/>
          </p:cNvCxnSpPr>
          <p:nvPr/>
        </p:nvCxnSpPr>
        <p:spPr>
          <a:xfrm>
            <a:off x="5458865" y="2971255"/>
            <a:ext cx="539192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urved Connector 39"/>
          <p:cNvCxnSpPr>
            <a:stCxn id="121" idx="3"/>
            <a:endCxn id="139" idx="1"/>
          </p:cNvCxnSpPr>
          <p:nvPr/>
        </p:nvCxnSpPr>
        <p:spPr>
          <a:xfrm>
            <a:off x="5458422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urved Connector 39"/>
          <p:cNvCxnSpPr>
            <a:stCxn id="178" idx="3"/>
            <a:endCxn id="170" idx="1"/>
          </p:cNvCxnSpPr>
          <p:nvPr/>
        </p:nvCxnSpPr>
        <p:spPr>
          <a:xfrm flipV="1">
            <a:off x="531784" y="2032821"/>
            <a:ext cx="5466273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Group 182"/>
          <p:cNvGrpSpPr/>
          <p:nvPr/>
        </p:nvGrpSpPr>
        <p:grpSpPr>
          <a:xfrm>
            <a:off x="8456930" y="3726811"/>
            <a:ext cx="457200" cy="365760"/>
            <a:chOff x="1698611" y="3461328"/>
            <a:chExt cx="457200" cy="313459"/>
          </a:xfrm>
        </p:grpSpPr>
        <p:sp>
          <p:nvSpPr>
            <p:cNvPr id="184" name="Rectangle 183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endParaRPr lang="en-US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endParaRP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6" name="Group 185"/>
          <p:cNvGrpSpPr/>
          <p:nvPr/>
        </p:nvGrpSpPr>
        <p:grpSpPr>
          <a:xfrm>
            <a:off x="8456930" y="2788376"/>
            <a:ext cx="457200" cy="365760"/>
            <a:chOff x="1698611" y="3461328"/>
            <a:chExt cx="457200" cy="313459"/>
          </a:xfrm>
        </p:grpSpPr>
        <p:sp>
          <p:nvSpPr>
            <p:cNvPr id="187" name="Rectangle 186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endParaRPr lang="en-US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endParaRP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9" name="Group 188"/>
          <p:cNvGrpSpPr/>
          <p:nvPr/>
        </p:nvGrpSpPr>
        <p:grpSpPr>
          <a:xfrm>
            <a:off x="8456930" y="1849941"/>
            <a:ext cx="457200" cy="365760"/>
            <a:chOff x="1698611" y="3461328"/>
            <a:chExt cx="457200" cy="313459"/>
          </a:xfrm>
        </p:grpSpPr>
        <p:sp>
          <p:nvSpPr>
            <p:cNvPr id="190" name="Rectangle 1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endParaRPr lang="en-US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224" name="Group 223"/>
          <p:cNvGrpSpPr/>
          <p:nvPr/>
        </p:nvGrpSpPr>
        <p:grpSpPr>
          <a:xfrm>
            <a:off x="6688494" y="2032820"/>
            <a:ext cx="1768436" cy="1876871"/>
            <a:chOff x="6688494" y="2032820"/>
            <a:chExt cx="1768436" cy="1876871"/>
          </a:xfrm>
        </p:grpSpPr>
        <p:cxnSp>
          <p:nvCxnSpPr>
            <p:cNvPr id="192" name="Curved Connector 39"/>
            <p:cNvCxnSpPr>
              <a:stCxn id="173" idx="3"/>
              <a:endCxn id="191" idx="1"/>
            </p:cNvCxnSpPr>
            <p:nvPr/>
          </p:nvCxnSpPr>
          <p:spPr>
            <a:xfrm>
              <a:off x="6688937" y="2032820"/>
              <a:ext cx="1767993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39"/>
            <p:cNvCxnSpPr>
              <a:stCxn id="148" idx="3"/>
              <a:endCxn id="188" idx="1"/>
            </p:cNvCxnSpPr>
            <p:nvPr/>
          </p:nvCxnSpPr>
          <p:spPr>
            <a:xfrm>
              <a:off x="6688937" y="2971255"/>
              <a:ext cx="1767993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urved Connector 39"/>
            <p:cNvCxnSpPr>
              <a:stCxn id="142" idx="3"/>
              <a:endCxn id="202" idx="1"/>
            </p:cNvCxnSpPr>
            <p:nvPr/>
          </p:nvCxnSpPr>
          <p:spPr>
            <a:xfrm>
              <a:off x="6688494" y="3909690"/>
              <a:ext cx="5396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8" name="Curved Connector 39"/>
          <p:cNvCxnSpPr>
            <a:stCxn id="205" idx="3"/>
            <a:endCxn id="185" idx="1"/>
          </p:cNvCxnSpPr>
          <p:nvPr/>
        </p:nvCxnSpPr>
        <p:spPr>
          <a:xfrm>
            <a:off x="7918566" y="3909690"/>
            <a:ext cx="53836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39"/>
          <p:cNvCxnSpPr>
            <a:stCxn id="90" idx="3"/>
            <a:endCxn id="4" idx="1"/>
          </p:cNvCxnSpPr>
          <p:nvPr/>
        </p:nvCxnSpPr>
        <p:spPr>
          <a:xfrm flipV="1">
            <a:off x="531784" y="3909691"/>
            <a:ext cx="54598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urved Connector 39"/>
          <p:cNvCxnSpPr>
            <a:stCxn id="93" idx="3"/>
            <a:endCxn id="76" idx="1"/>
          </p:cNvCxnSpPr>
          <p:nvPr/>
        </p:nvCxnSpPr>
        <p:spPr>
          <a:xfrm flipV="1">
            <a:off x="531784" y="2971256"/>
            <a:ext cx="177561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urved Connector 39"/>
          <p:cNvCxnSpPr>
            <a:stCxn id="150" idx="2"/>
            <a:endCxn id="139" idx="0"/>
          </p:cNvCxnSpPr>
          <p:nvPr/>
        </p:nvCxnSpPr>
        <p:spPr>
          <a:xfrm>
            <a:off x="6226657" y="3331964"/>
            <a:ext cx="0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urved Connector 39"/>
          <p:cNvCxnSpPr>
            <a:stCxn id="175" idx="2"/>
            <a:endCxn id="145" idx="0"/>
          </p:cNvCxnSpPr>
          <p:nvPr/>
        </p:nvCxnSpPr>
        <p:spPr>
          <a:xfrm>
            <a:off x="6226657" y="2393529"/>
            <a:ext cx="0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964431" y="1640656"/>
            <a:ext cx="1169169" cy="442429"/>
          </a:xfrm>
          <a:prstGeom prst="rect">
            <a:avLst/>
          </a:prstGeom>
          <a:noFill/>
        </p:spPr>
        <p:txBody>
          <a:bodyPr wrap="square" lIns="45720" tIns="45720" rIns="0" bIns="45720" rtlCol="0" anchor="ctr" anchorCtr="0">
            <a:spAutoFit/>
          </a:bodyPr>
          <a:lstStyle/>
          <a:p>
            <a:pPr>
              <a:lnSpc>
                <a:spcPct val="75000"/>
              </a:lnSpc>
            </a:pPr>
            <a:r>
              <a:rPr lang="en-US" sz="2800" b="1" i="1" dirty="0">
                <a:solidFill>
                  <a:schemeClr val="accent1"/>
                </a:solidFill>
                <a:latin typeface="Crimson Text" pitchFamily="2" charset="0"/>
              </a:rPr>
              <a:t>K</a:t>
            </a:r>
            <a:r>
              <a:rPr lang="en-US" sz="2800" b="1" i="1" baseline="-25000" dirty="0">
                <a:solidFill>
                  <a:schemeClr val="accent1"/>
                </a:solidFill>
                <a:latin typeface="Crimson Text" pitchFamily="2" charset="0"/>
              </a:rPr>
              <a:t>3</a:t>
            </a:r>
            <a:r>
              <a:rPr lang="en-US" sz="2800" b="1" i="1" dirty="0">
                <a:solidFill>
                  <a:schemeClr val="accent1"/>
                </a:solidFill>
                <a:latin typeface="Crimson Text" pitchFamily="2" charset="0"/>
              </a:rPr>
              <a:t>&lt;K</a:t>
            </a:r>
            <a:r>
              <a:rPr lang="en-US" sz="2800" b="1" i="1" baseline="-25000" dirty="0">
                <a:solidFill>
                  <a:schemeClr val="accent1"/>
                </a:solidFill>
                <a:latin typeface="Crimson Text" pitchFamily="2" charset="0"/>
              </a:rP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64431" y="2566941"/>
            <a:ext cx="1169169" cy="442429"/>
          </a:xfrm>
          <a:prstGeom prst="rect">
            <a:avLst/>
          </a:prstGeom>
          <a:noFill/>
        </p:spPr>
        <p:txBody>
          <a:bodyPr wrap="square" lIns="45720" tIns="45720" rIns="0" bIns="45720" rtlCol="0" anchor="ctr" anchorCtr="0">
            <a:spAutoFit/>
          </a:bodyPr>
          <a:lstStyle/>
          <a:p>
            <a:pPr>
              <a:lnSpc>
                <a:spcPct val="75000"/>
              </a:lnSpc>
            </a:pPr>
            <a:r>
              <a:rPr lang="en-US" sz="2800" b="1" i="1" dirty="0">
                <a:solidFill>
                  <a:schemeClr val="accent1"/>
                </a:solidFill>
                <a:latin typeface="Crimson Text" pitchFamily="2" charset="0"/>
              </a:rPr>
              <a:t>K</a:t>
            </a:r>
            <a:r>
              <a:rPr lang="en-US" sz="2800" b="1" i="1" baseline="-25000" dirty="0">
                <a:solidFill>
                  <a:schemeClr val="accent1"/>
                </a:solidFill>
                <a:latin typeface="Crimson Text" pitchFamily="2" charset="0"/>
              </a:rPr>
              <a:t>3</a:t>
            </a:r>
            <a:r>
              <a:rPr lang="en-US" sz="2800" b="1" i="1" dirty="0">
                <a:solidFill>
                  <a:schemeClr val="accent1"/>
                </a:solidFill>
                <a:latin typeface="Crimson Text" pitchFamily="2" charset="0"/>
              </a:rPr>
              <a:t>&gt;K</a:t>
            </a:r>
            <a:r>
              <a:rPr lang="en-US" sz="2800" b="1" i="1" baseline="-25000" dirty="0">
                <a:solidFill>
                  <a:schemeClr val="accent1"/>
                </a:solidFill>
                <a:latin typeface="Crimson Text" pitchFamily="2" charset="0"/>
              </a:rPr>
              <a:t>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285298" y="2575758"/>
            <a:ext cx="1169169" cy="442429"/>
          </a:xfrm>
          <a:prstGeom prst="rect">
            <a:avLst/>
          </a:prstGeom>
          <a:noFill/>
        </p:spPr>
        <p:txBody>
          <a:bodyPr wrap="square" lIns="45720" tIns="45720" rIns="0" bIns="45720" rtlCol="0" anchor="ctr" anchorCtr="0">
            <a:spAutoFit/>
          </a:bodyPr>
          <a:lstStyle>
            <a:defPPr>
              <a:defRPr lang="en-US"/>
            </a:defPPr>
            <a:lvl1pPr>
              <a:lnSpc>
                <a:spcPct val="75000"/>
              </a:lnSpc>
              <a:defRPr sz="2000" b="1" i="1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1pPr>
          </a:lstStyle>
          <a:p>
            <a:r>
              <a:rPr lang="en-US" sz="2800" dirty="0">
                <a:solidFill>
                  <a:schemeClr val="accent1"/>
                </a:solidFill>
                <a:latin typeface="Crimson Text" pitchFamily="2" charset="0"/>
              </a:rPr>
              <a:t>K</a:t>
            </a:r>
            <a:r>
              <a:rPr lang="en-US" sz="2800" baseline="-25000" dirty="0">
                <a:solidFill>
                  <a:schemeClr val="accent1"/>
                </a:solidFill>
                <a:latin typeface="Crimson Text" pitchFamily="2" charset="0"/>
              </a:rPr>
              <a:t>3</a:t>
            </a:r>
            <a:r>
              <a:rPr lang="en-US" sz="2800" dirty="0">
                <a:solidFill>
                  <a:schemeClr val="accent1"/>
                </a:solidFill>
                <a:latin typeface="Crimson Text" pitchFamily="2" charset="0"/>
              </a:rPr>
              <a:t>&lt;K</a:t>
            </a:r>
            <a:r>
              <a:rPr lang="en-US" sz="2800" baseline="-25000" dirty="0">
                <a:solidFill>
                  <a:schemeClr val="accent1"/>
                </a:solidFill>
                <a:latin typeface="Crimson Text" pitchFamily="2" charset="0"/>
              </a:rPr>
              <a:t>4</a:t>
            </a:r>
          </a:p>
        </p:txBody>
      </p:sp>
      <p:sp>
        <p:nvSpPr>
          <p:cNvPr id="137" name="Highlight Box"/>
          <p:cNvSpPr/>
          <p:nvPr/>
        </p:nvSpPr>
        <p:spPr>
          <a:xfrm>
            <a:off x="3537691" y="3726811"/>
            <a:ext cx="913957" cy="731519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2" name="Down Arrow 131"/>
          <p:cNvSpPr/>
          <p:nvPr/>
        </p:nvSpPr>
        <p:spPr>
          <a:xfrm rot="16200000">
            <a:off x="-35761" y="1810075"/>
            <a:ext cx="539698" cy="464582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3" name="Highlight Box"/>
          <p:cNvSpPr/>
          <p:nvPr/>
        </p:nvSpPr>
        <p:spPr>
          <a:xfrm>
            <a:off x="2307398" y="2788376"/>
            <a:ext cx="913957" cy="731519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4" name="Highlight Box"/>
          <p:cNvSpPr/>
          <p:nvPr/>
        </p:nvSpPr>
        <p:spPr>
          <a:xfrm>
            <a:off x="5998057" y="1849942"/>
            <a:ext cx="913957" cy="731519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7" name="Highlight Box"/>
          <p:cNvSpPr/>
          <p:nvPr/>
        </p:nvSpPr>
        <p:spPr>
          <a:xfrm>
            <a:off x="4768428" y="2788376"/>
            <a:ext cx="913957" cy="731519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Content Placeholder 28">
            <a:extLst>
              <a:ext uri="{FF2B5EF4-FFF2-40B4-BE49-F238E27FC236}">
                <a16:creationId xmlns:a16="http://schemas.microsoft.com/office/drawing/2014/main" id="{0CA9A5CB-4D95-5FEF-8A8D-A0FCD2E6DC7C}"/>
              </a:ext>
            </a:extLst>
          </p:cNvPr>
          <p:cNvSpPr txBox="1">
            <a:spLocks/>
          </p:cNvSpPr>
          <p:nvPr/>
        </p:nvSpPr>
        <p:spPr>
          <a:xfrm>
            <a:off x="2822726" y="666750"/>
            <a:ext cx="3498549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 i="1">
                <a:solidFill>
                  <a:schemeClr val="bg1">
                    <a:lumMod val="50000"/>
                  </a:schemeClr>
                </a:solidFill>
                <a:latin typeface="Proxima Nova Rg" panose="02000506030000020004" pitchFamily="50" charset="0"/>
                <a:ea typeface="Crimson Text" pitchFamily="2" charset="0"/>
              </a:defRPr>
            </a:lvl1pPr>
            <a:lvl2pPr marL="0" indent="-342900">
              <a:spcBef>
                <a:spcPts val="0"/>
              </a:spcBef>
              <a:buFont typeface="Times New Roman" pitchFamily="18" charset="0"/>
              <a:buChar char="→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Find K</a:t>
            </a:r>
            <a:r>
              <a:rPr lang="en-US" sz="24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6781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3.58025E-6 L -8.33333E-7 0.1771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8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"/>
                            </p:stCondLst>
                            <p:childTnLst>
                              <p:par>
                                <p:cTn id="39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0.17716 L 0.20781 0.17716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8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5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"/>
                            </p:stCondLst>
                            <p:childTnLst>
                              <p:par>
                                <p:cTn id="55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781 0.17716 L 0.20781 0.36976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50"/>
                            </p:stCondLst>
                            <p:childTnLst>
                              <p:par>
                                <p:cTn id="58" presetID="63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781 0.36976 L 0.34948 0.36976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25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/>
      <p:bldP spid="135" grpId="0"/>
      <p:bldP spid="136" grpId="0"/>
      <p:bldP spid="137" grpId="0" animBg="1"/>
      <p:bldP spid="132" grpId="0" animBg="1"/>
      <p:bldP spid="132" grpId="1" animBg="1"/>
      <p:bldP spid="132" grpId="2" animBg="1"/>
      <p:bldP spid="132" grpId="3" animBg="1"/>
      <p:bldP spid="132" grpId="4" animBg="1"/>
      <p:bldP spid="153" grpId="0" animBg="1"/>
      <p:bldP spid="153" grpId="1" animBg="1"/>
      <p:bldP spid="154" grpId="0" animBg="1"/>
      <p:bldP spid="154" grpId="1" animBg="1"/>
      <p:bldP spid="157" grpId="0" animBg="1"/>
      <p:bldP spid="157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Lists: DELETE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</a:t>
            </a:r>
            <a:r>
              <a:rPr lang="en-US" b="1" u="sng" dirty="0"/>
              <a:t>logically</a:t>
            </a:r>
            <a:r>
              <a:rPr lang="en-US" dirty="0"/>
              <a:t> remove a key from the index by setting a flag to tell threads to ignore.</a:t>
            </a:r>
          </a:p>
          <a:p>
            <a:endParaRPr lang="en-US" sz="1200" dirty="0"/>
          </a:p>
          <a:p>
            <a:r>
              <a:rPr lang="en-US" dirty="0"/>
              <a:t>Then </a:t>
            </a:r>
            <a:r>
              <a:rPr lang="en-US" b="1" u="sng" dirty="0"/>
              <a:t>physically</a:t>
            </a:r>
            <a:r>
              <a:rPr lang="en-US" dirty="0"/>
              <a:t> remove the key once we know that no other thread is holding the reference.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>
                <a:solidFill>
                  <a:prstClr val="white">
                    <a:lumMod val="50000"/>
                  </a:prstClr>
                </a:solidFill>
              </a:rPr>
              <a:pPr/>
              <a:t>21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3998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oup 158"/>
          <p:cNvGrpSpPr/>
          <p:nvPr/>
        </p:nvGrpSpPr>
        <p:grpSpPr>
          <a:xfrm>
            <a:off x="8266084" y="1200150"/>
            <a:ext cx="838892" cy="3258180"/>
            <a:chOff x="113608" y="837569"/>
            <a:chExt cx="838892" cy="3258180"/>
          </a:xfrm>
        </p:grpSpPr>
        <p:sp>
          <p:nvSpPr>
            <p:cNvPr id="160" name="Rectangle 159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161" name="TextBox 15"/>
            <p:cNvSpPr txBox="1">
              <a:spLocks noChangeArrowheads="1"/>
            </p:cNvSpPr>
            <p:nvPr/>
          </p:nvSpPr>
          <p:spPr bwMode="auto">
            <a:xfrm>
              <a:off x="113608" y="837569"/>
              <a:ext cx="8388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pPr algn="ctr"/>
              <a:r>
                <a:rPr lang="en-US" dirty="0"/>
                <a:t>End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77769" y="3726811"/>
            <a:ext cx="913957" cy="731520"/>
            <a:chOff x="1597819" y="3431974"/>
            <a:chExt cx="913957" cy="731520"/>
          </a:xfrm>
        </p:grpSpPr>
        <p:sp>
          <p:nvSpPr>
            <p:cNvPr id="4" name="Rectangle 3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2307398" y="2788376"/>
            <a:ext cx="914400" cy="731520"/>
            <a:chOff x="1597819" y="2526030"/>
            <a:chExt cx="914400" cy="731520"/>
          </a:xfrm>
        </p:grpSpPr>
        <p:sp>
          <p:nvSpPr>
            <p:cNvPr id="76" name="Rectangle 75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80" name="Group 79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96" name="Group 95"/>
          <p:cNvGrpSpPr/>
          <p:nvPr/>
        </p:nvGrpSpPr>
        <p:grpSpPr>
          <a:xfrm>
            <a:off x="2307841" y="3726811"/>
            <a:ext cx="913957" cy="731520"/>
            <a:chOff x="1597819" y="3431974"/>
            <a:chExt cx="913957" cy="731520"/>
          </a:xfrm>
        </p:grpSpPr>
        <p:sp>
          <p:nvSpPr>
            <p:cNvPr id="97" name="Rectangle 96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99" name="Group 98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00" name="Rectangle 9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09" name="Group 108"/>
          <p:cNvGrpSpPr/>
          <p:nvPr/>
        </p:nvGrpSpPr>
        <p:grpSpPr>
          <a:xfrm>
            <a:off x="3537913" y="3726811"/>
            <a:ext cx="913957" cy="731520"/>
            <a:chOff x="1597819" y="3431974"/>
            <a:chExt cx="913957" cy="731520"/>
          </a:xfrm>
        </p:grpSpPr>
        <p:sp>
          <p:nvSpPr>
            <p:cNvPr id="110" name="Rectangle 109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grpSp>
          <p:nvGrpSpPr>
            <p:cNvPr id="112" name="Group 111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13" name="Rectangle 112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17" name="Group 116"/>
          <p:cNvGrpSpPr/>
          <p:nvPr/>
        </p:nvGrpSpPr>
        <p:grpSpPr>
          <a:xfrm>
            <a:off x="4767985" y="3726811"/>
            <a:ext cx="913957" cy="731520"/>
            <a:chOff x="1597819" y="3431974"/>
            <a:chExt cx="913957" cy="731520"/>
          </a:xfrm>
        </p:grpSpPr>
        <p:sp>
          <p:nvSpPr>
            <p:cNvPr id="118" name="Rectangle 117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21" name="Rectangle 120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23" name="Group 122"/>
          <p:cNvGrpSpPr/>
          <p:nvPr/>
        </p:nvGrpSpPr>
        <p:grpSpPr>
          <a:xfrm>
            <a:off x="4767985" y="2788376"/>
            <a:ext cx="914400" cy="731520"/>
            <a:chOff x="1597819" y="2526030"/>
            <a:chExt cx="914400" cy="731520"/>
          </a:xfrm>
        </p:grpSpPr>
        <p:sp>
          <p:nvSpPr>
            <p:cNvPr id="124" name="Rectangle 123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5" name="Group 124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129" name="Rectangle 128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22" name="Group 221"/>
          <p:cNvGrpSpPr/>
          <p:nvPr/>
        </p:nvGrpSpPr>
        <p:grpSpPr>
          <a:xfrm>
            <a:off x="5998057" y="1849941"/>
            <a:ext cx="914400" cy="2608390"/>
            <a:chOff x="5998057" y="1849941"/>
            <a:chExt cx="914400" cy="2608390"/>
          </a:xfrm>
        </p:grpSpPr>
        <p:grpSp>
          <p:nvGrpSpPr>
            <p:cNvPr id="138" name="Group 137"/>
            <p:cNvGrpSpPr/>
            <p:nvPr/>
          </p:nvGrpSpPr>
          <p:grpSpPr>
            <a:xfrm>
              <a:off x="5998057" y="3726811"/>
              <a:ext cx="913957" cy="731520"/>
              <a:chOff x="1597819" y="3431974"/>
              <a:chExt cx="913957" cy="731520"/>
            </a:xfrm>
          </p:grpSpPr>
          <p:sp>
            <p:nvSpPr>
              <p:cNvPr id="139" name="Rectangle 138"/>
              <p:cNvSpPr/>
              <p:nvPr/>
            </p:nvSpPr>
            <p:spPr>
              <a:xfrm>
                <a:off x="1597819" y="343197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sp>
            <p:nvSpPr>
              <p:cNvPr id="140" name="Rectangle 139"/>
              <p:cNvSpPr/>
              <p:nvPr/>
            </p:nvSpPr>
            <p:spPr>
              <a:xfrm>
                <a:off x="1597819" y="379773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V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41" name="Group 140"/>
              <p:cNvGrpSpPr/>
              <p:nvPr/>
            </p:nvGrpSpPr>
            <p:grpSpPr>
              <a:xfrm>
                <a:off x="2054576" y="3431974"/>
                <a:ext cx="457200" cy="365760"/>
                <a:chOff x="1698611" y="3461328"/>
                <a:chExt cx="457200" cy="313459"/>
              </a:xfrm>
            </p:grpSpPr>
            <p:sp>
              <p:nvSpPr>
                <p:cNvPr id="142" name="Rectangle 141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43" name="Rectangle 142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44" name="Group 143"/>
            <p:cNvGrpSpPr/>
            <p:nvPr/>
          </p:nvGrpSpPr>
          <p:grpSpPr>
            <a:xfrm>
              <a:off x="5998057" y="2788376"/>
              <a:ext cx="914400" cy="731520"/>
              <a:chOff x="1597819" y="2526030"/>
              <a:chExt cx="914400" cy="731520"/>
            </a:xfrm>
          </p:grpSpPr>
          <p:sp>
            <p:nvSpPr>
              <p:cNvPr id="145" name="Rectangle 144"/>
              <p:cNvSpPr/>
              <p:nvPr/>
            </p:nvSpPr>
            <p:spPr>
              <a:xfrm>
                <a:off x="1597819" y="2526030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46" name="Group 145"/>
              <p:cNvGrpSpPr/>
              <p:nvPr/>
            </p:nvGrpSpPr>
            <p:grpSpPr>
              <a:xfrm>
                <a:off x="1597819" y="2891790"/>
                <a:ext cx="457200" cy="365760"/>
                <a:chOff x="1698611" y="3461328"/>
                <a:chExt cx="457200" cy="313459"/>
              </a:xfrm>
            </p:grpSpPr>
            <p:sp>
              <p:nvSpPr>
                <p:cNvPr id="150" name="Rectangle 149"/>
                <p:cNvSpPr/>
                <p:nvPr/>
              </p:nvSpPr>
              <p:spPr>
                <a:xfrm>
                  <a:off x="1835771" y="3461328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51" name="Rectangle 150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147" name="Group 146"/>
              <p:cNvGrpSpPr/>
              <p:nvPr/>
            </p:nvGrpSpPr>
            <p:grpSpPr>
              <a:xfrm>
                <a:off x="2055019" y="2526030"/>
                <a:ext cx="457200" cy="365760"/>
                <a:chOff x="1698611" y="3461328"/>
                <a:chExt cx="457200" cy="313459"/>
              </a:xfrm>
            </p:grpSpPr>
            <p:sp>
              <p:nvSpPr>
                <p:cNvPr id="148" name="Rectangle 147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49" name="Rectangle 148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69" name="Group 168"/>
            <p:cNvGrpSpPr/>
            <p:nvPr/>
          </p:nvGrpSpPr>
          <p:grpSpPr>
            <a:xfrm>
              <a:off x="5998057" y="1849941"/>
              <a:ext cx="914400" cy="731520"/>
              <a:chOff x="1597819" y="2526030"/>
              <a:chExt cx="914400" cy="73152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1597819" y="2526030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71" name="Group 170"/>
              <p:cNvGrpSpPr/>
              <p:nvPr/>
            </p:nvGrpSpPr>
            <p:grpSpPr>
              <a:xfrm>
                <a:off x="1597819" y="2891790"/>
                <a:ext cx="457200" cy="365760"/>
                <a:chOff x="1698611" y="3461328"/>
                <a:chExt cx="457200" cy="313459"/>
              </a:xfrm>
            </p:grpSpPr>
            <p:sp>
              <p:nvSpPr>
                <p:cNvPr id="175" name="Rectangle 174"/>
                <p:cNvSpPr/>
                <p:nvPr/>
              </p:nvSpPr>
              <p:spPr>
                <a:xfrm>
                  <a:off x="1835771" y="3461328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76" name="Rectangle 175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172" name="Group 171"/>
              <p:cNvGrpSpPr/>
              <p:nvPr/>
            </p:nvGrpSpPr>
            <p:grpSpPr>
              <a:xfrm>
                <a:off x="2055019" y="2526030"/>
                <a:ext cx="457200" cy="365760"/>
                <a:chOff x="1698611" y="3461328"/>
                <a:chExt cx="457200" cy="313459"/>
              </a:xfrm>
            </p:grpSpPr>
            <p:sp>
              <p:nvSpPr>
                <p:cNvPr id="173" name="Rectangle 172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74" name="Rectangle 173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</p:grpSp>
      <p:grpSp>
        <p:nvGrpSpPr>
          <p:cNvPr id="201" name="Group 200"/>
          <p:cNvGrpSpPr/>
          <p:nvPr/>
        </p:nvGrpSpPr>
        <p:grpSpPr>
          <a:xfrm>
            <a:off x="7228129" y="3726811"/>
            <a:ext cx="913957" cy="731520"/>
            <a:chOff x="1597819" y="3431974"/>
            <a:chExt cx="913957" cy="731520"/>
          </a:xfrm>
        </p:grpSpPr>
        <p:sp>
          <p:nvSpPr>
            <p:cNvPr id="202" name="Rectangle 201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grpSp>
          <p:nvGrpSpPr>
            <p:cNvPr id="204" name="Group 203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205" name="Rectangle 204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15" name="Group 214"/>
          <p:cNvGrpSpPr/>
          <p:nvPr/>
        </p:nvGrpSpPr>
        <p:grpSpPr>
          <a:xfrm>
            <a:off x="67015" y="1200150"/>
            <a:ext cx="964161" cy="3258180"/>
            <a:chOff x="67015" y="837569"/>
            <a:chExt cx="964161" cy="3258180"/>
          </a:xfrm>
        </p:grpSpPr>
        <p:sp>
          <p:nvSpPr>
            <p:cNvPr id="211" name="Rectangle 210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12" name="TextBox 15"/>
            <p:cNvSpPr txBox="1">
              <a:spLocks noChangeArrowheads="1"/>
            </p:cNvSpPr>
            <p:nvPr/>
          </p:nvSpPr>
          <p:spPr bwMode="auto">
            <a:xfrm>
              <a:off x="67015" y="837569"/>
              <a:ext cx="96416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pPr algn="ctr"/>
              <a:r>
                <a:rPr lang="en-US" dirty="0"/>
                <a:t>Levels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Lists: DELETE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22</a:t>
            </a:fld>
            <a:endParaRPr lang="en-US" dirty="0"/>
          </a:p>
        </p:txBody>
      </p:sp>
      <p:cxnSp>
        <p:nvCxnSpPr>
          <p:cNvPr id="39" name="Curved Connector 39"/>
          <p:cNvCxnSpPr>
            <a:stCxn id="30" idx="3"/>
            <a:endCxn id="97" idx="1"/>
          </p:cNvCxnSpPr>
          <p:nvPr/>
        </p:nvCxnSpPr>
        <p:spPr>
          <a:xfrm>
            <a:off x="1768206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39"/>
          <p:cNvCxnSpPr>
            <a:stCxn id="81" idx="2"/>
            <a:endCxn id="97" idx="0"/>
          </p:cNvCxnSpPr>
          <p:nvPr/>
        </p:nvCxnSpPr>
        <p:spPr>
          <a:xfrm>
            <a:off x="2535998" y="3331964"/>
            <a:ext cx="443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39"/>
          <p:cNvCxnSpPr>
            <a:stCxn id="113" idx="3"/>
            <a:endCxn id="118" idx="1"/>
          </p:cNvCxnSpPr>
          <p:nvPr/>
        </p:nvCxnSpPr>
        <p:spPr>
          <a:xfrm>
            <a:off x="4228350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urved Connector 39"/>
          <p:cNvCxnSpPr>
            <a:stCxn id="100" idx="3"/>
            <a:endCxn id="110" idx="1"/>
          </p:cNvCxnSpPr>
          <p:nvPr/>
        </p:nvCxnSpPr>
        <p:spPr>
          <a:xfrm>
            <a:off x="2998278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39"/>
          <p:cNvCxnSpPr>
            <a:stCxn id="129" idx="2"/>
            <a:endCxn id="118" idx="0"/>
          </p:cNvCxnSpPr>
          <p:nvPr/>
        </p:nvCxnSpPr>
        <p:spPr>
          <a:xfrm>
            <a:off x="4996585" y="3331964"/>
            <a:ext cx="0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urved Connector 39"/>
          <p:cNvCxnSpPr>
            <a:stCxn id="86" idx="3"/>
            <a:endCxn id="124" idx="1"/>
          </p:cNvCxnSpPr>
          <p:nvPr/>
        </p:nvCxnSpPr>
        <p:spPr>
          <a:xfrm>
            <a:off x="2998278" y="2971255"/>
            <a:ext cx="1769707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/>
          <p:cNvGrpSpPr/>
          <p:nvPr/>
        </p:nvGrpSpPr>
        <p:grpSpPr>
          <a:xfrm>
            <a:off x="304454" y="3726811"/>
            <a:ext cx="457200" cy="365760"/>
            <a:chOff x="1698611" y="3461328"/>
            <a:chExt cx="457200" cy="313459"/>
          </a:xfrm>
        </p:grpSpPr>
        <p:sp>
          <p:nvSpPr>
            <p:cNvPr id="90" name="Rectangle 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304454" y="2788376"/>
            <a:ext cx="457200" cy="365760"/>
            <a:chOff x="1698611" y="3461328"/>
            <a:chExt cx="457200" cy="313459"/>
          </a:xfrm>
        </p:grpSpPr>
        <p:sp>
          <p:nvSpPr>
            <p:cNvPr id="93" name="Rectangle 92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304454" y="1849941"/>
            <a:ext cx="457200" cy="365760"/>
            <a:chOff x="1698611" y="3461328"/>
            <a:chExt cx="457200" cy="313459"/>
          </a:xfrm>
        </p:grpSpPr>
        <p:sp>
          <p:nvSpPr>
            <p:cNvPr id="178" name="Rectangle 177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cxnSp>
        <p:nvCxnSpPr>
          <p:cNvPr id="152" name="Curved Connector 39"/>
          <p:cNvCxnSpPr>
            <a:stCxn id="127" idx="3"/>
            <a:endCxn id="145" idx="1"/>
          </p:cNvCxnSpPr>
          <p:nvPr/>
        </p:nvCxnSpPr>
        <p:spPr>
          <a:xfrm>
            <a:off x="5458865" y="2971255"/>
            <a:ext cx="539192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urved Connector 39"/>
          <p:cNvCxnSpPr>
            <a:stCxn id="121" idx="3"/>
            <a:endCxn id="139" idx="1"/>
          </p:cNvCxnSpPr>
          <p:nvPr/>
        </p:nvCxnSpPr>
        <p:spPr>
          <a:xfrm>
            <a:off x="5458422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urved Connector 39"/>
          <p:cNvCxnSpPr>
            <a:stCxn id="178" idx="3"/>
            <a:endCxn id="170" idx="1"/>
          </p:cNvCxnSpPr>
          <p:nvPr/>
        </p:nvCxnSpPr>
        <p:spPr>
          <a:xfrm flipV="1">
            <a:off x="531784" y="2032821"/>
            <a:ext cx="5466273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Group 182"/>
          <p:cNvGrpSpPr/>
          <p:nvPr/>
        </p:nvGrpSpPr>
        <p:grpSpPr>
          <a:xfrm>
            <a:off x="8456930" y="3726811"/>
            <a:ext cx="457200" cy="365760"/>
            <a:chOff x="1698611" y="3461328"/>
            <a:chExt cx="457200" cy="313459"/>
          </a:xfrm>
        </p:grpSpPr>
        <p:sp>
          <p:nvSpPr>
            <p:cNvPr id="184" name="Rectangle 183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endParaRPr lang="en-US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endParaRP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6" name="Group 185"/>
          <p:cNvGrpSpPr/>
          <p:nvPr/>
        </p:nvGrpSpPr>
        <p:grpSpPr>
          <a:xfrm>
            <a:off x="8456930" y="2788376"/>
            <a:ext cx="457200" cy="365760"/>
            <a:chOff x="1698611" y="3461328"/>
            <a:chExt cx="457200" cy="313459"/>
          </a:xfrm>
        </p:grpSpPr>
        <p:sp>
          <p:nvSpPr>
            <p:cNvPr id="187" name="Rectangle 186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endParaRPr lang="en-US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endParaRP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9" name="Group 188"/>
          <p:cNvGrpSpPr/>
          <p:nvPr/>
        </p:nvGrpSpPr>
        <p:grpSpPr>
          <a:xfrm>
            <a:off x="8456930" y="1849941"/>
            <a:ext cx="457200" cy="365760"/>
            <a:chOff x="1698611" y="3461328"/>
            <a:chExt cx="457200" cy="313459"/>
          </a:xfrm>
        </p:grpSpPr>
        <p:sp>
          <p:nvSpPr>
            <p:cNvPr id="190" name="Rectangle 1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endParaRPr lang="en-US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224" name="Group 223"/>
          <p:cNvGrpSpPr/>
          <p:nvPr/>
        </p:nvGrpSpPr>
        <p:grpSpPr>
          <a:xfrm>
            <a:off x="6688494" y="2032820"/>
            <a:ext cx="1768436" cy="1876871"/>
            <a:chOff x="6688494" y="2032820"/>
            <a:chExt cx="1768436" cy="1876871"/>
          </a:xfrm>
        </p:grpSpPr>
        <p:cxnSp>
          <p:nvCxnSpPr>
            <p:cNvPr id="192" name="Curved Connector 39"/>
            <p:cNvCxnSpPr>
              <a:stCxn id="173" idx="3"/>
              <a:endCxn id="191" idx="1"/>
            </p:cNvCxnSpPr>
            <p:nvPr/>
          </p:nvCxnSpPr>
          <p:spPr>
            <a:xfrm>
              <a:off x="6688937" y="2032820"/>
              <a:ext cx="1767993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39"/>
            <p:cNvCxnSpPr>
              <a:stCxn id="148" idx="3"/>
              <a:endCxn id="188" idx="1"/>
            </p:cNvCxnSpPr>
            <p:nvPr/>
          </p:nvCxnSpPr>
          <p:spPr>
            <a:xfrm>
              <a:off x="6688937" y="2971255"/>
              <a:ext cx="1767993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urved Connector 39"/>
            <p:cNvCxnSpPr>
              <a:stCxn id="142" idx="3"/>
              <a:endCxn id="202" idx="1"/>
            </p:cNvCxnSpPr>
            <p:nvPr/>
          </p:nvCxnSpPr>
          <p:spPr>
            <a:xfrm>
              <a:off x="6688494" y="3909690"/>
              <a:ext cx="5396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8" name="Curved Connector 39"/>
          <p:cNvCxnSpPr>
            <a:stCxn id="205" idx="3"/>
            <a:endCxn id="185" idx="1"/>
          </p:cNvCxnSpPr>
          <p:nvPr/>
        </p:nvCxnSpPr>
        <p:spPr>
          <a:xfrm>
            <a:off x="7918566" y="3909690"/>
            <a:ext cx="53836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39"/>
          <p:cNvCxnSpPr>
            <a:stCxn id="90" idx="3"/>
            <a:endCxn id="4" idx="1"/>
          </p:cNvCxnSpPr>
          <p:nvPr/>
        </p:nvCxnSpPr>
        <p:spPr>
          <a:xfrm flipV="1">
            <a:off x="531784" y="3909691"/>
            <a:ext cx="54598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urved Connector 39"/>
          <p:cNvCxnSpPr>
            <a:stCxn id="93" idx="3"/>
            <a:endCxn id="76" idx="1"/>
          </p:cNvCxnSpPr>
          <p:nvPr/>
        </p:nvCxnSpPr>
        <p:spPr>
          <a:xfrm flipV="1">
            <a:off x="531784" y="2971256"/>
            <a:ext cx="177561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" name="Group 224"/>
          <p:cNvGrpSpPr/>
          <p:nvPr/>
        </p:nvGrpSpPr>
        <p:grpSpPr>
          <a:xfrm>
            <a:off x="6226657" y="2393529"/>
            <a:ext cx="0" cy="1333282"/>
            <a:chOff x="6226657" y="2393529"/>
            <a:chExt cx="0" cy="1333282"/>
          </a:xfrm>
        </p:grpSpPr>
        <p:cxnSp>
          <p:nvCxnSpPr>
            <p:cNvPr id="158" name="Curved Connector 39"/>
            <p:cNvCxnSpPr>
              <a:stCxn id="150" idx="2"/>
              <a:endCxn id="139" idx="0"/>
            </p:cNvCxnSpPr>
            <p:nvPr/>
          </p:nvCxnSpPr>
          <p:spPr>
            <a:xfrm>
              <a:off x="6226657" y="3331964"/>
              <a:ext cx="0" cy="394847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urved Connector 39"/>
            <p:cNvCxnSpPr>
              <a:stCxn id="175" idx="2"/>
              <a:endCxn id="145" idx="0"/>
            </p:cNvCxnSpPr>
            <p:nvPr/>
          </p:nvCxnSpPr>
          <p:spPr>
            <a:xfrm>
              <a:off x="6226657" y="2393529"/>
              <a:ext cx="0" cy="394847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9" name="Rectangle 238"/>
          <p:cNvSpPr/>
          <p:nvPr/>
        </p:nvSpPr>
        <p:spPr>
          <a:xfrm>
            <a:off x="6455257" y="4092570"/>
            <a:ext cx="457200" cy="365760"/>
          </a:xfrm>
          <a:prstGeom prst="rect">
            <a:avLst/>
          </a:prstGeom>
          <a:solidFill>
            <a:schemeClr val="accent1"/>
          </a:solidFill>
          <a:ln>
            <a:solidFill>
              <a:srgbClr val="4443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>
              <a:lnSpc>
                <a:spcPct val="80000"/>
              </a:lnSpc>
            </a:pPr>
            <a:r>
              <a:rPr lang="en-US" sz="1100" b="1" dirty="0">
                <a:solidFill>
                  <a:schemeClr val="bg1"/>
                </a:solidFill>
                <a:latin typeface="Inconsolata" panose="00000509000000000000" pitchFamily="49" charset="0"/>
                <a:ea typeface="DejaVu Sans Mono" pitchFamily="49" charset="0"/>
                <a:cs typeface="Consolas" pitchFamily="49" charset="0"/>
              </a:rPr>
              <a:t>Del?</a:t>
            </a:r>
          </a:p>
          <a:p>
            <a:pPr algn="ctr">
              <a:lnSpc>
                <a:spcPct val="80000"/>
              </a:lnSpc>
            </a:pPr>
            <a:r>
              <a:rPr lang="en-US" sz="1100" i="1" dirty="0">
                <a:solidFill>
                  <a:schemeClr val="bg1"/>
                </a:solidFill>
                <a:latin typeface="Inconsolata" panose="00000509000000000000" pitchFamily="49" charset="0"/>
                <a:ea typeface="DejaVu Sans Mono" pitchFamily="49" charset="0"/>
                <a:cs typeface="Consolas" pitchFamily="49" charset="0"/>
              </a:rPr>
              <a:t>false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534526" y="4092570"/>
            <a:ext cx="6607560" cy="365760"/>
            <a:chOff x="1534526" y="4092570"/>
            <a:chExt cx="6607560" cy="365760"/>
          </a:xfrm>
          <a:solidFill>
            <a:schemeClr val="accent1"/>
          </a:solidFill>
        </p:grpSpPr>
        <p:sp>
          <p:nvSpPr>
            <p:cNvPr id="165" name="Rectangle 164"/>
            <p:cNvSpPr/>
            <p:nvPr/>
          </p:nvSpPr>
          <p:spPr>
            <a:xfrm>
              <a:off x="1534526" y="4092570"/>
              <a:ext cx="457200" cy="365760"/>
            </a:xfrm>
            <a:prstGeom prst="rect">
              <a:avLst/>
            </a:prstGeom>
            <a:grpFill/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Del?</a:t>
              </a:r>
            </a:p>
            <a:p>
              <a:pPr algn="ctr">
                <a:lnSpc>
                  <a:spcPct val="800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false</a:t>
              </a:r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2764598" y="4092570"/>
              <a:ext cx="457200" cy="365760"/>
            </a:xfrm>
            <a:prstGeom prst="rect">
              <a:avLst/>
            </a:prstGeom>
            <a:grpFill/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Del?</a:t>
              </a:r>
            </a:p>
            <a:p>
              <a:pPr algn="ctr">
                <a:lnSpc>
                  <a:spcPct val="800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false</a:t>
              </a:r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3994670" y="4092570"/>
              <a:ext cx="457200" cy="365760"/>
            </a:xfrm>
            <a:prstGeom prst="rect">
              <a:avLst/>
            </a:prstGeom>
            <a:grpFill/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Del?</a:t>
              </a:r>
            </a:p>
            <a:p>
              <a:pPr algn="ctr">
                <a:lnSpc>
                  <a:spcPct val="800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false</a:t>
              </a:r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5224742" y="4092570"/>
              <a:ext cx="457200" cy="365760"/>
            </a:xfrm>
            <a:prstGeom prst="rect">
              <a:avLst/>
            </a:prstGeom>
            <a:grpFill/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Del?</a:t>
              </a:r>
            </a:p>
            <a:p>
              <a:pPr algn="ctr">
                <a:lnSpc>
                  <a:spcPct val="800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false</a:t>
              </a:r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7684886" y="4092570"/>
              <a:ext cx="457200" cy="365760"/>
            </a:xfrm>
            <a:prstGeom prst="rect">
              <a:avLst/>
            </a:prstGeom>
            <a:grpFill/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1100" b="1" dirty="0">
                  <a:solidFill>
                    <a:schemeClr val="bg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Del?</a:t>
              </a:r>
            </a:p>
            <a:p>
              <a:pPr algn="ctr">
                <a:lnSpc>
                  <a:spcPct val="800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false</a:t>
              </a:r>
            </a:p>
          </p:txBody>
        </p:sp>
      </p:grpSp>
      <p:sp>
        <p:nvSpPr>
          <p:cNvPr id="220" name="DEL=TRUE"/>
          <p:cNvSpPr/>
          <p:nvPr/>
        </p:nvSpPr>
        <p:spPr>
          <a:xfrm>
            <a:off x="6454813" y="4092570"/>
            <a:ext cx="457200" cy="365760"/>
          </a:xfrm>
          <a:prstGeom prst="rect">
            <a:avLst/>
          </a:prstGeom>
          <a:solidFill>
            <a:srgbClr val="00B050"/>
          </a:solidFill>
          <a:ln>
            <a:solidFill>
              <a:srgbClr val="4443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>
              <a:lnSpc>
                <a:spcPct val="80000"/>
              </a:lnSpc>
            </a:pPr>
            <a:r>
              <a:rPr lang="en-US" sz="1100" b="1" dirty="0">
                <a:solidFill>
                  <a:schemeClr val="bg1"/>
                </a:solidFill>
                <a:latin typeface="Inconsolata" panose="00000509000000000000" pitchFamily="49" charset="0"/>
                <a:ea typeface="DejaVu Sans Mono" pitchFamily="49" charset="0"/>
                <a:cs typeface="Consolas" pitchFamily="49" charset="0"/>
              </a:rPr>
              <a:t>Del?</a:t>
            </a:r>
          </a:p>
          <a:p>
            <a:pPr algn="ctr">
              <a:lnSpc>
                <a:spcPct val="80000"/>
              </a:lnSpc>
            </a:pPr>
            <a:r>
              <a:rPr lang="en-US" sz="1100" dirty="0">
                <a:solidFill>
                  <a:schemeClr val="bg1"/>
                </a:solidFill>
                <a:latin typeface="Inconsolata" panose="00000509000000000000" pitchFamily="49" charset="0"/>
                <a:ea typeface="DejaVu Sans Mono" pitchFamily="49" charset="0"/>
                <a:cs typeface="Consolas" pitchFamily="49" charset="0"/>
              </a:rPr>
              <a:t>true</a:t>
            </a:r>
          </a:p>
        </p:txBody>
      </p:sp>
      <p:grpSp>
        <p:nvGrpSpPr>
          <p:cNvPr id="221" name="Group 220"/>
          <p:cNvGrpSpPr/>
          <p:nvPr/>
        </p:nvGrpSpPr>
        <p:grpSpPr>
          <a:xfrm>
            <a:off x="5458422" y="3909690"/>
            <a:ext cx="1769707" cy="1049688"/>
            <a:chOff x="5458422" y="3909690"/>
            <a:chExt cx="1769707" cy="1049688"/>
          </a:xfrm>
        </p:grpSpPr>
        <p:cxnSp>
          <p:nvCxnSpPr>
            <p:cNvPr id="226" name="Curved Connector 39"/>
            <p:cNvCxnSpPr>
              <a:endCxn id="227" idx="1"/>
            </p:cNvCxnSpPr>
            <p:nvPr/>
          </p:nvCxnSpPr>
          <p:spPr>
            <a:xfrm>
              <a:off x="5458422" y="3909690"/>
              <a:ext cx="859675" cy="960774"/>
            </a:xfrm>
            <a:prstGeom prst="bentConnector3">
              <a:avLst>
                <a:gd name="adj1" fmla="val 46676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angle 226"/>
            <p:cNvSpPr/>
            <p:nvPr/>
          </p:nvSpPr>
          <p:spPr>
            <a:xfrm>
              <a:off x="6318097" y="4781550"/>
              <a:ext cx="0" cy="177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8" name="Curved Connector 39"/>
            <p:cNvCxnSpPr>
              <a:stCxn id="227" idx="3"/>
            </p:cNvCxnSpPr>
            <p:nvPr/>
          </p:nvCxnSpPr>
          <p:spPr>
            <a:xfrm flipV="1">
              <a:off x="6318098" y="3909691"/>
              <a:ext cx="910031" cy="960773"/>
            </a:xfrm>
            <a:prstGeom prst="bentConnector3">
              <a:avLst>
                <a:gd name="adj1" fmla="val 80877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none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Highlight Box"/>
          <p:cNvSpPr/>
          <p:nvPr/>
        </p:nvSpPr>
        <p:spPr>
          <a:xfrm>
            <a:off x="5860454" y="1748176"/>
            <a:ext cx="1188720" cy="2880974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0" name="Group 229"/>
          <p:cNvGrpSpPr/>
          <p:nvPr/>
        </p:nvGrpSpPr>
        <p:grpSpPr>
          <a:xfrm>
            <a:off x="5458865" y="2971255"/>
            <a:ext cx="2999335" cy="692723"/>
            <a:chOff x="5306465" y="2818855"/>
            <a:chExt cx="2999335" cy="692723"/>
          </a:xfrm>
        </p:grpSpPr>
        <p:cxnSp>
          <p:nvCxnSpPr>
            <p:cNvPr id="231" name="Curved Connector 39"/>
            <p:cNvCxnSpPr>
              <a:endCxn id="232" idx="1"/>
            </p:cNvCxnSpPr>
            <p:nvPr/>
          </p:nvCxnSpPr>
          <p:spPr>
            <a:xfrm>
              <a:off x="5306465" y="2818855"/>
              <a:ext cx="1005306" cy="603809"/>
            </a:xfrm>
            <a:prstGeom prst="bentConnector3">
              <a:avLst>
                <a:gd name="adj1" fmla="val 40094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Rectangle 231"/>
            <p:cNvSpPr/>
            <p:nvPr/>
          </p:nvSpPr>
          <p:spPr>
            <a:xfrm>
              <a:off x="6311771" y="3333750"/>
              <a:ext cx="0" cy="177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3" name="Curved Connector 39"/>
            <p:cNvCxnSpPr>
              <a:stCxn id="232" idx="3"/>
            </p:cNvCxnSpPr>
            <p:nvPr/>
          </p:nvCxnSpPr>
          <p:spPr>
            <a:xfrm flipV="1">
              <a:off x="6311772" y="2818856"/>
              <a:ext cx="1994028" cy="603808"/>
            </a:xfrm>
            <a:prstGeom prst="bentConnector3">
              <a:avLst>
                <a:gd name="adj1" fmla="val 29569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none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4" name="Group 233"/>
          <p:cNvGrpSpPr/>
          <p:nvPr/>
        </p:nvGrpSpPr>
        <p:grpSpPr>
          <a:xfrm>
            <a:off x="531784" y="1504950"/>
            <a:ext cx="7926416" cy="527872"/>
            <a:chOff x="2738150" y="3493071"/>
            <a:chExt cx="7926416" cy="527872"/>
          </a:xfrm>
        </p:grpSpPr>
        <p:cxnSp>
          <p:nvCxnSpPr>
            <p:cNvPr id="235" name="Curved Connector 39"/>
            <p:cNvCxnSpPr>
              <a:endCxn id="236" idx="1"/>
            </p:cNvCxnSpPr>
            <p:nvPr/>
          </p:nvCxnSpPr>
          <p:spPr>
            <a:xfrm flipV="1">
              <a:off x="2738150" y="3581985"/>
              <a:ext cx="5927110" cy="438958"/>
            </a:xfrm>
            <a:prstGeom prst="bentConnector3">
              <a:avLst>
                <a:gd name="adj1" fmla="val 89867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" name="Rectangle 235"/>
            <p:cNvSpPr/>
            <p:nvPr/>
          </p:nvSpPr>
          <p:spPr>
            <a:xfrm>
              <a:off x="8665260" y="3493071"/>
              <a:ext cx="0" cy="1778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8" name="Curved Connector 39"/>
            <p:cNvCxnSpPr>
              <a:stCxn id="236" idx="3"/>
            </p:cNvCxnSpPr>
            <p:nvPr/>
          </p:nvCxnSpPr>
          <p:spPr>
            <a:xfrm>
              <a:off x="8665261" y="3581985"/>
              <a:ext cx="1999305" cy="438957"/>
            </a:xfrm>
            <a:prstGeom prst="bentConnector3">
              <a:avLst>
                <a:gd name="adj1" fmla="val 30076"/>
              </a:avLst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none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28">
            <a:extLst>
              <a:ext uri="{FF2B5EF4-FFF2-40B4-BE49-F238E27FC236}">
                <a16:creationId xmlns:a16="http://schemas.microsoft.com/office/drawing/2014/main" id="{D7E5C81D-0264-A4A2-BF5A-124BB99F49D1}"/>
              </a:ext>
            </a:extLst>
          </p:cNvPr>
          <p:cNvSpPr txBox="1">
            <a:spLocks/>
          </p:cNvSpPr>
          <p:nvPr/>
        </p:nvSpPr>
        <p:spPr>
          <a:xfrm>
            <a:off x="2822726" y="666750"/>
            <a:ext cx="3498549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 i="1">
                <a:solidFill>
                  <a:schemeClr val="bg1">
                    <a:lumMod val="50000"/>
                  </a:schemeClr>
                </a:solidFill>
                <a:latin typeface="Proxima Nova Rg" panose="02000506030000020004" pitchFamily="50" charset="0"/>
                <a:ea typeface="Crimson Text" pitchFamily="2" charset="0"/>
              </a:defRPr>
            </a:lvl1pPr>
            <a:lvl2pPr marL="0" indent="-342900">
              <a:spcBef>
                <a:spcPts val="0"/>
              </a:spcBef>
              <a:buFont typeface="Times New Roman" pitchFamily="18" charset="0"/>
              <a:buChar char="→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Delete K</a:t>
            </a:r>
            <a:r>
              <a:rPr lang="en-US" sz="24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489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5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5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5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25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25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2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5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" grpId="0" animBg="1"/>
      <p:bldP spid="239" grpId="1" animBg="1"/>
      <p:bldP spid="220" grpId="0" animBg="1"/>
      <p:bldP spid="220" grpId="1" animBg="1"/>
      <p:bldP spid="229" grpId="0" animBg="1"/>
      <p:bldP spid="229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roup 158"/>
          <p:cNvGrpSpPr/>
          <p:nvPr/>
        </p:nvGrpSpPr>
        <p:grpSpPr>
          <a:xfrm>
            <a:off x="8266084" y="1200150"/>
            <a:ext cx="838892" cy="3258180"/>
            <a:chOff x="113608" y="837569"/>
            <a:chExt cx="838892" cy="3258180"/>
          </a:xfrm>
        </p:grpSpPr>
        <p:sp>
          <p:nvSpPr>
            <p:cNvPr id="160" name="Rectangle 159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161" name="TextBox 15"/>
            <p:cNvSpPr txBox="1">
              <a:spLocks noChangeArrowheads="1"/>
            </p:cNvSpPr>
            <p:nvPr/>
          </p:nvSpPr>
          <p:spPr bwMode="auto">
            <a:xfrm>
              <a:off x="113608" y="837569"/>
              <a:ext cx="8388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pPr algn="ctr"/>
              <a:r>
                <a:rPr lang="en-US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End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77769" y="3726811"/>
            <a:ext cx="913957" cy="731520"/>
            <a:chOff x="1597819" y="3431974"/>
            <a:chExt cx="913957" cy="731520"/>
          </a:xfrm>
        </p:grpSpPr>
        <p:sp>
          <p:nvSpPr>
            <p:cNvPr id="4" name="Rectangle 3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2307398" y="2788376"/>
            <a:ext cx="914400" cy="731520"/>
            <a:chOff x="1597819" y="2526030"/>
            <a:chExt cx="914400" cy="731520"/>
          </a:xfrm>
        </p:grpSpPr>
        <p:sp>
          <p:nvSpPr>
            <p:cNvPr id="76" name="Rectangle 75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80" name="Group 79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96" name="Group 95"/>
          <p:cNvGrpSpPr/>
          <p:nvPr/>
        </p:nvGrpSpPr>
        <p:grpSpPr>
          <a:xfrm>
            <a:off x="2307841" y="3726811"/>
            <a:ext cx="913957" cy="731520"/>
            <a:chOff x="1597819" y="3431974"/>
            <a:chExt cx="913957" cy="731520"/>
          </a:xfrm>
        </p:grpSpPr>
        <p:sp>
          <p:nvSpPr>
            <p:cNvPr id="97" name="Rectangle 96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99" name="Group 98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00" name="Rectangle 9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09" name="Group 108"/>
          <p:cNvGrpSpPr/>
          <p:nvPr/>
        </p:nvGrpSpPr>
        <p:grpSpPr>
          <a:xfrm>
            <a:off x="3537913" y="3726811"/>
            <a:ext cx="913957" cy="731520"/>
            <a:chOff x="1597819" y="3431974"/>
            <a:chExt cx="913957" cy="731520"/>
          </a:xfrm>
        </p:grpSpPr>
        <p:sp>
          <p:nvSpPr>
            <p:cNvPr id="110" name="Rectangle 109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grpSp>
          <p:nvGrpSpPr>
            <p:cNvPr id="112" name="Group 111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13" name="Rectangle 112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17" name="Group 116"/>
          <p:cNvGrpSpPr/>
          <p:nvPr/>
        </p:nvGrpSpPr>
        <p:grpSpPr>
          <a:xfrm>
            <a:off x="4767985" y="3726811"/>
            <a:ext cx="913957" cy="731520"/>
            <a:chOff x="1597819" y="3431974"/>
            <a:chExt cx="913957" cy="731520"/>
          </a:xfrm>
        </p:grpSpPr>
        <p:sp>
          <p:nvSpPr>
            <p:cNvPr id="118" name="Rectangle 117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21" name="Rectangle 120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23" name="Group 122"/>
          <p:cNvGrpSpPr/>
          <p:nvPr/>
        </p:nvGrpSpPr>
        <p:grpSpPr>
          <a:xfrm>
            <a:off x="4767985" y="2788376"/>
            <a:ext cx="914400" cy="731520"/>
            <a:chOff x="1597819" y="2526030"/>
            <a:chExt cx="914400" cy="731520"/>
          </a:xfrm>
        </p:grpSpPr>
        <p:sp>
          <p:nvSpPr>
            <p:cNvPr id="124" name="Rectangle 123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5" name="Group 124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129" name="Rectangle 128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22" name="Group 221"/>
          <p:cNvGrpSpPr/>
          <p:nvPr/>
        </p:nvGrpSpPr>
        <p:grpSpPr>
          <a:xfrm>
            <a:off x="5998057" y="1849941"/>
            <a:ext cx="914400" cy="2608390"/>
            <a:chOff x="5998057" y="1849941"/>
            <a:chExt cx="914400" cy="2608390"/>
          </a:xfrm>
        </p:grpSpPr>
        <p:grpSp>
          <p:nvGrpSpPr>
            <p:cNvPr id="138" name="Group 137"/>
            <p:cNvGrpSpPr/>
            <p:nvPr/>
          </p:nvGrpSpPr>
          <p:grpSpPr>
            <a:xfrm>
              <a:off x="5998057" y="3726811"/>
              <a:ext cx="913957" cy="731520"/>
              <a:chOff x="1597819" y="3431974"/>
              <a:chExt cx="913957" cy="731520"/>
            </a:xfrm>
          </p:grpSpPr>
          <p:sp>
            <p:nvSpPr>
              <p:cNvPr id="139" name="Rectangle 138"/>
              <p:cNvSpPr/>
              <p:nvPr/>
            </p:nvSpPr>
            <p:spPr>
              <a:xfrm>
                <a:off x="1597819" y="343197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sp>
            <p:nvSpPr>
              <p:cNvPr id="140" name="Rectangle 139"/>
              <p:cNvSpPr/>
              <p:nvPr/>
            </p:nvSpPr>
            <p:spPr>
              <a:xfrm>
                <a:off x="1597819" y="379773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V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41" name="Group 140"/>
              <p:cNvGrpSpPr/>
              <p:nvPr/>
            </p:nvGrpSpPr>
            <p:grpSpPr>
              <a:xfrm>
                <a:off x="2054576" y="3431974"/>
                <a:ext cx="457200" cy="365760"/>
                <a:chOff x="1698611" y="3461328"/>
                <a:chExt cx="457200" cy="313459"/>
              </a:xfrm>
            </p:grpSpPr>
            <p:sp>
              <p:nvSpPr>
                <p:cNvPr id="142" name="Rectangle 141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43" name="Rectangle 142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44" name="Group 143"/>
            <p:cNvGrpSpPr/>
            <p:nvPr/>
          </p:nvGrpSpPr>
          <p:grpSpPr>
            <a:xfrm>
              <a:off x="5998057" y="2788376"/>
              <a:ext cx="914400" cy="731520"/>
              <a:chOff x="1597819" y="2526030"/>
              <a:chExt cx="914400" cy="731520"/>
            </a:xfrm>
          </p:grpSpPr>
          <p:sp>
            <p:nvSpPr>
              <p:cNvPr id="145" name="Rectangle 144"/>
              <p:cNvSpPr/>
              <p:nvPr/>
            </p:nvSpPr>
            <p:spPr>
              <a:xfrm>
                <a:off x="1597819" y="2526030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46" name="Group 145"/>
              <p:cNvGrpSpPr/>
              <p:nvPr/>
            </p:nvGrpSpPr>
            <p:grpSpPr>
              <a:xfrm>
                <a:off x="1597819" y="2891790"/>
                <a:ext cx="457200" cy="365760"/>
                <a:chOff x="1698611" y="3461328"/>
                <a:chExt cx="457200" cy="313459"/>
              </a:xfrm>
            </p:grpSpPr>
            <p:sp>
              <p:nvSpPr>
                <p:cNvPr id="150" name="Rectangle 149"/>
                <p:cNvSpPr/>
                <p:nvPr/>
              </p:nvSpPr>
              <p:spPr>
                <a:xfrm>
                  <a:off x="1835771" y="3461328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51" name="Rectangle 150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147" name="Group 146"/>
              <p:cNvGrpSpPr/>
              <p:nvPr/>
            </p:nvGrpSpPr>
            <p:grpSpPr>
              <a:xfrm>
                <a:off x="2055019" y="2526030"/>
                <a:ext cx="457200" cy="365760"/>
                <a:chOff x="1698611" y="3461328"/>
                <a:chExt cx="457200" cy="313459"/>
              </a:xfrm>
            </p:grpSpPr>
            <p:sp>
              <p:nvSpPr>
                <p:cNvPr id="148" name="Rectangle 147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49" name="Rectangle 148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69" name="Group 168"/>
            <p:cNvGrpSpPr/>
            <p:nvPr/>
          </p:nvGrpSpPr>
          <p:grpSpPr>
            <a:xfrm>
              <a:off x="5998057" y="1849941"/>
              <a:ext cx="914400" cy="731520"/>
              <a:chOff x="1597819" y="2526030"/>
              <a:chExt cx="914400" cy="731520"/>
            </a:xfrm>
          </p:grpSpPr>
          <p:sp>
            <p:nvSpPr>
              <p:cNvPr id="170" name="Rectangle 169"/>
              <p:cNvSpPr/>
              <p:nvPr/>
            </p:nvSpPr>
            <p:spPr>
              <a:xfrm>
                <a:off x="1597819" y="2526030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171" name="Group 170"/>
              <p:cNvGrpSpPr/>
              <p:nvPr/>
            </p:nvGrpSpPr>
            <p:grpSpPr>
              <a:xfrm>
                <a:off x="1597819" y="2891790"/>
                <a:ext cx="457200" cy="365760"/>
                <a:chOff x="1698611" y="3461328"/>
                <a:chExt cx="457200" cy="313459"/>
              </a:xfrm>
            </p:grpSpPr>
            <p:sp>
              <p:nvSpPr>
                <p:cNvPr id="175" name="Rectangle 174"/>
                <p:cNvSpPr/>
                <p:nvPr/>
              </p:nvSpPr>
              <p:spPr>
                <a:xfrm>
                  <a:off x="1835771" y="3461328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76" name="Rectangle 175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172" name="Group 171"/>
              <p:cNvGrpSpPr/>
              <p:nvPr/>
            </p:nvGrpSpPr>
            <p:grpSpPr>
              <a:xfrm>
                <a:off x="2055019" y="2526030"/>
                <a:ext cx="457200" cy="365760"/>
                <a:chOff x="1698611" y="3461328"/>
                <a:chExt cx="457200" cy="313459"/>
              </a:xfrm>
            </p:grpSpPr>
            <p:sp>
              <p:nvSpPr>
                <p:cNvPr id="173" name="Rectangle 172"/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74" name="Rectangle 173"/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</p:grpSp>
      <p:grpSp>
        <p:nvGrpSpPr>
          <p:cNvPr id="201" name="Group 200"/>
          <p:cNvGrpSpPr/>
          <p:nvPr/>
        </p:nvGrpSpPr>
        <p:grpSpPr>
          <a:xfrm>
            <a:off x="7228129" y="3726811"/>
            <a:ext cx="913957" cy="731520"/>
            <a:chOff x="1597819" y="3431974"/>
            <a:chExt cx="913957" cy="731520"/>
          </a:xfrm>
        </p:grpSpPr>
        <p:sp>
          <p:nvSpPr>
            <p:cNvPr id="202" name="Rectangle 201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grpSp>
          <p:nvGrpSpPr>
            <p:cNvPr id="204" name="Group 203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205" name="Rectangle 204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prstClr val="white"/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rgbClr val="EF3E42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15" name="Group 214"/>
          <p:cNvGrpSpPr/>
          <p:nvPr/>
        </p:nvGrpSpPr>
        <p:grpSpPr>
          <a:xfrm>
            <a:off x="32072" y="1200150"/>
            <a:ext cx="1029392" cy="3258180"/>
            <a:chOff x="32072" y="837569"/>
            <a:chExt cx="1029392" cy="3258180"/>
          </a:xfrm>
        </p:grpSpPr>
        <p:sp>
          <p:nvSpPr>
            <p:cNvPr id="211" name="Rectangle 210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12" name="TextBox 15"/>
            <p:cNvSpPr txBox="1">
              <a:spLocks noChangeArrowheads="1"/>
            </p:cNvSpPr>
            <p:nvPr/>
          </p:nvSpPr>
          <p:spPr bwMode="auto">
            <a:xfrm>
              <a:off x="32072" y="837569"/>
              <a:ext cx="10293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pPr algn="ctr"/>
              <a:r>
                <a:rPr lang="en-US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Levels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 Math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23</a:t>
            </a:fld>
            <a:endParaRPr lang="en-US" dirty="0"/>
          </a:p>
        </p:txBody>
      </p:sp>
      <p:cxnSp>
        <p:nvCxnSpPr>
          <p:cNvPr id="39" name="Curved Connector 39"/>
          <p:cNvCxnSpPr>
            <a:stCxn id="30" idx="3"/>
            <a:endCxn id="97" idx="1"/>
          </p:cNvCxnSpPr>
          <p:nvPr/>
        </p:nvCxnSpPr>
        <p:spPr>
          <a:xfrm>
            <a:off x="1768206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39"/>
          <p:cNvCxnSpPr>
            <a:stCxn id="81" idx="2"/>
            <a:endCxn id="97" idx="0"/>
          </p:cNvCxnSpPr>
          <p:nvPr/>
        </p:nvCxnSpPr>
        <p:spPr>
          <a:xfrm>
            <a:off x="2535998" y="3331964"/>
            <a:ext cx="443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39"/>
          <p:cNvCxnSpPr>
            <a:cxnSpLocks/>
            <a:stCxn id="113" idx="3"/>
            <a:endCxn id="118" idx="1"/>
          </p:cNvCxnSpPr>
          <p:nvPr/>
        </p:nvCxnSpPr>
        <p:spPr>
          <a:xfrm>
            <a:off x="4228350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urved Connector 39"/>
          <p:cNvCxnSpPr>
            <a:cxnSpLocks/>
            <a:stCxn id="100" idx="3"/>
            <a:endCxn id="110" idx="1"/>
          </p:cNvCxnSpPr>
          <p:nvPr/>
        </p:nvCxnSpPr>
        <p:spPr>
          <a:xfrm>
            <a:off x="2998278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39"/>
          <p:cNvCxnSpPr>
            <a:stCxn id="129" idx="2"/>
            <a:endCxn id="118" idx="0"/>
          </p:cNvCxnSpPr>
          <p:nvPr/>
        </p:nvCxnSpPr>
        <p:spPr>
          <a:xfrm>
            <a:off x="4996585" y="3331964"/>
            <a:ext cx="0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urved Connector 39"/>
          <p:cNvCxnSpPr>
            <a:stCxn id="86" idx="3"/>
            <a:endCxn id="124" idx="1"/>
          </p:cNvCxnSpPr>
          <p:nvPr/>
        </p:nvCxnSpPr>
        <p:spPr>
          <a:xfrm>
            <a:off x="2998278" y="2971255"/>
            <a:ext cx="1769707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/>
          <p:cNvGrpSpPr/>
          <p:nvPr/>
        </p:nvGrpSpPr>
        <p:grpSpPr>
          <a:xfrm>
            <a:off x="304454" y="3726811"/>
            <a:ext cx="457200" cy="365760"/>
            <a:chOff x="1698611" y="3461328"/>
            <a:chExt cx="457200" cy="313459"/>
          </a:xfrm>
        </p:grpSpPr>
        <p:sp>
          <p:nvSpPr>
            <p:cNvPr id="90" name="Rectangle 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304454" y="2788376"/>
            <a:ext cx="457200" cy="365760"/>
            <a:chOff x="1698611" y="3461328"/>
            <a:chExt cx="457200" cy="313459"/>
          </a:xfrm>
        </p:grpSpPr>
        <p:sp>
          <p:nvSpPr>
            <p:cNvPr id="93" name="Rectangle 92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304454" y="1849941"/>
            <a:ext cx="457200" cy="365760"/>
            <a:chOff x="1698611" y="3461328"/>
            <a:chExt cx="457200" cy="313459"/>
          </a:xfrm>
        </p:grpSpPr>
        <p:sp>
          <p:nvSpPr>
            <p:cNvPr id="178" name="Rectangle 177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cxnSp>
        <p:nvCxnSpPr>
          <p:cNvPr id="152" name="Curved Connector 39"/>
          <p:cNvCxnSpPr>
            <a:stCxn id="127" idx="3"/>
            <a:endCxn id="145" idx="1"/>
          </p:cNvCxnSpPr>
          <p:nvPr/>
        </p:nvCxnSpPr>
        <p:spPr>
          <a:xfrm>
            <a:off x="5458865" y="2971255"/>
            <a:ext cx="539192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urved Connector 39"/>
          <p:cNvCxnSpPr>
            <a:stCxn id="121" idx="3"/>
            <a:endCxn id="139" idx="1"/>
          </p:cNvCxnSpPr>
          <p:nvPr/>
        </p:nvCxnSpPr>
        <p:spPr>
          <a:xfrm>
            <a:off x="5458422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urved Connector 39"/>
          <p:cNvCxnSpPr>
            <a:stCxn id="178" idx="3"/>
            <a:endCxn id="170" idx="1"/>
          </p:cNvCxnSpPr>
          <p:nvPr/>
        </p:nvCxnSpPr>
        <p:spPr>
          <a:xfrm flipV="1">
            <a:off x="531784" y="2032821"/>
            <a:ext cx="5466273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Group 182"/>
          <p:cNvGrpSpPr/>
          <p:nvPr/>
        </p:nvGrpSpPr>
        <p:grpSpPr>
          <a:xfrm>
            <a:off x="8456930" y="3726811"/>
            <a:ext cx="457200" cy="365760"/>
            <a:chOff x="1698611" y="3461328"/>
            <a:chExt cx="457200" cy="313459"/>
          </a:xfrm>
        </p:grpSpPr>
        <p:sp>
          <p:nvSpPr>
            <p:cNvPr id="184" name="Rectangle 183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endParaRPr lang="en-US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endParaRP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6" name="Group 185"/>
          <p:cNvGrpSpPr/>
          <p:nvPr/>
        </p:nvGrpSpPr>
        <p:grpSpPr>
          <a:xfrm>
            <a:off x="8456930" y="2788376"/>
            <a:ext cx="457200" cy="365760"/>
            <a:chOff x="1698611" y="3461328"/>
            <a:chExt cx="457200" cy="313459"/>
          </a:xfrm>
        </p:grpSpPr>
        <p:sp>
          <p:nvSpPr>
            <p:cNvPr id="187" name="Rectangle 186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endParaRPr lang="en-US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endParaRP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9" name="Group 188"/>
          <p:cNvGrpSpPr/>
          <p:nvPr/>
        </p:nvGrpSpPr>
        <p:grpSpPr>
          <a:xfrm>
            <a:off x="8456930" y="1849941"/>
            <a:ext cx="457200" cy="365760"/>
            <a:chOff x="1698611" y="3461328"/>
            <a:chExt cx="457200" cy="313459"/>
          </a:xfrm>
        </p:grpSpPr>
        <p:sp>
          <p:nvSpPr>
            <p:cNvPr id="190" name="Rectangle 1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80000"/>
                </a:lnSpc>
              </a:pPr>
              <a:endParaRPr lang="en-US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224" name="Group 223"/>
          <p:cNvGrpSpPr/>
          <p:nvPr/>
        </p:nvGrpSpPr>
        <p:grpSpPr>
          <a:xfrm>
            <a:off x="6688494" y="2032820"/>
            <a:ext cx="1768436" cy="1876871"/>
            <a:chOff x="6688494" y="2032820"/>
            <a:chExt cx="1768436" cy="1876871"/>
          </a:xfrm>
        </p:grpSpPr>
        <p:cxnSp>
          <p:nvCxnSpPr>
            <p:cNvPr id="192" name="Curved Connector 39"/>
            <p:cNvCxnSpPr>
              <a:stCxn id="173" idx="3"/>
              <a:endCxn id="191" idx="1"/>
            </p:cNvCxnSpPr>
            <p:nvPr/>
          </p:nvCxnSpPr>
          <p:spPr>
            <a:xfrm>
              <a:off x="6688937" y="2032820"/>
              <a:ext cx="1767993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urved Connector 39"/>
            <p:cNvCxnSpPr>
              <a:stCxn id="148" idx="3"/>
              <a:endCxn id="188" idx="1"/>
            </p:cNvCxnSpPr>
            <p:nvPr/>
          </p:nvCxnSpPr>
          <p:spPr>
            <a:xfrm>
              <a:off x="6688937" y="2971255"/>
              <a:ext cx="1767993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urved Connector 39"/>
            <p:cNvCxnSpPr>
              <a:stCxn id="142" idx="3"/>
              <a:endCxn id="202" idx="1"/>
            </p:cNvCxnSpPr>
            <p:nvPr/>
          </p:nvCxnSpPr>
          <p:spPr>
            <a:xfrm>
              <a:off x="6688494" y="3909690"/>
              <a:ext cx="5396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8" name="Curved Connector 39"/>
          <p:cNvCxnSpPr>
            <a:stCxn id="205" idx="3"/>
            <a:endCxn id="185" idx="1"/>
          </p:cNvCxnSpPr>
          <p:nvPr/>
        </p:nvCxnSpPr>
        <p:spPr>
          <a:xfrm>
            <a:off x="7918566" y="3909690"/>
            <a:ext cx="53836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39"/>
          <p:cNvCxnSpPr>
            <a:stCxn id="90" idx="3"/>
            <a:endCxn id="4" idx="1"/>
          </p:cNvCxnSpPr>
          <p:nvPr/>
        </p:nvCxnSpPr>
        <p:spPr>
          <a:xfrm flipV="1">
            <a:off x="531784" y="3909691"/>
            <a:ext cx="54598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urved Connector 39"/>
          <p:cNvCxnSpPr>
            <a:stCxn id="93" idx="3"/>
            <a:endCxn id="76" idx="1"/>
          </p:cNvCxnSpPr>
          <p:nvPr/>
        </p:nvCxnSpPr>
        <p:spPr>
          <a:xfrm flipV="1">
            <a:off x="531784" y="2971256"/>
            <a:ext cx="177561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urved Connector 39"/>
          <p:cNvCxnSpPr>
            <a:stCxn id="150" idx="2"/>
            <a:endCxn id="139" idx="0"/>
          </p:cNvCxnSpPr>
          <p:nvPr/>
        </p:nvCxnSpPr>
        <p:spPr>
          <a:xfrm>
            <a:off x="6226657" y="3331964"/>
            <a:ext cx="0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urved Connector 39"/>
          <p:cNvCxnSpPr>
            <a:stCxn id="175" idx="2"/>
            <a:endCxn id="145" idx="0"/>
          </p:cNvCxnSpPr>
          <p:nvPr/>
        </p:nvCxnSpPr>
        <p:spPr>
          <a:xfrm>
            <a:off x="6226657" y="2393529"/>
            <a:ext cx="0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8">
            <a:extLst>
              <a:ext uri="{FF2B5EF4-FFF2-40B4-BE49-F238E27FC236}">
                <a16:creationId xmlns:a16="http://schemas.microsoft.com/office/drawing/2014/main" id="{0CA9A5CB-4D95-5FEF-8A8D-A0FCD2E6DC7C}"/>
              </a:ext>
            </a:extLst>
          </p:cNvPr>
          <p:cNvSpPr txBox="1">
            <a:spLocks/>
          </p:cNvSpPr>
          <p:nvPr/>
        </p:nvSpPr>
        <p:spPr>
          <a:xfrm>
            <a:off x="2822726" y="666750"/>
            <a:ext cx="3498549" cy="46166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 i="1">
                <a:solidFill>
                  <a:schemeClr val="bg1">
                    <a:lumMod val="50000"/>
                  </a:schemeClr>
                </a:solidFill>
                <a:latin typeface="Proxima Nova Rg" panose="02000506030000020004" pitchFamily="50" charset="0"/>
                <a:ea typeface="Crimson Text" pitchFamily="2" charset="0"/>
              </a:defRPr>
            </a:lvl1pPr>
            <a:lvl2pPr marL="0" indent="-342900">
              <a:spcBef>
                <a:spcPts val="0"/>
              </a:spcBef>
              <a:buFont typeface="Times New Roman" pitchFamily="18" charset="0"/>
              <a:buChar char="→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Find K</a:t>
            </a:r>
            <a:r>
              <a:rPr lang="en-US" sz="2400" b="1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8C21B3-9156-4A6B-3E5C-3033EC559E06}"/>
              </a:ext>
            </a:extLst>
          </p:cNvPr>
          <p:cNvSpPr/>
          <p:nvPr/>
        </p:nvSpPr>
        <p:spPr>
          <a:xfrm flipH="1">
            <a:off x="279216" y="1807866"/>
            <a:ext cx="505135" cy="461665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CFC107-FB6F-4E1E-C11F-D898D9CBC892}"/>
              </a:ext>
            </a:extLst>
          </p:cNvPr>
          <p:cNvSpPr/>
          <p:nvPr/>
        </p:nvSpPr>
        <p:spPr>
          <a:xfrm flipH="1">
            <a:off x="290221" y="2740422"/>
            <a:ext cx="505135" cy="461665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BE8B54-572E-D258-0CAE-4E2F41F868A8}"/>
              </a:ext>
            </a:extLst>
          </p:cNvPr>
          <p:cNvSpPr/>
          <p:nvPr/>
        </p:nvSpPr>
        <p:spPr>
          <a:xfrm flipH="1">
            <a:off x="2133599" y="2708809"/>
            <a:ext cx="1209435" cy="894949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874FAA-3ED5-5D63-A4C9-62CF9F83D15A}"/>
              </a:ext>
            </a:extLst>
          </p:cNvPr>
          <p:cNvSpPr/>
          <p:nvPr/>
        </p:nvSpPr>
        <p:spPr>
          <a:xfrm flipH="1">
            <a:off x="4620487" y="2700235"/>
            <a:ext cx="1209435" cy="894949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CA2D87-8DAE-32A1-8D6B-23E0C236EE88}"/>
              </a:ext>
            </a:extLst>
          </p:cNvPr>
          <p:cNvSpPr/>
          <p:nvPr/>
        </p:nvSpPr>
        <p:spPr>
          <a:xfrm flipH="1">
            <a:off x="4620487" y="3697725"/>
            <a:ext cx="1186054" cy="87608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B347786-C7EC-0ECD-B34C-2204958A325D}"/>
              </a:ext>
            </a:extLst>
          </p:cNvPr>
          <p:cNvCxnSpPr>
            <a:cxnSpLocks/>
          </p:cNvCxnSpPr>
          <p:nvPr/>
        </p:nvCxnSpPr>
        <p:spPr>
          <a:xfrm flipV="1">
            <a:off x="4373382" y="3799616"/>
            <a:ext cx="2466" cy="63089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147A25-EBF3-2B65-FD6F-A6337CB47E86}"/>
              </a:ext>
            </a:extLst>
          </p:cNvPr>
          <p:cNvCxnSpPr>
            <a:cxnSpLocks/>
          </p:cNvCxnSpPr>
          <p:nvPr/>
        </p:nvCxnSpPr>
        <p:spPr>
          <a:xfrm flipV="1">
            <a:off x="96495" y="2571750"/>
            <a:ext cx="2466" cy="63089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DF59824-B620-22AE-7855-FFD9140F7D58}"/>
              </a:ext>
            </a:extLst>
          </p:cNvPr>
          <p:cNvCxnSpPr/>
          <p:nvPr/>
        </p:nvCxnSpPr>
        <p:spPr>
          <a:xfrm flipH="1">
            <a:off x="4859425" y="2561665"/>
            <a:ext cx="59391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C5A5D9C-CF9B-432E-5685-6602833C0092}"/>
              </a:ext>
            </a:extLst>
          </p:cNvPr>
          <p:cNvCxnSpPr/>
          <p:nvPr/>
        </p:nvCxnSpPr>
        <p:spPr>
          <a:xfrm flipH="1">
            <a:off x="2399281" y="2544857"/>
            <a:ext cx="59391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932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99008-69DF-A023-660E-9E7776D1F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 Math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0BBAAF5-6760-FCFD-3AE7-B4153D4F06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600" y="691612"/>
                <a:ext cx="6400800" cy="3657600"/>
              </a:xfrm>
            </p:spPr>
            <p:txBody>
              <a:bodyPr/>
              <a:lstStyle/>
              <a:p>
                <a:r>
                  <a:rPr lang="en-US" b="1" dirty="0"/>
                  <a:t>Question</a:t>
                </a:r>
                <a:r>
                  <a:rPr lang="en-US" dirty="0"/>
                  <a:t>: Expected length to traverse a </a:t>
                </a:r>
                <a:r>
                  <a:rPr lang="en-US" dirty="0" err="1"/>
                  <a:t>skiplist</a:t>
                </a:r>
                <a:r>
                  <a:rPr lang="en-US" dirty="0"/>
                  <a:t> with N keys and link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be random variable, path length</a:t>
                </a:r>
              </a:p>
              <a:p>
                <a:endParaRPr lang="en-US" dirty="0"/>
              </a:p>
              <a:p>
                <a:r>
                  <a:rPr lang="en-US" dirty="0"/>
                  <a:t>Break up the traversal path (moving backwards):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Move left until up-link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Move up one level, repeat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be # left steps before finding an up-link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r>
                  <a:rPr lang="en-US" b="1" dirty="0"/>
                  <a:t>Main idea: each link is independent, identically distributed w/ prob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endParaRPr lang="en-US" b="1" dirty="0"/>
              </a:p>
              <a:p>
                <a:endParaRPr lang="en-US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0BBAAF5-6760-FCFD-3AE7-B4153D4F06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600" y="691612"/>
                <a:ext cx="6400800" cy="3657600"/>
              </a:xfrm>
              <a:blipFill>
                <a:blip r:embed="rId2"/>
                <a:stretch>
                  <a:fillRect l="-1587" t="-2076" b="-217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DB0C82-0F6F-5A52-2C27-53ED667C5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0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A218-A4A9-7CC0-5BEF-4BB778A6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 Math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523DC-107A-4306-E174-D04D35DF5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402EF87-8D9F-B183-B007-18922671FC0B}"/>
              </a:ext>
            </a:extLst>
          </p:cNvPr>
          <p:cNvGrpSpPr/>
          <p:nvPr/>
        </p:nvGrpSpPr>
        <p:grpSpPr>
          <a:xfrm>
            <a:off x="1688639" y="4070637"/>
            <a:ext cx="7379161" cy="731520"/>
            <a:chOff x="1688639" y="4070637"/>
            <a:chExt cx="7379161" cy="73152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FA3D452-3EAA-5A95-AABB-4AB5A28944C6}"/>
                </a:ext>
              </a:extLst>
            </p:cNvPr>
            <p:cNvGrpSpPr/>
            <p:nvPr/>
          </p:nvGrpSpPr>
          <p:grpSpPr>
            <a:xfrm>
              <a:off x="1688639" y="4070637"/>
              <a:ext cx="913957" cy="731520"/>
              <a:chOff x="1597819" y="3431974"/>
              <a:chExt cx="913957" cy="73152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3DABCB2-E2F7-D2FB-9A50-3C095AF118E3}"/>
                  </a:ext>
                </a:extLst>
              </p:cNvPr>
              <p:cNvSpPr/>
              <p:nvPr/>
            </p:nvSpPr>
            <p:spPr>
              <a:xfrm>
                <a:off x="1597819" y="343197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1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8F5EE60-E032-0017-E87C-7A1046A00816}"/>
                  </a:ext>
                </a:extLst>
              </p:cNvPr>
              <p:cNvSpPr/>
              <p:nvPr/>
            </p:nvSpPr>
            <p:spPr>
              <a:xfrm>
                <a:off x="1597819" y="379773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V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1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2BC0B11-9F38-35E0-0901-9A880584136B}"/>
                  </a:ext>
                </a:extLst>
              </p:cNvPr>
              <p:cNvGrpSpPr/>
              <p:nvPr/>
            </p:nvGrpSpPr>
            <p:grpSpPr>
              <a:xfrm>
                <a:off x="2054576" y="3431974"/>
                <a:ext cx="457200" cy="365760"/>
                <a:chOff x="1698611" y="3461328"/>
                <a:chExt cx="457200" cy="313459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877B771A-59AF-484F-AE8E-DB552F2F939E}"/>
                    </a:ext>
                  </a:extLst>
                </p:cNvPr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59343616-8FBC-F4D7-B8FF-3B4449FBB2E2}"/>
                    </a:ext>
                  </a:extLst>
                </p:cNvPr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834A3DB-4F5A-6C7E-2633-CD94EBA8F28F}"/>
                </a:ext>
              </a:extLst>
            </p:cNvPr>
            <p:cNvGrpSpPr/>
            <p:nvPr/>
          </p:nvGrpSpPr>
          <p:grpSpPr>
            <a:xfrm>
              <a:off x="2918711" y="4070637"/>
              <a:ext cx="913957" cy="731520"/>
              <a:chOff x="1597819" y="3431974"/>
              <a:chExt cx="913957" cy="73152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50DE519-85F1-2FED-5B3A-C7007C8F91C0}"/>
                  </a:ext>
                </a:extLst>
              </p:cNvPr>
              <p:cNvSpPr/>
              <p:nvPr/>
            </p:nvSpPr>
            <p:spPr>
              <a:xfrm>
                <a:off x="1597819" y="343197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2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46AB055-BBA3-8393-8E17-459F6D5187BC}"/>
                  </a:ext>
                </a:extLst>
              </p:cNvPr>
              <p:cNvSpPr/>
              <p:nvPr/>
            </p:nvSpPr>
            <p:spPr>
              <a:xfrm>
                <a:off x="1597819" y="379773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V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2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0BCDA1AA-259B-377F-04BB-6DBF9C59BED3}"/>
                  </a:ext>
                </a:extLst>
              </p:cNvPr>
              <p:cNvGrpSpPr/>
              <p:nvPr/>
            </p:nvGrpSpPr>
            <p:grpSpPr>
              <a:xfrm>
                <a:off x="2054576" y="3431974"/>
                <a:ext cx="457200" cy="365760"/>
                <a:chOff x="1698611" y="3461328"/>
                <a:chExt cx="457200" cy="313459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E30D7D3C-526C-B91E-B66D-75D9155F46F4}"/>
                    </a:ext>
                  </a:extLst>
                </p:cNvPr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E001617D-B202-FEE5-DA14-66DE3D6955C1}"/>
                    </a:ext>
                  </a:extLst>
                </p:cNvPr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CBC0F64-DAC5-21F7-76F9-5A90D41C22F3}"/>
                </a:ext>
              </a:extLst>
            </p:cNvPr>
            <p:cNvGrpSpPr/>
            <p:nvPr/>
          </p:nvGrpSpPr>
          <p:grpSpPr>
            <a:xfrm>
              <a:off x="4148783" y="4070637"/>
              <a:ext cx="913957" cy="731520"/>
              <a:chOff x="1597819" y="3431974"/>
              <a:chExt cx="913957" cy="73152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C144869-960C-481B-880F-FC496D2E983E}"/>
                  </a:ext>
                </a:extLst>
              </p:cNvPr>
              <p:cNvSpPr/>
              <p:nvPr/>
            </p:nvSpPr>
            <p:spPr>
              <a:xfrm>
                <a:off x="1597819" y="343197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3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3D04C159-FD51-C3A2-4EA7-6C771BCFA4A0}"/>
                  </a:ext>
                </a:extLst>
              </p:cNvPr>
              <p:cNvSpPr/>
              <p:nvPr/>
            </p:nvSpPr>
            <p:spPr>
              <a:xfrm>
                <a:off x="1597819" y="379773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V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3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FFEFDEEF-582B-1C21-8240-50B33826EA0E}"/>
                  </a:ext>
                </a:extLst>
              </p:cNvPr>
              <p:cNvGrpSpPr/>
              <p:nvPr/>
            </p:nvGrpSpPr>
            <p:grpSpPr>
              <a:xfrm>
                <a:off x="2054576" y="3431974"/>
                <a:ext cx="457200" cy="365760"/>
                <a:chOff x="1698611" y="3461328"/>
                <a:chExt cx="457200" cy="313459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3F1C3EC-A15C-C0E0-71AF-CAB2CD02EA5F}"/>
                    </a:ext>
                  </a:extLst>
                </p:cNvPr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EACA6C78-2C15-55E1-110A-352F2E002C57}"/>
                    </a:ext>
                  </a:extLst>
                </p:cNvPr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52F41BA-62B4-4AEC-A0C1-92E1E082DC73}"/>
                </a:ext>
              </a:extLst>
            </p:cNvPr>
            <p:cNvGrpSpPr/>
            <p:nvPr/>
          </p:nvGrpSpPr>
          <p:grpSpPr>
            <a:xfrm>
              <a:off x="5378855" y="4070637"/>
              <a:ext cx="913957" cy="731520"/>
              <a:chOff x="1597819" y="3431974"/>
              <a:chExt cx="913957" cy="73152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531659A-97AA-9814-0D83-B8511B5890E8}"/>
                  </a:ext>
                </a:extLst>
              </p:cNvPr>
              <p:cNvSpPr/>
              <p:nvPr/>
            </p:nvSpPr>
            <p:spPr>
              <a:xfrm>
                <a:off x="1597819" y="343197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4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1AF20F7-01C9-4652-74D5-DE853E642A21}"/>
                  </a:ext>
                </a:extLst>
              </p:cNvPr>
              <p:cNvSpPr/>
              <p:nvPr/>
            </p:nvSpPr>
            <p:spPr>
              <a:xfrm>
                <a:off x="1597819" y="379773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V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4</a:t>
                </a:r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42B600B7-A581-14BE-9DEA-4017B713FA5D}"/>
                  </a:ext>
                </a:extLst>
              </p:cNvPr>
              <p:cNvGrpSpPr/>
              <p:nvPr/>
            </p:nvGrpSpPr>
            <p:grpSpPr>
              <a:xfrm>
                <a:off x="2054576" y="3431974"/>
                <a:ext cx="457200" cy="365760"/>
                <a:chOff x="1698611" y="3461328"/>
                <a:chExt cx="457200" cy="313459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CF41008A-0AA0-D9AD-81F9-6D5C8B4C48D5}"/>
                    </a:ext>
                  </a:extLst>
                </p:cNvPr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CF6C690E-B23D-51BF-D2FB-2C54A0677775}"/>
                    </a:ext>
                  </a:extLst>
                </p:cNvPr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74D2C11-E2D8-6453-5E75-5658E077449F}"/>
                </a:ext>
              </a:extLst>
            </p:cNvPr>
            <p:cNvGrpSpPr/>
            <p:nvPr/>
          </p:nvGrpSpPr>
          <p:grpSpPr>
            <a:xfrm>
              <a:off x="7838999" y="4070637"/>
              <a:ext cx="913957" cy="731520"/>
              <a:chOff x="1597819" y="3431974"/>
              <a:chExt cx="913957" cy="731520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4B515D0-D813-DFC3-2FEA-68EDAA3F2EC3}"/>
                  </a:ext>
                </a:extLst>
              </p:cNvPr>
              <p:cNvSpPr/>
              <p:nvPr/>
            </p:nvSpPr>
            <p:spPr>
              <a:xfrm>
                <a:off x="1597819" y="343197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6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AD767CE-E1B2-3993-F657-E6E8EE3F1BA9}"/>
                  </a:ext>
                </a:extLst>
              </p:cNvPr>
              <p:cNvSpPr/>
              <p:nvPr/>
            </p:nvSpPr>
            <p:spPr>
              <a:xfrm>
                <a:off x="1597819" y="379773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V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6</a:t>
                </a:r>
              </a:p>
            </p:txBody>
          </p: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C587E7BF-4DDF-9C4A-14E0-8136B3A9529B}"/>
                  </a:ext>
                </a:extLst>
              </p:cNvPr>
              <p:cNvGrpSpPr/>
              <p:nvPr/>
            </p:nvGrpSpPr>
            <p:grpSpPr>
              <a:xfrm>
                <a:off x="2054576" y="3431974"/>
                <a:ext cx="457200" cy="365760"/>
                <a:chOff x="1698611" y="3461328"/>
                <a:chExt cx="457200" cy="313459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13CE814A-A2D0-8044-BF7B-DFE8BDA0D439}"/>
                    </a:ext>
                  </a:extLst>
                </p:cNvPr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437EA56A-9634-D62B-65E7-D874FE887EC7}"/>
                    </a:ext>
                  </a:extLst>
                </p:cNvPr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cxnSp>
          <p:nvCxnSpPr>
            <p:cNvPr id="36" name="Curved Connector 39">
              <a:extLst>
                <a:ext uri="{FF2B5EF4-FFF2-40B4-BE49-F238E27FC236}">
                  <a16:creationId xmlns:a16="http://schemas.microsoft.com/office/drawing/2014/main" id="{F39D4DC3-C0A9-ED4E-BAA5-C95E3E78C519}"/>
                </a:ext>
              </a:extLst>
            </p:cNvPr>
            <p:cNvCxnSpPr>
              <a:stCxn id="10" idx="3"/>
              <a:endCxn id="13" idx="1"/>
            </p:cNvCxnSpPr>
            <p:nvPr/>
          </p:nvCxnSpPr>
          <p:spPr>
            <a:xfrm>
              <a:off x="2379076" y="4253516"/>
              <a:ext cx="5396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urved Connector 39">
              <a:extLst>
                <a:ext uri="{FF2B5EF4-FFF2-40B4-BE49-F238E27FC236}">
                  <a16:creationId xmlns:a16="http://schemas.microsoft.com/office/drawing/2014/main" id="{EED096FB-D5BE-9D36-5D4A-012E8E5F392B}"/>
                </a:ext>
              </a:extLst>
            </p:cNvPr>
            <p:cNvCxnSpPr>
              <a:cxnSpLocks/>
              <a:stCxn id="22" idx="3"/>
              <a:endCxn id="25" idx="1"/>
            </p:cNvCxnSpPr>
            <p:nvPr/>
          </p:nvCxnSpPr>
          <p:spPr>
            <a:xfrm>
              <a:off x="4839220" y="4253516"/>
              <a:ext cx="5396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urved Connector 39">
              <a:extLst>
                <a:ext uri="{FF2B5EF4-FFF2-40B4-BE49-F238E27FC236}">
                  <a16:creationId xmlns:a16="http://schemas.microsoft.com/office/drawing/2014/main" id="{969F5BD3-0E3B-C446-98C7-75FE833280D4}"/>
                </a:ext>
              </a:extLst>
            </p:cNvPr>
            <p:cNvCxnSpPr>
              <a:cxnSpLocks/>
              <a:stCxn id="16" idx="3"/>
              <a:endCxn id="19" idx="1"/>
            </p:cNvCxnSpPr>
            <p:nvPr/>
          </p:nvCxnSpPr>
          <p:spPr>
            <a:xfrm>
              <a:off x="3609148" y="4253516"/>
              <a:ext cx="5396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urved Connector 39">
              <a:extLst>
                <a:ext uri="{FF2B5EF4-FFF2-40B4-BE49-F238E27FC236}">
                  <a16:creationId xmlns:a16="http://schemas.microsoft.com/office/drawing/2014/main" id="{FCA91079-B8C0-FABD-F6C4-3260C98460E5}"/>
                </a:ext>
              </a:extLst>
            </p:cNvPr>
            <p:cNvCxnSpPr>
              <a:stCxn id="28" idx="3"/>
            </p:cNvCxnSpPr>
            <p:nvPr/>
          </p:nvCxnSpPr>
          <p:spPr>
            <a:xfrm>
              <a:off x="6069292" y="4253516"/>
              <a:ext cx="5396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urved Connector 39">
              <a:extLst>
                <a:ext uri="{FF2B5EF4-FFF2-40B4-BE49-F238E27FC236}">
                  <a16:creationId xmlns:a16="http://schemas.microsoft.com/office/drawing/2014/main" id="{CC6E866E-7EA1-EB32-24AC-1BCCA6EE3C9C}"/>
                </a:ext>
              </a:extLst>
            </p:cNvPr>
            <p:cNvCxnSpPr>
              <a:stCxn id="34" idx="3"/>
            </p:cNvCxnSpPr>
            <p:nvPr/>
          </p:nvCxnSpPr>
          <p:spPr>
            <a:xfrm>
              <a:off x="8529436" y="4253516"/>
              <a:ext cx="538364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E065516D-CF7C-7DDF-6FDA-097B91AA5A75}"/>
                </a:ext>
              </a:extLst>
            </p:cNvPr>
            <p:cNvGrpSpPr/>
            <p:nvPr/>
          </p:nvGrpSpPr>
          <p:grpSpPr>
            <a:xfrm>
              <a:off x="6608927" y="4070637"/>
              <a:ext cx="913957" cy="731520"/>
              <a:chOff x="1597819" y="3431974"/>
              <a:chExt cx="913957" cy="731520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1FC60236-ACA1-3059-6AF5-0B780D916BA6}"/>
                  </a:ext>
                </a:extLst>
              </p:cNvPr>
              <p:cNvSpPr/>
              <p:nvPr/>
            </p:nvSpPr>
            <p:spPr>
              <a:xfrm>
                <a:off x="1597819" y="343197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K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3D097D9F-5733-ED30-06CA-DD78F69E9338}"/>
                  </a:ext>
                </a:extLst>
              </p:cNvPr>
              <p:cNvSpPr/>
              <p:nvPr/>
            </p:nvSpPr>
            <p:spPr>
              <a:xfrm>
                <a:off x="1597819" y="3797734"/>
                <a:ext cx="457200" cy="3657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b="1" i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V</a:t>
                </a:r>
                <a:r>
                  <a:rPr lang="en-US" b="1" i="1" baseline="-25000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5</a:t>
                </a:r>
              </a:p>
            </p:txBody>
          </p: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5282C0DD-45BE-DE04-1A5D-AC9B3C60F016}"/>
                  </a:ext>
                </a:extLst>
              </p:cNvPr>
              <p:cNvGrpSpPr/>
              <p:nvPr/>
            </p:nvGrpSpPr>
            <p:grpSpPr>
              <a:xfrm>
                <a:off x="2054576" y="3431974"/>
                <a:ext cx="457200" cy="365760"/>
                <a:chOff x="1698611" y="3461328"/>
                <a:chExt cx="457200" cy="313459"/>
              </a:xfrm>
            </p:grpSpPr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85F4743-67D4-D9B9-0DE2-16961BC14CD0}"/>
                    </a:ext>
                  </a:extLst>
                </p:cNvPr>
                <p:cNvSpPr/>
                <p:nvPr/>
              </p:nvSpPr>
              <p:spPr>
                <a:xfrm>
                  <a:off x="1749411" y="3541857"/>
                  <a:ext cx="182880" cy="152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prstClr val="white"/>
                    </a:solidFill>
                    <a:latin typeface="Inconsolata" panose="00000509000000000000" pitchFamily="49" charset="0"/>
                  </a:endParaRPr>
                </a:p>
              </p:txBody>
            </p:sp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EB2C3151-7DB3-BA59-7E79-328D13491694}"/>
                    </a:ext>
                  </a:extLst>
                </p:cNvPr>
                <p:cNvSpPr/>
                <p:nvPr/>
              </p:nvSpPr>
              <p:spPr>
                <a:xfrm>
                  <a:off x="1698611" y="3461328"/>
                  <a:ext cx="457200" cy="3134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44433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 b="1" dirty="0">
                    <a:solidFill>
                      <a:srgbClr val="EF3E42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</p:grpSp>
        </p:grpSp>
        <p:cxnSp>
          <p:nvCxnSpPr>
            <p:cNvPr id="69" name="Curved Connector 39">
              <a:extLst>
                <a:ext uri="{FF2B5EF4-FFF2-40B4-BE49-F238E27FC236}">
                  <a16:creationId xmlns:a16="http://schemas.microsoft.com/office/drawing/2014/main" id="{036F7705-82E5-F91F-11A0-03C03646AA91}"/>
                </a:ext>
              </a:extLst>
            </p:cNvPr>
            <p:cNvCxnSpPr/>
            <p:nvPr/>
          </p:nvCxnSpPr>
          <p:spPr>
            <a:xfrm>
              <a:off x="7316696" y="4253515"/>
              <a:ext cx="5396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A0A32660-E92E-3EF0-17FD-E17A9D747E43}"/>
              </a:ext>
            </a:extLst>
          </p:cNvPr>
          <p:cNvSpPr txBox="1"/>
          <p:nvPr/>
        </p:nvSpPr>
        <p:spPr>
          <a:xfrm>
            <a:off x="577760" y="752864"/>
            <a:ext cx="8373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Question: </a:t>
            </a:r>
            <a:r>
              <a:rPr lang="en-US" sz="2400" dirty="0"/>
              <a:t>Starting at any node, how many steps left until up-link?</a:t>
            </a:r>
            <a:endParaRPr lang="en-US" sz="2400" b="1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D7557CA-DD0D-1C11-447E-6AD0DAB8D4B6}"/>
              </a:ext>
            </a:extLst>
          </p:cNvPr>
          <p:cNvSpPr/>
          <p:nvPr/>
        </p:nvSpPr>
        <p:spPr>
          <a:xfrm flipH="1">
            <a:off x="5225253" y="3981670"/>
            <a:ext cx="1186054" cy="87608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72" descr="A silver coin with a profile of a person&#10;&#10;Description automatically generated">
            <a:extLst>
              <a:ext uri="{FF2B5EF4-FFF2-40B4-BE49-F238E27FC236}">
                <a16:creationId xmlns:a16="http://schemas.microsoft.com/office/drawing/2014/main" id="{5B1154C5-E551-A8B6-086B-61CE85951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113" y="3265466"/>
            <a:ext cx="598997" cy="622291"/>
          </a:xfrm>
          <a:prstGeom prst="rect">
            <a:avLst/>
          </a:prstGeom>
        </p:spPr>
      </p:pic>
      <p:pic>
        <p:nvPicPr>
          <p:cNvPr id="75" name="Picture 74" descr="A silver coin with a profile of a person&#10;&#10;Description automatically generated">
            <a:extLst>
              <a:ext uri="{FF2B5EF4-FFF2-40B4-BE49-F238E27FC236}">
                <a16:creationId xmlns:a16="http://schemas.microsoft.com/office/drawing/2014/main" id="{9D2D83F1-A62E-2EBE-F9F0-051C143FB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631" y="3265465"/>
            <a:ext cx="598997" cy="622291"/>
          </a:xfrm>
          <a:prstGeom prst="rect">
            <a:avLst/>
          </a:prstGeom>
        </p:spPr>
      </p:pic>
      <p:pic>
        <p:nvPicPr>
          <p:cNvPr id="1026" name="Picture 2" descr="Quarter Tails - Foiled Again! Chocolate Coins">
            <a:extLst>
              <a:ext uri="{FF2B5EF4-FFF2-40B4-BE49-F238E27FC236}">
                <a16:creationId xmlns:a16="http://schemas.microsoft.com/office/drawing/2014/main" id="{B0D8762C-F9EC-C9A2-943C-D9A97B6DD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4322" y="3265465"/>
            <a:ext cx="622292" cy="622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C4A347D-AED5-E1ED-5BB6-D9CF98FF00C9}"/>
                  </a:ext>
                </a:extLst>
              </p:cNvPr>
              <p:cNvSpPr txBox="1"/>
              <p:nvPr/>
            </p:nvSpPr>
            <p:spPr>
              <a:xfrm>
                <a:off x="577760" y="1185856"/>
                <a:ext cx="57943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Question: </a:t>
                </a:r>
                <a:r>
                  <a:rPr lang="en-US" sz="2400" dirty="0"/>
                  <a:t>How many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-coin flips to get tails?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C4A347D-AED5-E1ED-5BB6-D9CF98FF0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60" y="1185856"/>
                <a:ext cx="5794343" cy="461665"/>
              </a:xfrm>
              <a:prstGeom prst="rect">
                <a:avLst/>
              </a:prstGeom>
              <a:blipFill>
                <a:blip r:embed="rId4"/>
                <a:stretch>
                  <a:fillRect l="-1751" t="-8108" r="-656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117CB95-DD02-C8BD-5307-3AC74D042F6D}"/>
                  </a:ext>
                </a:extLst>
              </p:cNvPr>
              <p:cNvSpPr txBox="1"/>
              <p:nvPr/>
            </p:nvSpPr>
            <p:spPr>
              <a:xfrm>
                <a:off x="750600" y="1653116"/>
                <a:ext cx="65262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𝐺𝑒𝑜𝑚𝑒𝑡𝑟𝑖𝑐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𝑃𝑟</m:t>
                      </m:r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117CB95-DD02-C8BD-5307-3AC74D042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00" y="1653116"/>
                <a:ext cx="6526274" cy="461665"/>
              </a:xfrm>
              <a:prstGeom prst="rect">
                <a:avLst/>
              </a:prstGeom>
              <a:blipFill>
                <a:blip r:embed="rId5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69CF34B-B21D-C774-455D-320A543A199B}"/>
                  </a:ext>
                </a:extLst>
              </p:cNvPr>
              <p:cNvSpPr txBox="1"/>
              <p:nvPr/>
            </p:nvSpPr>
            <p:spPr>
              <a:xfrm>
                <a:off x="750600" y="2082010"/>
                <a:ext cx="4244111" cy="1099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E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69CF34B-B21D-C774-455D-320A543A1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00" y="2082010"/>
                <a:ext cx="4244111" cy="1099340"/>
              </a:xfrm>
              <a:prstGeom prst="rect">
                <a:avLst/>
              </a:prstGeom>
              <a:blipFill>
                <a:blip r:embed="rId6"/>
                <a:stretch>
                  <a:fillRect t="-108046" b="-1632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7E9C445-0D33-5C2A-2BB5-8B3F6F5739E7}"/>
                  </a:ext>
                </a:extLst>
              </p:cNvPr>
              <p:cNvSpPr txBox="1"/>
              <p:nvPr/>
            </p:nvSpPr>
            <p:spPr>
              <a:xfrm>
                <a:off x="4870961" y="2207461"/>
                <a:ext cx="354292" cy="848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7E9C445-0D33-5C2A-2BB5-8B3F6F573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0961" y="2207461"/>
                <a:ext cx="354292" cy="848437"/>
              </a:xfrm>
              <a:prstGeom prst="rect">
                <a:avLst/>
              </a:prstGeom>
              <a:blipFill>
                <a:blip r:embed="rId7"/>
                <a:stretch>
                  <a:fillRect l="-3448" r="-3448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946EB87D-0F5B-625A-1D87-FF2785DE3B25}"/>
              </a:ext>
            </a:extLst>
          </p:cNvPr>
          <p:cNvSpPr txBox="1"/>
          <p:nvPr/>
        </p:nvSpPr>
        <p:spPr>
          <a:xfrm>
            <a:off x="5190442" y="2424485"/>
            <a:ext cx="40349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C00000"/>
                </a:solidFill>
              </a:rPr>
              <a:t>Left steps per up-link (expected)</a:t>
            </a:r>
          </a:p>
        </p:txBody>
      </p:sp>
    </p:spTree>
    <p:extLst>
      <p:ext uri="{BB962C8B-B14F-4D97-AF65-F5344CB8AC3E}">
        <p14:creationId xmlns:p14="http://schemas.microsoft.com/office/powerpoint/2010/main" val="4228204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 animBg="1"/>
      <p:bldP spid="77" grpId="0"/>
      <p:bldP spid="78" grpId="0"/>
      <p:bldP spid="79" grpId="0"/>
      <p:bldP spid="80" grpId="0"/>
      <p:bldP spid="8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A218-A4A9-7CC0-5BEF-4BB778A6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 Math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62871E-94AD-2A12-0214-51573D2B2D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 Question</a:t>
                </a:r>
                <a:r>
                  <a:rPr lang="en-US" dirty="0"/>
                  <a:t>: Expected length to traverse a </a:t>
                </a:r>
                <a:r>
                  <a:rPr lang="en-US" dirty="0" err="1"/>
                  <a:t>skiplist</a:t>
                </a:r>
                <a:r>
                  <a:rPr lang="en-US" dirty="0"/>
                  <a:t> with N keys and link probability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?</a:t>
                </a:r>
                <a:endParaRPr lang="en-US" b="1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	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𝐿𝑒𝑣𝑒𝑙𝑠</m:t>
                        </m:r>
                      </m:e>
                    </m:d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den>
                            </m:f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62871E-94AD-2A12-0214-51573D2B2D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87" t="-2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523DC-107A-4306-E174-D04D35DF5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05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 Lists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Advantages:</a:t>
            </a:r>
          </a:p>
          <a:p>
            <a:pPr lvl="1"/>
            <a:r>
              <a:rPr lang="en-US" dirty="0"/>
              <a:t>Uses less memory than a typical B+Tree if you do </a:t>
            </a:r>
            <a:r>
              <a:rPr lang="en-US" u="sng" dirty="0"/>
              <a:t>not</a:t>
            </a:r>
            <a:r>
              <a:rPr lang="en-US" dirty="0"/>
              <a:t> include reverse pointers.</a:t>
            </a:r>
          </a:p>
          <a:p>
            <a:pPr lvl="1"/>
            <a:r>
              <a:rPr lang="en-US" dirty="0"/>
              <a:t>Insertions and deletions do not require rebalancing.</a:t>
            </a:r>
          </a:p>
          <a:p>
            <a:endParaRPr lang="en-US" sz="1200" dirty="0"/>
          </a:p>
          <a:p>
            <a:r>
              <a:rPr lang="en-US" b="1" dirty="0"/>
              <a:t>Disadvantages:</a:t>
            </a:r>
          </a:p>
          <a:p>
            <a:pPr lvl="1"/>
            <a:r>
              <a:rPr lang="en-US" dirty="0"/>
              <a:t>Not disk/cache friendly because they do not optimize locality of references.</a:t>
            </a:r>
          </a:p>
          <a:p>
            <a:pPr lvl="1"/>
            <a:r>
              <a:rPr lang="en-US" dirty="0"/>
              <a:t>Reverse search is non-trivial.</a:t>
            </a:r>
          </a:p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012945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0A31-BA63-2808-6E46-BFAEFF5F4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97A529-FA23-F9A4-C61A-03345B188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Today's Agenda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2E528-21A2-1295-8AD8-E0A5AC5D8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Bloom Filters</a:t>
            </a:r>
          </a:p>
          <a:p>
            <a:r>
              <a:rPr lang="en-US" dirty="0"/>
              <a:t>Skip Lists</a:t>
            </a:r>
          </a:p>
          <a:p>
            <a:r>
              <a:rPr lang="en-US" dirty="0"/>
              <a:t>Tries / Radix Trees</a:t>
            </a:r>
          </a:p>
          <a:p>
            <a:r>
              <a:rPr lang="en-US" dirty="0"/>
              <a:t>Inverted Indexes</a:t>
            </a:r>
          </a:p>
          <a:p>
            <a:r>
              <a:rPr lang="en-US" dirty="0"/>
              <a:t>Vector Indexes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0D499A-324D-9C61-9D60-4370214218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61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A041F-C220-6E1B-D4AB-6E09CE78B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523107"/>
            <a:ext cx="9144000" cy="2097286"/>
          </a:xfrm>
        </p:spPr>
        <p:txBody>
          <a:bodyPr/>
          <a:lstStyle/>
          <a:p>
            <a:r>
              <a:rPr lang="en-US" dirty="0"/>
              <a:t>We stopped here in class because I decided to focus more on the internals of Bloom filters and skip lists.  The rest of these slides will not be covered, but cover some good-to-know data structures for indexing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F5D25C-CBCF-41D8-3624-580588F68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1912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B469F4-E0DA-49E5-96A8-3691865F2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DB8F4-CE82-4B66-AB5B-DFE6CDB70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</a:t>
            </a:r>
            <a:r>
              <a:rPr lang="en-US" dirty="0" err="1"/>
              <a:t>B+Trees</a:t>
            </a:r>
            <a:r>
              <a:rPr lang="en-US" dirty="0"/>
              <a:t> and Skip Lists have the same weakness:  Lookup(x) == full traversal</a:t>
            </a:r>
          </a:p>
          <a:p>
            <a:endParaRPr lang="en-US" dirty="0"/>
          </a:p>
          <a:p>
            <a:r>
              <a:rPr lang="en-US" dirty="0"/>
              <a:t>Lookup for keys that don't exist are slow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Want:</a:t>
            </a:r>
            <a:r>
              <a:rPr lang="en-US" dirty="0"/>
              <a:t> Best of both worlds.  An index data structure with filter-like properties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0EBC3-9AFC-447A-91D5-555FFE1F0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51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Trie</a:t>
            </a:r>
            <a:r>
              <a:rPr lang="en-US" dirty="0"/>
              <a:t> Index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34EF0-7BD4-4F04-AFEF-34A33F561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 digital representation of keys to examine prefixes one-by-one.</a:t>
            </a:r>
          </a:p>
          <a:p>
            <a:pPr lvl="1"/>
            <a:r>
              <a:rPr lang="en-US" dirty="0"/>
              <a:t>aka </a:t>
            </a:r>
            <a:r>
              <a:rPr lang="en-US" b="1" i="1" dirty="0"/>
              <a:t>Digital Search Tree</a:t>
            </a:r>
            <a:r>
              <a:rPr lang="en-US" dirty="0"/>
              <a:t>, </a:t>
            </a:r>
            <a:r>
              <a:rPr lang="en-US" b="1" i="1" dirty="0"/>
              <a:t>Prefix Tree</a:t>
            </a:r>
            <a:r>
              <a:rPr lang="en-US" dirty="0"/>
              <a:t>.</a:t>
            </a:r>
          </a:p>
          <a:p>
            <a:r>
              <a:rPr lang="en-US" dirty="0"/>
              <a:t>Shape depends on keys and lengths.</a:t>
            </a:r>
          </a:p>
          <a:p>
            <a:pPr lvl="1"/>
            <a:r>
              <a:rPr lang="en-US" dirty="0"/>
              <a:t>Does </a:t>
            </a:r>
            <a:r>
              <a:rPr lang="en-US" u="sng" dirty="0"/>
              <a:t>not</a:t>
            </a:r>
            <a:r>
              <a:rPr lang="en-US" dirty="0"/>
              <a:t> depend on existing keys or insertion order.</a:t>
            </a:r>
          </a:p>
          <a:p>
            <a:pPr lvl="1"/>
            <a:r>
              <a:rPr lang="en-US" dirty="0"/>
              <a:t>Does </a:t>
            </a:r>
            <a:r>
              <a:rPr lang="en-US" u="sng" dirty="0"/>
              <a:t>not</a:t>
            </a:r>
            <a:r>
              <a:rPr lang="en-US" dirty="0"/>
              <a:t> require rebalancing operations.</a:t>
            </a:r>
          </a:p>
          <a:p>
            <a:r>
              <a:rPr lang="en-US" dirty="0"/>
              <a:t>All operations have </a:t>
            </a:r>
            <a:r>
              <a:rPr lang="en-US" b="1" dirty="0">
                <a:solidFill>
                  <a:schemeClr val="accent1"/>
                </a:solidFill>
              </a:rPr>
              <a:t>O(k)</a:t>
            </a:r>
            <a:r>
              <a:rPr lang="en-US" dirty="0"/>
              <a:t> complexity where </a:t>
            </a:r>
            <a:r>
              <a:rPr lang="en-US" b="1" dirty="0">
                <a:solidFill>
                  <a:schemeClr val="accent1"/>
                </a:solidFill>
              </a:rPr>
              <a:t>k</a:t>
            </a:r>
            <a:r>
              <a:rPr lang="en-US" dirty="0"/>
              <a:t> is the length of the key.</a:t>
            </a:r>
          </a:p>
          <a:p>
            <a:pPr lvl="1"/>
            <a:r>
              <a:rPr lang="en-US" dirty="0"/>
              <a:t>Path to a leaf node represents a key.</a:t>
            </a:r>
          </a:p>
          <a:p>
            <a:pPr lvl="1"/>
            <a:r>
              <a:rPr lang="en-US" dirty="0"/>
              <a:t>Keys are stored implicitly and can be reconstructed from paths.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00" name="Content Placeholder 28"/>
          <p:cNvSpPr txBox="1">
            <a:spLocks/>
          </p:cNvSpPr>
          <p:nvPr/>
        </p:nvSpPr>
        <p:spPr>
          <a:xfrm>
            <a:off x="5334000" y="1006799"/>
            <a:ext cx="3352800" cy="457200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Crimson Text" pitchFamily="2" charset="0"/>
              </a:rPr>
              <a:t>Keys:  </a:t>
            </a:r>
            <a:r>
              <a:rPr lang="en-US" dirty="0">
                <a:latin typeface="Inconsolata" panose="00000509000000000000" pitchFamily="49" charset="0"/>
                <a:cs typeface="Consolas" pitchFamily="49" charset="0"/>
              </a:rPr>
              <a:t>HELLO</a:t>
            </a:r>
            <a:r>
              <a:rPr lang="en-US" b="1" dirty="0">
                <a:latin typeface="Inconsolata" panose="00000509000000000000" pitchFamily="49" charset="0"/>
                <a:cs typeface="Consolas" pitchFamily="49" charset="0"/>
              </a:rPr>
              <a:t>,</a:t>
            </a:r>
            <a:r>
              <a:rPr lang="en-US" b="1" spc="-300" dirty="0">
                <a:latin typeface="Inconsolata" panose="00000509000000000000" pitchFamily="49" charset="0"/>
                <a:cs typeface="Consolas" pitchFamily="49" charset="0"/>
              </a:rPr>
              <a:t> </a:t>
            </a:r>
            <a:r>
              <a:rPr lang="en-US" dirty="0">
                <a:latin typeface="Inconsolata" panose="00000509000000000000" pitchFamily="49" charset="0"/>
                <a:cs typeface="Consolas" pitchFamily="49" charset="0"/>
              </a:rPr>
              <a:t>HAT</a:t>
            </a:r>
            <a:r>
              <a:rPr lang="en-US" b="1" dirty="0">
                <a:latin typeface="Inconsolata" panose="00000509000000000000" pitchFamily="49" charset="0"/>
                <a:cs typeface="Consolas" pitchFamily="49" charset="0"/>
              </a:rPr>
              <a:t>,</a:t>
            </a:r>
            <a:r>
              <a:rPr lang="en-US" b="1" spc="-300" dirty="0">
                <a:latin typeface="Inconsolata" panose="00000509000000000000" pitchFamily="49" charset="0"/>
                <a:cs typeface="Consolas" pitchFamily="49" charset="0"/>
              </a:rPr>
              <a:t> </a:t>
            </a:r>
            <a:r>
              <a:rPr lang="en-US" dirty="0">
                <a:latin typeface="Inconsolata" panose="00000509000000000000" pitchFamily="49" charset="0"/>
                <a:cs typeface="Consolas" pitchFamily="49" charset="0"/>
              </a:rPr>
              <a:t>HAVE</a:t>
            </a:r>
          </a:p>
        </p:txBody>
      </p:sp>
      <p:sp>
        <p:nvSpPr>
          <p:cNvPr id="197" name="Text Box 4"/>
          <p:cNvSpPr txBox="1">
            <a:spLocks noChangeArrowheads="1"/>
          </p:cNvSpPr>
          <p:nvPr/>
        </p:nvSpPr>
        <p:spPr bwMode="auto">
          <a:xfrm>
            <a:off x="5334000" y="1424340"/>
            <a:ext cx="3200400" cy="33832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2400" u="none" dirty="0">
              <a:latin typeface="DejaVu Sans Mono" pitchFamily="49" charset="0"/>
              <a:ea typeface="DejaVu Sans Mono" pitchFamily="49" charset="0"/>
              <a:cs typeface="DejaVu Sans Mono" pitchFamily="49" charset="0"/>
            </a:endParaRPr>
          </a:p>
        </p:txBody>
      </p:sp>
      <p:cxnSp>
        <p:nvCxnSpPr>
          <p:cNvPr id="4" name="AutoShape 14"/>
          <p:cNvCxnSpPr>
            <a:cxnSpLocks noChangeShapeType="1"/>
            <a:stCxn id="74" idx="2"/>
            <a:endCxn id="119" idx="0"/>
          </p:cNvCxnSpPr>
          <p:nvPr/>
        </p:nvCxnSpPr>
        <p:spPr bwMode="auto">
          <a:xfrm rot="16200000" flipH="1">
            <a:off x="7285523" y="2353177"/>
            <a:ext cx="188895" cy="38862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6" name="AutoShape 14"/>
          <p:cNvCxnSpPr>
            <a:cxnSpLocks noChangeShapeType="1"/>
            <a:stCxn id="174" idx="2"/>
            <a:endCxn id="170" idx="0"/>
          </p:cNvCxnSpPr>
          <p:nvPr/>
        </p:nvCxnSpPr>
        <p:spPr bwMode="auto">
          <a:xfrm rot="5400000">
            <a:off x="6904544" y="1806164"/>
            <a:ext cx="198120" cy="364112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4" name="AutoShape 14"/>
          <p:cNvCxnSpPr>
            <a:cxnSpLocks noChangeShapeType="1"/>
            <a:stCxn id="119" idx="2"/>
            <a:endCxn id="120" idx="0"/>
          </p:cNvCxnSpPr>
          <p:nvPr/>
        </p:nvCxnSpPr>
        <p:spPr bwMode="auto">
          <a:xfrm>
            <a:off x="7574280" y="3007695"/>
            <a:ext cx="0" cy="207345"/>
          </a:xfrm>
          <a:prstGeom prst="straightConnector1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9" name="AutoShape 14"/>
          <p:cNvCxnSpPr>
            <a:cxnSpLocks noChangeShapeType="1"/>
            <a:stCxn id="120" idx="2"/>
            <a:endCxn id="121" idx="0"/>
          </p:cNvCxnSpPr>
          <p:nvPr/>
        </p:nvCxnSpPr>
        <p:spPr bwMode="auto">
          <a:xfrm>
            <a:off x="7574280" y="3580800"/>
            <a:ext cx="0" cy="198120"/>
          </a:xfrm>
          <a:prstGeom prst="straightConnector1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6" name="AutoShape 14"/>
          <p:cNvCxnSpPr>
            <a:cxnSpLocks noChangeShapeType="1"/>
            <a:stCxn id="121" idx="2"/>
            <a:endCxn id="135" idx="0"/>
          </p:cNvCxnSpPr>
          <p:nvPr/>
        </p:nvCxnSpPr>
        <p:spPr bwMode="auto">
          <a:xfrm>
            <a:off x="7574280" y="4144680"/>
            <a:ext cx="0" cy="198120"/>
          </a:xfrm>
          <a:prstGeom prst="straightConnector1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" name="AutoShape 14"/>
          <p:cNvCxnSpPr>
            <a:cxnSpLocks noChangeShapeType="1"/>
            <a:stCxn id="170" idx="2"/>
            <a:endCxn id="75" idx="0"/>
          </p:cNvCxnSpPr>
          <p:nvPr/>
        </p:nvCxnSpPr>
        <p:spPr bwMode="auto">
          <a:xfrm rot="5400000">
            <a:off x="6443534" y="2273146"/>
            <a:ext cx="198120" cy="557908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6" name="AutoShape 14"/>
          <p:cNvCxnSpPr>
            <a:cxnSpLocks noChangeShapeType="1"/>
            <a:stCxn id="75" idx="2"/>
            <a:endCxn id="145" idx="0"/>
          </p:cNvCxnSpPr>
          <p:nvPr/>
        </p:nvCxnSpPr>
        <p:spPr bwMode="auto">
          <a:xfrm rot="5400000">
            <a:off x="6012180" y="2963580"/>
            <a:ext cx="198120" cy="30480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7" name="AutoShape 14"/>
          <p:cNvCxnSpPr>
            <a:cxnSpLocks noChangeShapeType="1"/>
            <a:stCxn id="142" idx="2"/>
            <a:endCxn id="150" idx="0"/>
          </p:cNvCxnSpPr>
          <p:nvPr/>
        </p:nvCxnSpPr>
        <p:spPr bwMode="auto">
          <a:xfrm>
            <a:off x="6633312" y="3016920"/>
            <a:ext cx="0" cy="198120"/>
          </a:xfrm>
          <a:prstGeom prst="straightConnector1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" name="AutoShape 14"/>
          <p:cNvCxnSpPr>
            <a:cxnSpLocks noChangeShapeType="1"/>
            <a:stCxn id="150" idx="2"/>
            <a:endCxn id="152" idx="0"/>
          </p:cNvCxnSpPr>
          <p:nvPr/>
        </p:nvCxnSpPr>
        <p:spPr bwMode="auto">
          <a:xfrm>
            <a:off x="6633312" y="3580800"/>
            <a:ext cx="0" cy="198120"/>
          </a:xfrm>
          <a:prstGeom prst="straightConnector1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9" name="Rectangle 118"/>
          <p:cNvSpPr/>
          <p:nvPr/>
        </p:nvSpPr>
        <p:spPr bwMode="auto">
          <a:xfrm>
            <a:off x="7391400" y="2641935"/>
            <a:ext cx="3657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L</a:t>
            </a:r>
          </a:p>
        </p:txBody>
      </p:sp>
      <p:sp>
        <p:nvSpPr>
          <p:cNvPr id="120" name="Rectangle 119"/>
          <p:cNvSpPr/>
          <p:nvPr/>
        </p:nvSpPr>
        <p:spPr bwMode="auto">
          <a:xfrm>
            <a:off x="7391400" y="3215040"/>
            <a:ext cx="3657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L</a:t>
            </a:r>
          </a:p>
        </p:txBody>
      </p:sp>
      <p:sp>
        <p:nvSpPr>
          <p:cNvPr id="121" name="Rectangle 120"/>
          <p:cNvSpPr/>
          <p:nvPr/>
        </p:nvSpPr>
        <p:spPr bwMode="auto">
          <a:xfrm>
            <a:off x="7391400" y="3778920"/>
            <a:ext cx="3657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O</a:t>
            </a:r>
          </a:p>
        </p:txBody>
      </p:sp>
      <p:sp>
        <p:nvSpPr>
          <p:cNvPr id="135" name="Rectangle 134"/>
          <p:cNvSpPr/>
          <p:nvPr/>
        </p:nvSpPr>
        <p:spPr bwMode="auto">
          <a:xfrm>
            <a:off x="7391400" y="4342800"/>
            <a:ext cx="3657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¤</a:t>
            </a:r>
          </a:p>
        </p:txBody>
      </p:sp>
      <p:sp>
        <p:nvSpPr>
          <p:cNvPr id="145" name="Rectangle 144"/>
          <p:cNvSpPr/>
          <p:nvPr/>
        </p:nvSpPr>
        <p:spPr bwMode="auto">
          <a:xfrm>
            <a:off x="5775960" y="3215040"/>
            <a:ext cx="3657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¤</a:t>
            </a:r>
          </a:p>
        </p:txBody>
      </p:sp>
      <p:sp>
        <p:nvSpPr>
          <p:cNvPr id="150" name="Rectangle 149"/>
          <p:cNvSpPr/>
          <p:nvPr/>
        </p:nvSpPr>
        <p:spPr bwMode="auto">
          <a:xfrm>
            <a:off x="6450432" y="3215040"/>
            <a:ext cx="3657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E</a:t>
            </a:r>
          </a:p>
        </p:txBody>
      </p:sp>
      <p:sp>
        <p:nvSpPr>
          <p:cNvPr id="152" name="Rectangle 151"/>
          <p:cNvSpPr/>
          <p:nvPr/>
        </p:nvSpPr>
        <p:spPr bwMode="auto">
          <a:xfrm>
            <a:off x="6450432" y="3778920"/>
            <a:ext cx="3657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¤</a:t>
            </a:r>
          </a:p>
        </p:txBody>
      </p:sp>
      <p:sp>
        <p:nvSpPr>
          <p:cNvPr id="174" name="Rectangle 173"/>
          <p:cNvSpPr/>
          <p:nvPr/>
        </p:nvSpPr>
        <p:spPr bwMode="auto">
          <a:xfrm>
            <a:off x="7002780" y="1523400"/>
            <a:ext cx="3657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H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B0E64D-CF26-42F0-8464-5D5368D161D3}"/>
              </a:ext>
            </a:extLst>
          </p:cNvPr>
          <p:cNvGrpSpPr/>
          <p:nvPr/>
        </p:nvGrpSpPr>
        <p:grpSpPr>
          <a:xfrm>
            <a:off x="6638668" y="2087280"/>
            <a:ext cx="729872" cy="365760"/>
            <a:chOff x="1952368" y="2068830"/>
            <a:chExt cx="729872" cy="365760"/>
          </a:xfrm>
        </p:grpSpPr>
        <p:sp>
          <p:nvSpPr>
            <p:cNvPr id="170" name="Rectangle 169"/>
            <p:cNvSpPr/>
            <p:nvPr/>
          </p:nvSpPr>
          <p:spPr bwMode="auto">
            <a:xfrm>
              <a:off x="1952368" y="2068830"/>
              <a:ext cx="365760" cy="365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A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3EC1AF9-4991-4885-AB4B-C175589FB8D9}"/>
                </a:ext>
              </a:extLst>
            </p:cNvPr>
            <p:cNvSpPr/>
            <p:nvPr/>
          </p:nvSpPr>
          <p:spPr bwMode="auto">
            <a:xfrm>
              <a:off x="2316480" y="2068830"/>
              <a:ext cx="365760" cy="365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CDCB315-4A72-4E88-B6CE-537A8AF6B414}"/>
              </a:ext>
            </a:extLst>
          </p:cNvPr>
          <p:cNvGrpSpPr/>
          <p:nvPr/>
        </p:nvGrpSpPr>
        <p:grpSpPr>
          <a:xfrm>
            <a:off x="6080760" y="2651160"/>
            <a:ext cx="735432" cy="365760"/>
            <a:chOff x="2740112" y="2719922"/>
            <a:chExt cx="735432" cy="365760"/>
          </a:xfrm>
        </p:grpSpPr>
        <p:sp>
          <p:nvSpPr>
            <p:cNvPr id="142" name="Rectangle 141"/>
            <p:cNvSpPr/>
            <p:nvPr/>
          </p:nvSpPr>
          <p:spPr bwMode="auto">
            <a:xfrm>
              <a:off x="3109784" y="2719922"/>
              <a:ext cx="365760" cy="365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V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2F0DBA3-7E8D-451E-99F2-2B3038F33113}"/>
                </a:ext>
              </a:extLst>
            </p:cNvPr>
            <p:cNvSpPr/>
            <p:nvPr/>
          </p:nvSpPr>
          <p:spPr bwMode="auto">
            <a:xfrm>
              <a:off x="2740112" y="2719922"/>
              <a:ext cx="365760" cy="365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T</a:t>
              </a:r>
            </a:p>
          </p:txBody>
        </p:sp>
      </p:grpSp>
      <p:sp>
        <p:nvSpPr>
          <p:cNvPr id="60" name="Highlight Box"/>
          <p:cNvSpPr/>
          <p:nvPr/>
        </p:nvSpPr>
        <p:spPr>
          <a:xfrm>
            <a:off x="6115710" y="1066239"/>
            <a:ext cx="914400" cy="320016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Highlight Box"/>
          <p:cNvSpPr/>
          <p:nvPr/>
        </p:nvSpPr>
        <p:spPr>
          <a:xfrm>
            <a:off x="7002780" y="1523400"/>
            <a:ext cx="365760" cy="365760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Highlight Box"/>
          <p:cNvSpPr/>
          <p:nvPr/>
        </p:nvSpPr>
        <p:spPr>
          <a:xfrm>
            <a:off x="7002780" y="2087280"/>
            <a:ext cx="365760" cy="365760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Highlight Box"/>
          <p:cNvSpPr/>
          <p:nvPr/>
        </p:nvSpPr>
        <p:spPr>
          <a:xfrm>
            <a:off x="7391400" y="2641935"/>
            <a:ext cx="365760" cy="365760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Highlight Box"/>
          <p:cNvSpPr/>
          <p:nvPr/>
        </p:nvSpPr>
        <p:spPr>
          <a:xfrm>
            <a:off x="7391400" y="3215040"/>
            <a:ext cx="365760" cy="365760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Highlight Box"/>
          <p:cNvSpPr/>
          <p:nvPr/>
        </p:nvSpPr>
        <p:spPr>
          <a:xfrm>
            <a:off x="7391400" y="3778920"/>
            <a:ext cx="365760" cy="365760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011782-97CB-4153-96FB-5526FD376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Trie</a:t>
            </a:r>
            <a:r>
              <a:rPr lang="en-US" dirty="0"/>
              <a:t> Key Span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A5237-0483-40F9-8B48-C965ECA3D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u="sng" dirty="0"/>
              <a:t>span</a:t>
            </a:r>
            <a:r>
              <a:rPr lang="en-US" dirty="0"/>
              <a:t> of a </a:t>
            </a:r>
            <a:r>
              <a:rPr lang="en-US" dirty="0" err="1"/>
              <a:t>trie</a:t>
            </a:r>
            <a:r>
              <a:rPr lang="en-US" dirty="0"/>
              <a:t> level is the number of bits that each partial key / digit represents.</a:t>
            </a:r>
          </a:p>
          <a:p>
            <a:pPr lvl="1"/>
            <a:r>
              <a:rPr lang="en-US" dirty="0"/>
              <a:t>If the digit exists in the corpus, then store a pointer to the next level in the </a:t>
            </a:r>
            <a:r>
              <a:rPr lang="en-US" dirty="0" err="1"/>
              <a:t>trie</a:t>
            </a:r>
            <a:r>
              <a:rPr lang="en-US" dirty="0"/>
              <a:t> branch. Otherwise, store null.</a:t>
            </a:r>
          </a:p>
          <a:p>
            <a:endParaRPr lang="en-US" sz="1200" dirty="0"/>
          </a:p>
          <a:p>
            <a:r>
              <a:rPr lang="en-US" dirty="0"/>
              <a:t>This determines the </a:t>
            </a:r>
            <a:r>
              <a:rPr lang="en-US" b="1" u="sng" dirty="0"/>
              <a:t>fan-out</a:t>
            </a:r>
            <a:r>
              <a:rPr lang="en-US" dirty="0"/>
              <a:t> of each node and the physical </a:t>
            </a:r>
            <a:r>
              <a:rPr lang="en-US" b="1" u="sng" dirty="0"/>
              <a:t>height</a:t>
            </a:r>
            <a:r>
              <a:rPr lang="en-US" dirty="0"/>
              <a:t> of the tree.</a:t>
            </a:r>
          </a:p>
          <a:p>
            <a:pPr lvl="1"/>
            <a:r>
              <a:rPr lang="en-US" b="1" i="1" dirty="0"/>
              <a:t>n</a:t>
            </a:r>
            <a:r>
              <a:rPr lang="en-US" dirty="0"/>
              <a:t>-way </a:t>
            </a:r>
            <a:r>
              <a:rPr lang="en-US" dirty="0" err="1"/>
              <a:t>Trie</a:t>
            </a:r>
            <a:r>
              <a:rPr lang="en-US" dirty="0"/>
              <a:t> = Fan-Out of </a:t>
            </a:r>
            <a:r>
              <a:rPr lang="en-US" b="1" i="1" dirty="0"/>
              <a:t>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F5B76-C94C-4FE7-AED5-09B0E3D44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32</a:t>
            </a:fld>
            <a:endParaRPr lang="en-US" dirty="0"/>
          </a:p>
        </p:txBody>
      </p:sp>
      <p:grpSp>
        <p:nvGrpSpPr>
          <p:cNvPr id="275" name="Tuple Marks" hidden="1">
            <a:extLst>
              <a:ext uri="{FF2B5EF4-FFF2-40B4-BE49-F238E27FC236}">
                <a16:creationId xmlns:a16="http://schemas.microsoft.com/office/drawing/2014/main" id="{6D1DE782-77CB-42F0-A59F-D2484B83144C}"/>
              </a:ext>
            </a:extLst>
          </p:cNvPr>
          <p:cNvGrpSpPr/>
          <p:nvPr/>
        </p:nvGrpSpPr>
        <p:grpSpPr>
          <a:xfrm>
            <a:off x="746759" y="4431030"/>
            <a:ext cx="2892376" cy="45720"/>
            <a:chOff x="746759" y="4431030"/>
            <a:chExt cx="2892376" cy="45720"/>
          </a:xfrm>
        </p:grpSpPr>
        <p:sp>
          <p:nvSpPr>
            <p:cNvPr id="272" name="mark">
              <a:extLst>
                <a:ext uri="{FF2B5EF4-FFF2-40B4-BE49-F238E27FC236}">
                  <a16:creationId xmlns:a16="http://schemas.microsoft.com/office/drawing/2014/main" id="{3505B3E3-258F-4E44-8F23-A1AE51C17A17}"/>
                </a:ext>
              </a:extLst>
            </p:cNvPr>
            <p:cNvSpPr/>
            <p:nvPr/>
          </p:nvSpPr>
          <p:spPr>
            <a:xfrm>
              <a:off x="2445388" y="4431030"/>
              <a:ext cx="45720" cy="45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73" name="mark">
              <a:extLst>
                <a:ext uri="{FF2B5EF4-FFF2-40B4-BE49-F238E27FC236}">
                  <a16:creationId xmlns:a16="http://schemas.microsoft.com/office/drawing/2014/main" id="{E554D81B-9ECE-4B71-AA53-3FD754812351}"/>
                </a:ext>
              </a:extLst>
            </p:cNvPr>
            <p:cNvSpPr/>
            <p:nvPr/>
          </p:nvSpPr>
          <p:spPr>
            <a:xfrm>
              <a:off x="3593415" y="4431030"/>
              <a:ext cx="45720" cy="45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74" name="mark">
              <a:extLst>
                <a:ext uri="{FF2B5EF4-FFF2-40B4-BE49-F238E27FC236}">
                  <a16:creationId xmlns:a16="http://schemas.microsoft.com/office/drawing/2014/main" id="{3C1A225E-928F-4810-9E93-96EBB9029A26}"/>
                </a:ext>
              </a:extLst>
            </p:cNvPr>
            <p:cNvSpPr/>
            <p:nvPr/>
          </p:nvSpPr>
          <p:spPr>
            <a:xfrm>
              <a:off x="746759" y="4431030"/>
              <a:ext cx="45720" cy="45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81827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011782-97CB-4153-96FB-5526FD376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Trie</a:t>
            </a:r>
            <a:r>
              <a:rPr lang="en-US" dirty="0"/>
              <a:t> Key Span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A5237-0483-40F9-8B48-C965ECA3D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880" y="742950"/>
            <a:ext cx="4389120" cy="3657600"/>
          </a:xfrm>
        </p:spPr>
        <p:txBody>
          <a:bodyPr/>
          <a:lstStyle/>
          <a:p>
            <a:r>
              <a:rPr lang="en-US" b="1" dirty="0"/>
              <a:t>Keys:  </a:t>
            </a:r>
            <a:r>
              <a:rPr lang="en-US" dirty="0">
                <a:latin typeface="Inconsolata" panose="00000509000000000000" pitchFamily="49" charset="0"/>
              </a:rPr>
              <a:t>K10</a:t>
            </a:r>
            <a:r>
              <a:rPr lang="en-US" dirty="0">
                <a:latin typeface="Inconsolata" panose="00000509000000000000" pitchFamily="49" charset="0"/>
                <a:cs typeface="Consolas" pitchFamily="49" charset="0"/>
              </a:rPr>
              <a:t>,K25,K31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F5B76-C94C-4FE7-AED5-09B0E3D44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33</a:t>
            </a:fld>
            <a:endParaRPr lang="en-US" dirty="0"/>
          </a:p>
        </p:txBody>
      </p:sp>
      <p:sp>
        <p:nvSpPr>
          <p:cNvPr id="10" name="Content Placeholder 28">
            <a:extLst>
              <a:ext uri="{FF2B5EF4-FFF2-40B4-BE49-F238E27FC236}">
                <a16:creationId xmlns:a16="http://schemas.microsoft.com/office/drawing/2014/main" id="{B9120054-3AD3-4AD9-B374-F43E1083EDE6}"/>
              </a:ext>
            </a:extLst>
          </p:cNvPr>
          <p:cNvSpPr txBox="1">
            <a:spLocks/>
          </p:cNvSpPr>
          <p:nvPr/>
        </p:nvSpPr>
        <p:spPr>
          <a:xfrm>
            <a:off x="4343400" y="1276350"/>
            <a:ext cx="2743200" cy="457200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6D3F66A-16B8-4BC7-AAD2-C069F11967BC}"/>
              </a:ext>
            </a:extLst>
          </p:cNvPr>
          <p:cNvGrpSpPr/>
          <p:nvPr/>
        </p:nvGrpSpPr>
        <p:grpSpPr>
          <a:xfrm>
            <a:off x="4457695" y="1859752"/>
            <a:ext cx="4198625" cy="1032931"/>
            <a:chOff x="2917140" y="2652515"/>
            <a:chExt cx="3012700" cy="1032931"/>
          </a:xfrm>
        </p:grpSpPr>
        <p:sp>
          <p:nvSpPr>
            <p:cNvPr id="12" name="Content Placeholder 28">
              <a:extLst>
                <a:ext uri="{FF2B5EF4-FFF2-40B4-BE49-F238E27FC236}">
                  <a16:creationId xmlns:a16="http://schemas.microsoft.com/office/drawing/2014/main" id="{A14547A1-519E-499E-BAAD-92E024F77CC7}"/>
                </a:ext>
              </a:extLst>
            </p:cNvPr>
            <p:cNvSpPr txBox="1">
              <a:spLocks/>
            </p:cNvSpPr>
            <p:nvPr/>
          </p:nvSpPr>
          <p:spPr>
            <a:xfrm>
              <a:off x="2917140" y="2652515"/>
              <a:ext cx="3012700" cy="36933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spcAft>
                  <a:spcPts val="0"/>
                </a:spcAft>
                <a:buFont typeface="Arial" pitchFamily="34" charset="0"/>
                <a:buNone/>
                <a:defRPr lang="en-US" sz="24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1pPr>
              <a:lvl2pPr marL="0" indent="-342900" algn="l" defTabSz="914400" rtl="0" eaLnBrk="1" latinLnBrk="0" hangingPunct="1">
                <a:spcBef>
                  <a:spcPts val="0"/>
                </a:spcBef>
                <a:buFont typeface="Times New Roman" pitchFamily="18" charset="0"/>
                <a:buChar char="→"/>
                <a:defRPr lang="en-US" sz="20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latin typeface="Inconsolata" panose="00000509000000000000" pitchFamily="49" charset="0"/>
                  <a:cs typeface="Consolas" pitchFamily="49" charset="0"/>
                </a:rPr>
                <a:t>K10→</a:t>
              </a:r>
              <a:r>
                <a:rPr lang="en-US" b="1" spc="-300" dirty="0">
                  <a:latin typeface="Inconsolata" panose="00000509000000000000" pitchFamily="49" charset="0"/>
                  <a:cs typeface="Consolas" pitchFamily="49" charset="0"/>
                </a:rPr>
                <a:t> </a:t>
              </a:r>
              <a:r>
                <a:rPr lang="en-US" spc="300" dirty="0">
                  <a:latin typeface="Inconsolata" panose="00000509000000000000" pitchFamily="49" charset="0"/>
                  <a:cs typeface="Consolas" pitchFamily="49" charset="0"/>
                </a:rPr>
                <a:t>00000000 00001010</a:t>
              </a:r>
            </a:p>
          </p:txBody>
        </p:sp>
        <p:sp>
          <p:nvSpPr>
            <p:cNvPr id="13" name="Content Placeholder 28">
              <a:extLst>
                <a:ext uri="{FF2B5EF4-FFF2-40B4-BE49-F238E27FC236}">
                  <a16:creationId xmlns:a16="http://schemas.microsoft.com/office/drawing/2014/main" id="{C1487D99-20F1-473D-BF8E-3E8362272F56}"/>
                </a:ext>
              </a:extLst>
            </p:cNvPr>
            <p:cNvSpPr txBox="1">
              <a:spLocks/>
            </p:cNvSpPr>
            <p:nvPr/>
          </p:nvSpPr>
          <p:spPr>
            <a:xfrm>
              <a:off x="2917140" y="2984314"/>
              <a:ext cx="3012700" cy="36933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spcAft>
                  <a:spcPts val="0"/>
                </a:spcAft>
                <a:buFont typeface="Arial" pitchFamily="34" charset="0"/>
                <a:buNone/>
                <a:defRPr lang="en-US" sz="24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1pPr>
              <a:lvl2pPr marL="0" indent="-342900" algn="l" defTabSz="914400" rtl="0" eaLnBrk="1" latinLnBrk="0" hangingPunct="1">
                <a:spcBef>
                  <a:spcPts val="0"/>
                </a:spcBef>
                <a:buFont typeface="Times New Roman" pitchFamily="18" charset="0"/>
                <a:buChar char="→"/>
                <a:defRPr lang="en-US" sz="20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latin typeface="Inconsolata" panose="00000509000000000000" pitchFamily="49" charset="0"/>
                  <a:cs typeface="Consolas" pitchFamily="49" charset="0"/>
                </a:rPr>
                <a:t>K25→</a:t>
              </a:r>
              <a:r>
                <a:rPr lang="en-US" b="1" spc="-300" dirty="0">
                  <a:latin typeface="Inconsolata" panose="00000509000000000000" pitchFamily="49" charset="0"/>
                  <a:cs typeface="Consolas" pitchFamily="49" charset="0"/>
                </a:rPr>
                <a:t> </a:t>
              </a:r>
              <a:r>
                <a:rPr lang="en-US" spc="300" dirty="0">
                  <a:latin typeface="Inconsolata" panose="00000509000000000000" pitchFamily="49" charset="0"/>
                  <a:cs typeface="Consolas" pitchFamily="49" charset="0"/>
                </a:rPr>
                <a:t>00000000 00011001</a:t>
              </a:r>
            </a:p>
          </p:txBody>
        </p:sp>
        <p:sp>
          <p:nvSpPr>
            <p:cNvPr id="14" name="Content Placeholder 28">
              <a:extLst>
                <a:ext uri="{FF2B5EF4-FFF2-40B4-BE49-F238E27FC236}">
                  <a16:creationId xmlns:a16="http://schemas.microsoft.com/office/drawing/2014/main" id="{38279167-025E-4615-BD77-880AC7FC3A73}"/>
                </a:ext>
              </a:extLst>
            </p:cNvPr>
            <p:cNvSpPr txBox="1">
              <a:spLocks/>
            </p:cNvSpPr>
            <p:nvPr/>
          </p:nvSpPr>
          <p:spPr>
            <a:xfrm>
              <a:off x="2917140" y="3316114"/>
              <a:ext cx="3012700" cy="369332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spcAft>
                  <a:spcPts val="0"/>
                </a:spcAft>
                <a:buFont typeface="Arial" pitchFamily="34" charset="0"/>
                <a:buNone/>
                <a:defRPr lang="en-US" sz="24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1pPr>
              <a:lvl2pPr marL="0" indent="-342900" algn="l" defTabSz="914400" rtl="0" eaLnBrk="1" latinLnBrk="0" hangingPunct="1">
                <a:spcBef>
                  <a:spcPts val="0"/>
                </a:spcBef>
                <a:buFont typeface="Times New Roman" pitchFamily="18" charset="0"/>
                <a:buChar char="→"/>
                <a:defRPr lang="en-US" sz="2000" kern="12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4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Gentium Book Basic" pitchFamily="2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b="1" dirty="0">
                  <a:latin typeface="Inconsolata" panose="00000509000000000000" pitchFamily="49" charset="0"/>
                  <a:cs typeface="Consolas" pitchFamily="49" charset="0"/>
                </a:rPr>
                <a:t>K31→</a:t>
              </a:r>
              <a:r>
                <a:rPr lang="en-US" b="1" spc="-300" dirty="0">
                  <a:latin typeface="Inconsolata" panose="00000509000000000000" pitchFamily="49" charset="0"/>
                  <a:cs typeface="Consolas" pitchFamily="49" charset="0"/>
                </a:rPr>
                <a:t> </a:t>
              </a:r>
              <a:r>
                <a:rPr lang="en-US" spc="300" dirty="0">
                  <a:latin typeface="Inconsolata" panose="00000509000000000000" pitchFamily="49" charset="0"/>
                  <a:cs typeface="Consolas" pitchFamily="49" charset="0"/>
                </a:rPr>
                <a:t>00000000 00011111</a:t>
              </a:r>
            </a:p>
          </p:txBody>
        </p:sp>
      </p:grpSp>
      <p:sp>
        <p:nvSpPr>
          <p:cNvPr id="84" name="Text Box 4">
            <a:extLst>
              <a:ext uri="{FF2B5EF4-FFF2-40B4-BE49-F238E27FC236}">
                <a16:creationId xmlns:a16="http://schemas.microsoft.com/office/drawing/2014/main" id="{1314B220-5CC3-4B73-B107-7992D077F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95740"/>
            <a:ext cx="3657600" cy="347472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2400" u="none" dirty="0">
              <a:latin typeface="DejaVu Sans Mono" pitchFamily="49" charset="0"/>
              <a:ea typeface="DejaVu Sans Mono" pitchFamily="49" charset="0"/>
              <a:cs typeface="DejaVu Sans Mono" pitchFamily="49" charset="0"/>
            </a:endParaRPr>
          </a:p>
        </p:txBody>
      </p:sp>
      <p:sp>
        <p:nvSpPr>
          <p:cNvPr id="85" name="TextBox 15">
            <a:extLst>
              <a:ext uri="{FF2B5EF4-FFF2-40B4-BE49-F238E27FC236}">
                <a16:creationId xmlns:a16="http://schemas.microsoft.com/office/drawing/2014/main" id="{93F0BFD7-512E-4A98-AA22-1730A18BD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836622"/>
            <a:ext cx="19379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1-bit Span </a:t>
            </a:r>
            <a:r>
              <a:rPr lang="en-US" dirty="0" err="1"/>
              <a:t>Trie</a:t>
            </a:r>
            <a:endParaRPr lang="en-US" dirty="0"/>
          </a:p>
        </p:txBody>
      </p:sp>
      <p:grpSp>
        <p:nvGrpSpPr>
          <p:cNvPr id="275" name="Tuple Marks" hidden="1">
            <a:extLst>
              <a:ext uri="{FF2B5EF4-FFF2-40B4-BE49-F238E27FC236}">
                <a16:creationId xmlns:a16="http://schemas.microsoft.com/office/drawing/2014/main" id="{6D1DE782-77CB-42F0-A59F-D2484B83144C}"/>
              </a:ext>
            </a:extLst>
          </p:cNvPr>
          <p:cNvGrpSpPr/>
          <p:nvPr/>
        </p:nvGrpSpPr>
        <p:grpSpPr>
          <a:xfrm>
            <a:off x="746759" y="4202430"/>
            <a:ext cx="2892376" cy="45720"/>
            <a:chOff x="746759" y="4431030"/>
            <a:chExt cx="2892376" cy="45720"/>
          </a:xfrm>
        </p:grpSpPr>
        <p:sp>
          <p:nvSpPr>
            <p:cNvPr id="272" name="mark">
              <a:extLst>
                <a:ext uri="{FF2B5EF4-FFF2-40B4-BE49-F238E27FC236}">
                  <a16:creationId xmlns:a16="http://schemas.microsoft.com/office/drawing/2014/main" id="{3505B3E3-258F-4E44-8F23-A1AE51C17A17}"/>
                </a:ext>
              </a:extLst>
            </p:cNvPr>
            <p:cNvSpPr/>
            <p:nvPr/>
          </p:nvSpPr>
          <p:spPr>
            <a:xfrm>
              <a:off x="2445388" y="4431030"/>
              <a:ext cx="45720" cy="45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73" name="mark">
              <a:extLst>
                <a:ext uri="{FF2B5EF4-FFF2-40B4-BE49-F238E27FC236}">
                  <a16:creationId xmlns:a16="http://schemas.microsoft.com/office/drawing/2014/main" id="{E554D81B-9ECE-4B71-AA53-3FD754812351}"/>
                </a:ext>
              </a:extLst>
            </p:cNvPr>
            <p:cNvSpPr/>
            <p:nvPr/>
          </p:nvSpPr>
          <p:spPr>
            <a:xfrm>
              <a:off x="3593415" y="4431030"/>
              <a:ext cx="45720" cy="45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74" name="mark">
              <a:extLst>
                <a:ext uri="{FF2B5EF4-FFF2-40B4-BE49-F238E27FC236}">
                  <a16:creationId xmlns:a16="http://schemas.microsoft.com/office/drawing/2014/main" id="{3C1A225E-928F-4810-9E93-96EBB9029A26}"/>
                </a:ext>
              </a:extLst>
            </p:cNvPr>
            <p:cNvSpPr/>
            <p:nvPr/>
          </p:nvSpPr>
          <p:spPr>
            <a:xfrm>
              <a:off x="746759" y="4431030"/>
              <a:ext cx="45720" cy="45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grpSp>
        <p:nvGrpSpPr>
          <p:cNvPr id="65" name="1-bit Trie Full">
            <a:extLst>
              <a:ext uri="{FF2B5EF4-FFF2-40B4-BE49-F238E27FC236}">
                <a16:creationId xmlns:a16="http://schemas.microsoft.com/office/drawing/2014/main" id="{BB4F8219-D158-4978-987C-01CD188236FE}"/>
              </a:ext>
            </a:extLst>
          </p:cNvPr>
          <p:cNvGrpSpPr/>
          <p:nvPr/>
        </p:nvGrpSpPr>
        <p:grpSpPr>
          <a:xfrm>
            <a:off x="589965" y="1322570"/>
            <a:ext cx="3392070" cy="2879391"/>
            <a:chOff x="361365" y="1551170"/>
            <a:chExt cx="3392070" cy="2879391"/>
          </a:xfrm>
        </p:grpSpPr>
        <p:grpSp>
          <p:nvGrpSpPr>
            <p:cNvPr id="2" name="1-bit Node">
              <a:extLst>
                <a:ext uri="{FF2B5EF4-FFF2-40B4-BE49-F238E27FC236}">
                  <a16:creationId xmlns:a16="http://schemas.microsoft.com/office/drawing/2014/main" id="{2A450BDE-43C8-4DA2-94A2-D52ADEA851C6}"/>
                </a:ext>
              </a:extLst>
            </p:cNvPr>
            <p:cNvGrpSpPr/>
            <p:nvPr/>
          </p:nvGrpSpPr>
          <p:grpSpPr>
            <a:xfrm>
              <a:off x="1534055" y="1551170"/>
              <a:ext cx="1091143" cy="274320"/>
              <a:chOff x="1534055" y="1551170"/>
              <a:chExt cx="1091143" cy="27432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52C36EB-1C1F-4D75-82BA-E236088F26D2}"/>
                  </a:ext>
                </a:extLst>
              </p:cNvPr>
              <p:cNvSpPr/>
              <p:nvPr/>
            </p:nvSpPr>
            <p:spPr bwMode="auto">
              <a:xfrm>
                <a:off x="1534055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0</a:t>
                </a:r>
              </a:p>
            </p:txBody>
          </p:sp>
          <p:grpSp>
            <p:nvGrpSpPr>
              <p:cNvPr id="81" name="PointerBox">
                <a:extLst>
                  <a:ext uri="{FF2B5EF4-FFF2-40B4-BE49-F238E27FC236}">
                    <a16:creationId xmlns:a16="http://schemas.microsoft.com/office/drawing/2014/main" id="{71A08918-2727-4A2A-995F-617A819A81A9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2771D5DA-8F2E-44D3-9F51-EEB2BEA9AC23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87" name="mark" hidden="1">
                  <a:extLst>
                    <a:ext uri="{FF2B5EF4-FFF2-40B4-BE49-F238E27FC236}">
                      <a16:creationId xmlns:a16="http://schemas.microsoft.com/office/drawing/2014/main" id="{9B3EC2B5-0C57-431B-B5DA-FF9192198C2C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9194B70E-61AC-45CD-A35F-0E8DD98C585F}"/>
                  </a:ext>
                </a:extLst>
              </p:cNvPr>
              <p:cNvSpPr/>
              <p:nvPr/>
            </p:nvSpPr>
            <p:spPr bwMode="auto">
              <a:xfrm>
                <a:off x="2076558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grpSp>
            <p:nvGrpSpPr>
              <p:cNvPr id="96" name="PointerBox">
                <a:extLst>
                  <a:ext uri="{FF2B5EF4-FFF2-40B4-BE49-F238E27FC236}">
                    <a16:creationId xmlns:a16="http://schemas.microsoft.com/office/drawing/2014/main" id="{E73ADAEB-FEAF-477A-AC41-B11095F93E66}"/>
                  </a:ext>
                </a:extLst>
              </p:cNvPr>
              <p:cNvGrpSpPr/>
              <p:nvPr/>
            </p:nvGrpSpPr>
            <p:grpSpPr>
              <a:xfrm>
                <a:off x="2350878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74FDC8DF-E13F-4355-AC45-89E4A4C43E4A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100" name="mark" hidden="1">
                  <a:extLst>
                    <a:ext uri="{FF2B5EF4-FFF2-40B4-BE49-F238E27FC236}">
                      <a16:creationId xmlns:a16="http://schemas.microsoft.com/office/drawing/2014/main" id="{0491BA13-6B4F-4287-9926-DF676D2145C3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03" name="1-bit Node">
              <a:extLst>
                <a:ext uri="{FF2B5EF4-FFF2-40B4-BE49-F238E27FC236}">
                  <a16:creationId xmlns:a16="http://schemas.microsoft.com/office/drawing/2014/main" id="{2BBD912B-ECBD-4686-9BCF-3C28F2FE2EC8}"/>
                </a:ext>
              </a:extLst>
            </p:cNvPr>
            <p:cNvGrpSpPr/>
            <p:nvPr/>
          </p:nvGrpSpPr>
          <p:grpSpPr>
            <a:xfrm>
              <a:off x="1534055" y="1947883"/>
              <a:ext cx="1091143" cy="274320"/>
              <a:chOff x="1534055" y="1551170"/>
              <a:chExt cx="1091143" cy="274320"/>
            </a:xfrm>
          </p:grpSpPr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E91391A4-1A3F-4984-8856-B92E12ECC102}"/>
                  </a:ext>
                </a:extLst>
              </p:cNvPr>
              <p:cNvSpPr/>
              <p:nvPr/>
            </p:nvSpPr>
            <p:spPr bwMode="auto">
              <a:xfrm>
                <a:off x="1534055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0</a:t>
                </a:r>
              </a:p>
            </p:txBody>
          </p:sp>
          <p:grpSp>
            <p:nvGrpSpPr>
              <p:cNvPr id="112" name="PointerBox">
                <a:extLst>
                  <a:ext uri="{FF2B5EF4-FFF2-40B4-BE49-F238E27FC236}">
                    <a16:creationId xmlns:a16="http://schemas.microsoft.com/office/drawing/2014/main" id="{9DCCD488-376A-4D6B-8DAE-035372575B4F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FC5CFFD3-162D-466A-A98E-4817615ABF40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128" name="mark" hidden="1">
                  <a:extLst>
                    <a:ext uri="{FF2B5EF4-FFF2-40B4-BE49-F238E27FC236}">
                      <a16:creationId xmlns:a16="http://schemas.microsoft.com/office/drawing/2014/main" id="{37EA3450-9477-4715-8A39-30534839C111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90A57904-F0B4-4202-BE9E-3044CA51021E}"/>
                  </a:ext>
                </a:extLst>
              </p:cNvPr>
              <p:cNvSpPr/>
              <p:nvPr/>
            </p:nvSpPr>
            <p:spPr bwMode="auto">
              <a:xfrm>
                <a:off x="2076558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grpSp>
            <p:nvGrpSpPr>
              <p:cNvPr id="118" name="PointerBox">
                <a:extLst>
                  <a:ext uri="{FF2B5EF4-FFF2-40B4-BE49-F238E27FC236}">
                    <a16:creationId xmlns:a16="http://schemas.microsoft.com/office/drawing/2014/main" id="{2139E81B-B0C5-4630-966E-4045E52DF806}"/>
                  </a:ext>
                </a:extLst>
              </p:cNvPr>
              <p:cNvGrpSpPr/>
              <p:nvPr/>
            </p:nvGrpSpPr>
            <p:grpSpPr>
              <a:xfrm>
                <a:off x="2350878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B14DC276-20E9-4743-92F6-1710B9374133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122" name="mark" hidden="1">
                  <a:extLst>
                    <a:ext uri="{FF2B5EF4-FFF2-40B4-BE49-F238E27FC236}">
                      <a16:creationId xmlns:a16="http://schemas.microsoft.com/office/drawing/2014/main" id="{3776B62A-B897-4119-A610-A12AF303714D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29" name="1-bit Node">
              <a:extLst>
                <a:ext uri="{FF2B5EF4-FFF2-40B4-BE49-F238E27FC236}">
                  <a16:creationId xmlns:a16="http://schemas.microsoft.com/office/drawing/2014/main" id="{C4E41185-8A66-4C22-ADD9-9832F229EE77}"/>
                </a:ext>
              </a:extLst>
            </p:cNvPr>
            <p:cNvGrpSpPr/>
            <p:nvPr/>
          </p:nvGrpSpPr>
          <p:grpSpPr>
            <a:xfrm>
              <a:off x="1534055" y="2344596"/>
              <a:ext cx="1091143" cy="274320"/>
              <a:chOff x="1534055" y="1551170"/>
              <a:chExt cx="1091143" cy="274320"/>
            </a:xfrm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CADED79C-4AC5-4186-B62C-562EE9668DD4}"/>
                  </a:ext>
                </a:extLst>
              </p:cNvPr>
              <p:cNvSpPr/>
              <p:nvPr/>
            </p:nvSpPr>
            <p:spPr bwMode="auto">
              <a:xfrm>
                <a:off x="1534055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0</a:t>
                </a:r>
              </a:p>
            </p:txBody>
          </p:sp>
          <p:grpSp>
            <p:nvGrpSpPr>
              <p:cNvPr id="132" name="PointerBox">
                <a:extLst>
                  <a:ext uri="{FF2B5EF4-FFF2-40B4-BE49-F238E27FC236}">
                    <a16:creationId xmlns:a16="http://schemas.microsoft.com/office/drawing/2014/main" id="{892C1A2C-A10F-4F90-91FF-BBF5E0967A85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77A0F8C4-5AC2-410F-936F-148DB0934D42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138" name="mark" hidden="1">
                  <a:extLst>
                    <a:ext uri="{FF2B5EF4-FFF2-40B4-BE49-F238E27FC236}">
                      <a16:creationId xmlns:a16="http://schemas.microsoft.com/office/drawing/2014/main" id="{E854C102-0EA4-4861-87FB-ECBB0E4A0E20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C33B064E-8306-4A21-AF4C-F7CF8CCB8297}"/>
                  </a:ext>
                </a:extLst>
              </p:cNvPr>
              <p:cNvSpPr/>
              <p:nvPr/>
            </p:nvSpPr>
            <p:spPr bwMode="auto">
              <a:xfrm>
                <a:off x="2076558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grpSp>
            <p:nvGrpSpPr>
              <p:cNvPr id="134" name="PointerBox">
                <a:extLst>
                  <a:ext uri="{FF2B5EF4-FFF2-40B4-BE49-F238E27FC236}">
                    <a16:creationId xmlns:a16="http://schemas.microsoft.com/office/drawing/2014/main" id="{4DD13A51-6F11-4E13-82F9-5E269DD7A5E0}"/>
                  </a:ext>
                </a:extLst>
              </p:cNvPr>
              <p:cNvGrpSpPr/>
              <p:nvPr/>
            </p:nvGrpSpPr>
            <p:grpSpPr>
              <a:xfrm>
                <a:off x="2350878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C2F7AED6-A6B3-42E6-BC4A-60A9372929B0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136" name="mark" hidden="1">
                  <a:extLst>
                    <a:ext uri="{FF2B5EF4-FFF2-40B4-BE49-F238E27FC236}">
                      <a16:creationId xmlns:a16="http://schemas.microsoft.com/office/drawing/2014/main" id="{A5B79341-BF7D-4088-922E-F4F99C63889D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58" name="1-bit Node">
              <a:extLst>
                <a:ext uri="{FF2B5EF4-FFF2-40B4-BE49-F238E27FC236}">
                  <a16:creationId xmlns:a16="http://schemas.microsoft.com/office/drawing/2014/main" id="{A210CBD5-2721-4835-8C7B-03013814B617}"/>
                </a:ext>
              </a:extLst>
            </p:cNvPr>
            <p:cNvGrpSpPr/>
            <p:nvPr/>
          </p:nvGrpSpPr>
          <p:grpSpPr>
            <a:xfrm>
              <a:off x="361365" y="3138022"/>
              <a:ext cx="1091143" cy="274320"/>
              <a:chOff x="1534055" y="1551170"/>
              <a:chExt cx="1091143" cy="274320"/>
            </a:xfrm>
          </p:grpSpPr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C5C9B0AE-7B10-4408-BCB2-2398EF9EA958}"/>
                  </a:ext>
                </a:extLst>
              </p:cNvPr>
              <p:cNvSpPr/>
              <p:nvPr/>
            </p:nvSpPr>
            <p:spPr bwMode="auto">
              <a:xfrm>
                <a:off x="1534055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0</a:t>
                </a:r>
              </a:p>
            </p:txBody>
          </p:sp>
          <p:grpSp>
            <p:nvGrpSpPr>
              <p:cNvPr id="160" name="PointerBox">
                <a:extLst>
                  <a:ext uri="{FF2B5EF4-FFF2-40B4-BE49-F238E27FC236}">
                    <a16:creationId xmlns:a16="http://schemas.microsoft.com/office/drawing/2014/main" id="{09F06FE5-1C05-4DA0-AD88-533FDA787228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1AB78418-1DF3-47BF-90FB-932EED9DB1E6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166" name="mark" hidden="1">
                  <a:extLst>
                    <a:ext uri="{FF2B5EF4-FFF2-40B4-BE49-F238E27FC236}">
                      <a16:creationId xmlns:a16="http://schemas.microsoft.com/office/drawing/2014/main" id="{26C4478D-36E1-48AB-AA79-D9E3DC1B61CD}"/>
                    </a:ext>
                  </a:extLst>
                </p:cNvPr>
                <p:cNvSpPr/>
                <p:nvPr/>
              </p:nvSpPr>
              <p:spPr>
                <a:xfrm>
                  <a:off x="4762500" y="400625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3040BD17-A064-479F-8EB5-84B865815C5D}"/>
                  </a:ext>
                </a:extLst>
              </p:cNvPr>
              <p:cNvSpPr/>
              <p:nvPr/>
            </p:nvSpPr>
            <p:spPr bwMode="auto">
              <a:xfrm>
                <a:off x="2076558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grpSp>
            <p:nvGrpSpPr>
              <p:cNvPr id="162" name="PointerBox">
                <a:extLst>
                  <a:ext uri="{FF2B5EF4-FFF2-40B4-BE49-F238E27FC236}">
                    <a16:creationId xmlns:a16="http://schemas.microsoft.com/office/drawing/2014/main" id="{C6E9DDE2-2D0B-4889-A977-471AC07592E9}"/>
                  </a:ext>
                </a:extLst>
              </p:cNvPr>
              <p:cNvGrpSpPr/>
              <p:nvPr/>
            </p:nvGrpSpPr>
            <p:grpSpPr>
              <a:xfrm>
                <a:off x="2350878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3BDE4884-4338-46FA-A45D-828E279E0657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164" name="mark" hidden="1">
                  <a:extLst>
                    <a:ext uri="{FF2B5EF4-FFF2-40B4-BE49-F238E27FC236}">
                      <a16:creationId xmlns:a16="http://schemas.microsoft.com/office/drawing/2014/main" id="{9809F299-6C97-47BD-94D7-60660508B17F}"/>
                    </a:ext>
                  </a:extLst>
                </p:cNvPr>
                <p:cNvSpPr/>
                <p:nvPr/>
              </p:nvSpPr>
              <p:spPr>
                <a:xfrm>
                  <a:off x="4762500" y="400625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67" name="1-bit Node">
              <a:extLst>
                <a:ext uri="{FF2B5EF4-FFF2-40B4-BE49-F238E27FC236}">
                  <a16:creationId xmlns:a16="http://schemas.microsoft.com/office/drawing/2014/main" id="{E3D117B4-AAB0-4E60-867A-3540C602938D}"/>
                </a:ext>
              </a:extLst>
            </p:cNvPr>
            <p:cNvGrpSpPr/>
            <p:nvPr/>
          </p:nvGrpSpPr>
          <p:grpSpPr>
            <a:xfrm>
              <a:off x="361365" y="3534735"/>
              <a:ext cx="1091143" cy="274320"/>
              <a:chOff x="1534055" y="1551170"/>
              <a:chExt cx="1091143" cy="274320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2308AC2C-8534-4A1E-8D9C-B0887325A058}"/>
                  </a:ext>
                </a:extLst>
              </p:cNvPr>
              <p:cNvSpPr/>
              <p:nvPr/>
            </p:nvSpPr>
            <p:spPr bwMode="auto">
              <a:xfrm>
                <a:off x="1534055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0</a:t>
                </a:r>
              </a:p>
            </p:txBody>
          </p:sp>
          <p:grpSp>
            <p:nvGrpSpPr>
              <p:cNvPr id="169" name="PointerBox">
                <a:extLst>
                  <a:ext uri="{FF2B5EF4-FFF2-40B4-BE49-F238E27FC236}">
                    <a16:creationId xmlns:a16="http://schemas.microsoft.com/office/drawing/2014/main" id="{95FA4513-17B1-4965-B4EA-A884A09A7BDB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BAA61A4C-8D23-4616-9CE6-47E540AFB6CD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175" name="mark" hidden="1">
                  <a:extLst>
                    <a:ext uri="{FF2B5EF4-FFF2-40B4-BE49-F238E27FC236}">
                      <a16:creationId xmlns:a16="http://schemas.microsoft.com/office/drawing/2014/main" id="{D2130A92-F889-4E93-A47C-1A238FF03345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DCF20B6C-D321-4A52-8D55-1F411EF8E9B8}"/>
                  </a:ext>
                </a:extLst>
              </p:cNvPr>
              <p:cNvSpPr/>
              <p:nvPr/>
            </p:nvSpPr>
            <p:spPr bwMode="auto">
              <a:xfrm>
                <a:off x="2076558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grpSp>
            <p:nvGrpSpPr>
              <p:cNvPr id="171" name="PointerBox">
                <a:extLst>
                  <a:ext uri="{FF2B5EF4-FFF2-40B4-BE49-F238E27FC236}">
                    <a16:creationId xmlns:a16="http://schemas.microsoft.com/office/drawing/2014/main" id="{C6BA7EBF-6F98-495D-95C1-15DF61507F1D}"/>
                  </a:ext>
                </a:extLst>
              </p:cNvPr>
              <p:cNvGrpSpPr/>
              <p:nvPr/>
            </p:nvGrpSpPr>
            <p:grpSpPr>
              <a:xfrm>
                <a:off x="2350878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7A959009-46FF-4FE1-ACAA-319BAAC392E8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173" name="mark" hidden="1">
                  <a:extLst>
                    <a:ext uri="{FF2B5EF4-FFF2-40B4-BE49-F238E27FC236}">
                      <a16:creationId xmlns:a16="http://schemas.microsoft.com/office/drawing/2014/main" id="{01BDFEBF-3826-41AE-8338-991FCBFAD878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76" name="1-bit Node">
              <a:extLst>
                <a:ext uri="{FF2B5EF4-FFF2-40B4-BE49-F238E27FC236}">
                  <a16:creationId xmlns:a16="http://schemas.microsoft.com/office/drawing/2014/main" id="{968DD993-0912-4663-8D53-EF52DD107BC2}"/>
                </a:ext>
              </a:extLst>
            </p:cNvPr>
            <p:cNvGrpSpPr/>
            <p:nvPr/>
          </p:nvGrpSpPr>
          <p:grpSpPr>
            <a:xfrm>
              <a:off x="361365" y="3931448"/>
              <a:ext cx="1091143" cy="274320"/>
              <a:chOff x="1534055" y="1551170"/>
              <a:chExt cx="1091143" cy="274320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CA3A06ED-3875-486E-92F6-26AEB44410BD}"/>
                  </a:ext>
                </a:extLst>
              </p:cNvPr>
              <p:cNvSpPr/>
              <p:nvPr/>
            </p:nvSpPr>
            <p:spPr bwMode="auto">
              <a:xfrm>
                <a:off x="1534055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0</a:t>
                </a:r>
              </a:p>
            </p:txBody>
          </p:sp>
          <p:grpSp>
            <p:nvGrpSpPr>
              <p:cNvPr id="178" name="PointerBox">
                <a:extLst>
                  <a:ext uri="{FF2B5EF4-FFF2-40B4-BE49-F238E27FC236}">
                    <a16:creationId xmlns:a16="http://schemas.microsoft.com/office/drawing/2014/main" id="{C0ED8335-8B41-448B-9041-D681F8A198FA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F3D43679-7A91-4401-BDD3-91497F2E2A7F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184" name="mark" hidden="1">
                  <a:extLst>
                    <a:ext uri="{FF2B5EF4-FFF2-40B4-BE49-F238E27FC236}">
                      <a16:creationId xmlns:a16="http://schemas.microsoft.com/office/drawing/2014/main" id="{3CEE5B25-61E1-4D19-ADF0-DE49AE05D899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7943DEAA-031A-4FEA-95B7-AB8D4B34FC36}"/>
                  </a:ext>
                </a:extLst>
              </p:cNvPr>
              <p:cNvSpPr/>
              <p:nvPr/>
            </p:nvSpPr>
            <p:spPr bwMode="auto">
              <a:xfrm>
                <a:off x="2076558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grpSp>
            <p:nvGrpSpPr>
              <p:cNvPr id="180" name="PointerBox">
                <a:extLst>
                  <a:ext uri="{FF2B5EF4-FFF2-40B4-BE49-F238E27FC236}">
                    <a16:creationId xmlns:a16="http://schemas.microsoft.com/office/drawing/2014/main" id="{56FA9EA5-44CA-40FA-9E8D-C61F56A4626C}"/>
                  </a:ext>
                </a:extLst>
              </p:cNvPr>
              <p:cNvGrpSpPr/>
              <p:nvPr/>
            </p:nvGrpSpPr>
            <p:grpSpPr>
              <a:xfrm>
                <a:off x="2350878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821DED42-AC8B-4DB7-82FE-46F86FBF642C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182" name="mark" hidden="1">
                  <a:extLst>
                    <a:ext uri="{FF2B5EF4-FFF2-40B4-BE49-F238E27FC236}">
                      <a16:creationId xmlns:a16="http://schemas.microsoft.com/office/drawing/2014/main" id="{CA269A44-8579-4A69-BDFC-3F808E6EEDB0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99" name="1-bit Node">
              <a:extLst>
                <a:ext uri="{FF2B5EF4-FFF2-40B4-BE49-F238E27FC236}">
                  <a16:creationId xmlns:a16="http://schemas.microsoft.com/office/drawing/2014/main" id="{408532D6-56DC-482B-A9BF-6305498D0F64}"/>
                </a:ext>
              </a:extLst>
            </p:cNvPr>
            <p:cNvGrpSpPr/>
            <p:nvPr/>
          </p:nvGrpSpPr>
          <p:grpSpPr>
            <a:xfrm>
              <a:off x="1511828" y="3534735"/>
              <a:ext cx="1091143" cy="274320"/>
              <a:chOff x="1534055" y="1551170"/>
              <a:chExt cx="1091143" cy="274320"/>
            </a:xfrm>
          </p:grpSpPr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B7820761-A200-48CB-BD53-39687F7450D6}"/>
                  </a:ext>
                </a:extLst>
              </p:cNvPr>
              <p:cNvSpPr/>
              <p:nvPr/>
            </p:nvSpPr>
            <p:spPr bwMode="auto">
              <a:xfrm>
                <a:off x="1534055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0</a:t>
                </a:r>
              </a:p>
            </p:txBody>
          </p:sp>
          <p:grpSp>
            <p:nvGrpSpPr>
              <p:cNvPr id="201" name="PointerBox">
                <a:extLst>
                  <a:ext uri="{FF2B5EF4-FFF2-40B4-BE49-F238E27FC236}">
                    <a16:creationId xmlns:a16="http://schemas.microsoft.com/office/drawing/2014/main" id="{0966F060-7FA9-4FE7-AE42-B002D0E6E2BB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206" name="Rectangle 205">
                  <a:extLst>
                    <a:ext uri="{FF2B5EF4-FFF2-40B4-BE49-F238E27FC236}">
                      <a16:creationId xmlns:a16="http://schemas.microsoft.com/office/drawing/2014/main" id="{B0027A7E-2287-49C7-8DBE-D0AA6E721699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207" name="mark" hidden="1">
                  <a:extLst>
                    <a:ext uri="{FF2B5EF4-FFF2-40B4-BE49-F238E27FC236}">
                      <a16:creationId xmlns:a16="http://schemas.microsoft.com/office/drawing/2014/main" id="{CB54073A-E8E9-4ACD-B9A4-749E6DD36627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EAA8F41D-1B96-4E01-A463-968CF4DA6F0D}"/>
                  </a:ext>
                </a:extLst>
              </p:cNvPr>
              <p:cNvSpPr/>
              <p:nvPr/>
            </p:nvSpPr>
            <p:spPr bwMode="auto">
              <a:xfrm>
                <a:off x="2076558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grpSp>
            <p:nvGrpSpPr>
              <p:cNvPr id="203" name="PointerBox">
                <a:extLst>
                  <a:ext uri="{FF2B5EF4-FFF2-40B4-BE49-F238E27FC236}">
                    <a16:creationId xmlns:a16="http://schemas.microsoft.com/office/drawing/2014/main" id="{D7477249-6FC8-48DB-A75B-C7CE3C8F54B8}"/>
                  </a:ext>
                </a:extLst>
              </p:cNvPr>
              <p:cNvGrpSpPr/>
              <p:nvPr/>
            </p:nvGrpSpPr>
            <p:grpSpPr>
              <a:xfrm>
                <a:off x="2350878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73048088-EAFB-46A3-8DB6-97D8DC85F6F8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205" name="mark" hidden="1">
                  <a:extLst>
                    <a:ext uri="{FF2B5EF4-FFF2-40B4-BE49-F238E27FC236}">
                      <a16:creationId xmlns:a16="http://schemas.microsoft.com/office/drawing/2014/main" id="{1F0171A6-40B5-4227-B0D4-798B13F438ED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208" name="1-bit Node">
              <a:extLst>
                <a:ext uri="{FF2B5EF4-FFF2-40B4-BE49-F238E27FC236}">
                  <a16:creationId xmlns:a16="http://schemas.microsoft.com/office/drawing/2014/main" id="{7FB0AEC9-A795-4F6A-A96F-AC680EA00592}"/>
                </a:ext>
              </a:extLst>
            </p:cNvPr>
            <p:cNvGrpSpPr/>
            <p:nvPr/>
          </p:nvGrpSpPr>
          <p:grpSpPr>
            <a:xfrm>
              <a:off x="1511828" y="3931448"/>
              <a:ext cx="1091143" cy="274320"/>
              <a:chOff x="1534055" y="1551170"/>
              <a:chExt cx="1091143" cy="274320"/>
            </a:xfrm>
          </p:grpSpPr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91511313-271E-4DB2-8BE1-79BF6B172E78}"/>
                  </a:ext>
                </a:extLst>
              </p:cNvPr>
              <p:cNvSpPr/>
              <p:nvPr/>
            </p:nvSpPr>
            <p:spPr bwMode="auto">
              <a:xfrm>
                <a:off x="1534055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0</a:t>
                </a:r>
              </a:p>
            </p:txBody>
          </p:sp>
          <p:grpSp>
            <p:nvGrpSpPr>
              <p:cNvPr id="210" name="PointerBox">
                <a:extLst>
                  <a:ext uri="{FF2B5EF4-FFF2-40B4-BE49-F238E27FC236}">
                    <a16:creationId xmlns:a16="http://schemas.microsoft.com/office/drawing/2014/main" id="{A2FF2AF0-1636-4CB7-974B-EE5D00CA919E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05477BB4-9D2A-4599-9B1D-638ADD3CA3D4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216" name="mark" hidden="1">
                  <a:extLst>
                    <a:ext uri="{FF2B5EF4-FFF2-40B4-BE49-F238E27FC236}">
                      <a16:creationId xmlns:a16="http://schemas.microsoft.com/office/drawing/2014/main" id="{28B80C33-06E9-4DE2-838B-573C719F149A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6AE5F5D1-5EE7-45BE-99B0-D99F39F9BC75}"/>
                  </a:ext>
                </a:extLst>
              </p:cNvPr>
              <p:cNvSpPr/>
              <p:nvPr/>
            </p:nvSpPr>
            <p:spPr bwMode="auto">
              <a:xfrm>
                <a:off x="2076558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grpSp>
            <p:nvGrpSpPr>
              <p:cNvPr id="212" name="PointerBox">
                <a:extLst>
                  <a:ext uri="{FF2B5EF4-FFF2-40B4-BE49-F238E27FC236}">
                    <a16:creationId xmlns:a16="http://schemas.microsoft.com/office/drawing/2014/main" id="{BF432CF0-6AA2-4AA6-9BDC-2C9D2C6B2DEB}"/>
                  </a:ext>
                </a:extLst>
              </p:cNvPr>
              <p:cNvGrpSpPr/>
              <p:nvPr/>
            </p:nvGrpSpPr>
            <p:grpSpPr>
              <a:xfrm>
                <a:off x="2350878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213" name="Rectangle 212">
                  <a:extLst>
                    <a:ext uri="{FF2B5EF4-FFF2-40B4-BE49-F238E27FC236}">
                      <a16:creationId xmlns:a16="http://schemas.microsoft.com/office/drawing/2014/main" id="{BC822D0A-5FFD-4519-8E1A-6175893D5CC3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214" name="mark" hidden="1">
                  <a:extLst>
                    <a:ext uri="{FF2B5EF4-FFF2-40B4-BE49-F238E27FC236}">
                      <a16:creationId xmlns:a16="http://schemas.microsoft.com/office/drawing/2014/main" id="{A8C59008-76AB-45F2-8006-B0633C474912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40" name="1-bit Node">
              <a:extLst>
                <a:ext uri="{FF2B5EF4-FFF2-40B4-BE49-F238E27FC236}">
                  <a16:creationId xmlns:a16="http://schemas.microsoft.com/office/drawing/2014/main" id="{638BA1E7-A18E-4F7D-92E9-507CF3237B68}"/>
                </a:ext>
              </a:extLst>
            </p:cNvPr>
            <p:cNvGrpSpPr/>
            <p:nvPr/>
          </p:nvGrpSpPr>
          <p:grpSpPr>
            <a:xfrm>
              <a:off x="361365" y="2741309"/>
              <a:ext cx="1091143" cy="274320"/>
              <a:chOff x="1534055" y="1551170"/>
              <a:chExt cx="1091143" cy="274320"/>
            </a:xfrm>
          </p:grpSpPr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650BFCD9-08E0-4880-B708-FFBF537BBC92}"/>
                  </a:ext>
                </a:extLst>
              </p:cNvPr>
              <p:cNvSpPr/>
              <p:nvPr/>
            </p:nvSpPr>
            <p:spPr bwMode="auto">
              <a:xfrm>
                <a:off x="1534055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0</a:t>
                </a:r>
              </a:p>
            </p:txBody>
          </p:sp>
          <p:grpSp>
            <p:nvGrpSpPr>
              <p:cNvPr id="142" name="PointerBox">
                <a:extLst>
                  <a:ext uri="{FF2B5EF4-FFF2-40B4-BE49-F238E27FC236}">
                    <a16:creationId xmlns:a16="http://schemas.microsoft.com/office/drawing/2014/main" id="{66B7A08F-B6C3-47DA-8DE2-8B8AE6F0CEA4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E2C77816-8D53-4AC4-9B4B-973A71EA144A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148" name="mark" hidden="1">
                  <a:extLst>
                    <a:ext uri="{FF2B5EF4-FFF2-40B4-BE49-F238E27FC236}">
                      <a16:creationId xmlns:a16="http://schemas.microsoft.com/office/drawing/2014/main" id="{025CD970-D3F3-4478-85D0-C4ABB81B4775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17A52672-4DA2-4D92-A904-B39F9E6602D7}"/>
                  </a:ext>
                </a:extLst>
              </p:cNvPr>
              <p:cNvSpPr/>
              <p:nvPr/>
            </p:nvSpPr>
            <p:spPr bwMode="auto">
              <a:xfrm>
                <a:off x="2076558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grpSp>
            <p:nvGrpSpPr>
              <p:cNvPr id="144" name="PointerBox">
                <a:extLst>
                  <a:ext uri="{FF2B5EF4-FFF2-40B4-BE49-F238E27FC236}">
                    <a16:creationId xmlns:a16="http://schemas.microsoft.com/office/drawing/2014/main" id="{EFE5D15B-A6BC-4A01-AC63-41FAFC253F1E}"/>
                  </a:ext>
                </a:extLst>
              </p:cNvPr>
              <p:cNvGrpSpPr/>
              <p:nvPr/>
            </p:nvGrpSpPr>
            <p:grpSpPr>
              <a:xfrm>
                <a:off x="2350878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71BF924E-CD1E-482B-BDA9-9986FA2F3757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146" name="mark" hidden="1">
                  <a:extLst>
                    <a:ext uri="{FF2B5EF4-FFF2-40B4-BE49-F238E27FC236}">
                      <a16:creationId xmlns:a16="http://schemas.microsoft.com/office/drawing/2014/main" id="{A665A705-37AD-4AE2-AAA9-407A6B52763F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149" name="1-bit Node">
              <a:extLst>
                <a:ext uri="{FF2B5EF4-FFF2-40B4-BE49-F238E27FC236}">
                  <a16:creationId xmlns:a16="http://schemas.microsoft.com/office/drawing/2014/main" id="{870D5374-7871-4650-9C55-D7CF8E360004}"/>
                </a:ext>
              </a:extLst>
            </p:cNvPr>
            <p:cNvGrpSpPr/>
            <p:nvPr/>
          </p:nvGrpSpPr>
          <p:grpSpPr>
            <a:xfrm>
              <a:off x="2087060" y="2741309"/>
              <a:ext cx="1091143" cy="274320"/>
              <a:chOff x="1534055" y="1551170"/>
              <a:chExt cx="1091143" cy="274320"/>
            </a:xfrm>
          </p:grpSpPr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C8993AA0-6D8B-4E1F-B81A-17B1D8764247}"/>
                  </a:ext>
                </a:extLst>
              </p:cNvPr>
              <p:cNvSpPr/>
              <p:nvPr/>
            </p:nvSpPr>
            <p:spPr bwMode="auto">
              <a:xfrm>
                <a:off x="1534055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0</a:t>
                </a:r>
              </a:p>
            </p:txBody>
          </p:sp>
          <p:grpSp>
            <p:nvGrpSpPr>
              <p:cNvPr id="151" name="PointerBox">
                <a:extLst>
                  <a:ext uri="{FF2B5EF4-FFF2-40B4-BE49-F238E27FC236}">
                    <a16:creationId xmlns:a16="http://schemas.microsoft.com/office/drawing/2014/main" id="{68A3E170-759E-495A-A6C6-BDA671AD9793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3B44DE65-B18B-4F5A-9F6B-2293D1FFFA60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157" name="mark" hidden="1">
                  <a:extLst>
                    <a:ext uri="{FF2B5EF4-FFF2-40B4-BE49-F238E27FC236}">
                      <a16:creationId xmlns:a16="http://schemas.microsoft.com/office/drawing/2014/main" id="{AC4F6CF8-18C9-41DE-A454-BCDC68D86B5E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ECB6E443-8010-4661-8E09-DBFCA5E6DDCA}"/>
                  </a:ext>
                </a:extLst>
              </p:cNvPr>
              <p:cNvSpPr/>
              <p:nvPr/>
            </p:nvSpPr>
            <p:spPr bwMode="auto">
              <a:xfrm>
                <a:off x="2076558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grpSp>
            <p:nvGrpSpPr>
              <p:cNvPr id="153" name="PointerBox">
                <a:extLst>
                  <a:ext uri="{FF2B5EF4-FFF2-40B4-BE49-F238E27FC236}">
                    <a16:creationId xmlns:a16="http://schemas.microsoft.com/office/drawing/2014/main" id="{ADEF979C-3774-4472-B245-F230F6EE7969}"/>
                  </a:ext>
                </a:extLst>
              </p:cNvPr>
              <p:cNvGrpSpPr/>
              <p:nvPr/>
            </p:nvGrpSpPr>
            <p:grpSpPr>
              <a:xfrm>
                <a:off x="2350878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1FFD8B94-37FD-47AE-819B-CE67C798DB98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155" name="mark" hidden="1">
                  <a:extLst>
                    <a:ext uri="{FF2B5EF4-FFF2-40B4-BE49-F238E27FC236}">
                      <a16:creationId xmlns:a16="http://schemas.microsoft.com/office/drawing/2014/main" id="{37E1D95E-491E-4ED8-BE8A-BFC568218863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226" name="1-bit Node">
              <a:extLst>
                <a:ext uri="{FF2B5EF4-FFF2-40B4-BE49-F238E27FC236}">
                  <a16:creationId xmlns:a16="http://schemas.microsoft.com/office/drawing/2014/main" id="{F3179E6F-B078-4748-A35C-BF92BB904B0D}"/>
                </a:ext>
              </a:extLst>
            </p:cNvPr>
            <p:cNvGrpSpPr/>
            <p:nvPr/>
          </p:nvGrpSpPr>
          <p:grpSpPr>
            <a:xfrm>
              <a:off x="2087060" y="3138022"/>
              <a:ext cx="1091143" cy="274320"/>
              <a:chOff x="1534055" y="1551170"/>
              <a:chExt cx="1091143" cy="274320"/>
            </a:xfrm>
          </p:grpSpPr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44FFB152-D566-423A-917F-648F15CC1CF9}"/>
                  </a:ext>
                </a:extLst>
              </p:cNvPr>
              <p:cNvSpPr/>
              <p:nvPr/>
            </p:nvSpPr>
            <p:spPr bwMode="auto">
              <a:xfrm>
                <a:off x="1534055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0</a:t>
                </a:r>
              </a:p>
            </p:txBody>
          </p:sp>
          <p:grpSp>
            <p:nvGrpSpPr>
              <p:cNvPr id="228" name="PointerBox">
                <a:extLst>
                  <a:ext uri="{FF2B5EF4-FFF2-40B4-BE49-F238E27FC236}">
                    <a16:creationId xmlns:a16="http://schemas.microsoft.com/office/drawing/2014/main" id="{042A84D9-963B-4717-B1BF-73653685FFFB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233" name="Rectangle 232">
                  <a:extLst>
                    <a:ext uri="{FF2B5EF4-FFF2-40B4-BE49-F238E27FC236}">
                      <a16:creationId xmlns:a16="http://schemas.microsoft.com/office/drawing/2014/main" id="{D5CCE843-90B6-4F5A-97B8-0CC114510642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234" name="mark" hidden="1">
                  <a:extLst>
                    <a:ext uri="{FF2B5EF4-FFF2-40B4-BE49-F238E27FC236}">
                      <a16:creationId xmlns:a16="http://schemas.microsoft.com/office/drawing/2014/main" id="{B0CCBE85-C98A-4E13-B47A-C33F6760B2EA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0B8DC975-9A8F-409B-A596-7483110EA13D}"/>
                  </a:ext>
                </a:extLst>
              </p:cNvPr>
              <p:cNvSpPr/>
              <p:nvPr/>
            </p:nvSpPr>
            <p:spPr bwMode="auto">
              <a:xfrm>
                <a:off x="2076558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grpSp>
            <p:nvGrpSpPr>
              <p:cNvPr id="230" name="PointerBox">
                <a:extLst>
                  <a:ext uri="{FF2B5EF4-FFF2-40B4-BE49-F238E27FC236}">
                    <a16:creationId xmlns:a16="http://schemas.microsoft.com/office/drawing/2014/main" id="{E5661F6F-EE6A-4D32-A75B-958873A32BBB}"/>
                  </a:ext>
                </a:extLst>
              </p:cNvPr>
              <p:cNvGrpSpPr/>
              <p:nvPr/>
            </p:nvGrpSpPr>
            <p:grpSpPr>
              <a:xfrm>
                <a:off x="2350878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231" name="Rectangle 230">
                  <a:extLst>
                    <a:ext uri="{FF2B5EF4-FFF2-40B4-BE49-F238E27FC236}">
                      <a16:creationId xmlns:a16="http://schemas.microsoft.com/office/drawing/2014/main" id="{162187D4-30AF-4D99-8BA6-C6D7F9D2A92A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232" name="mark" hidden="1">
                  <a:extLst>
                    <a:ext uri="{FF2B5EF4-FFF2-40B4-BE49-F238E27FC236}">
                      <a16:creationId xmlns:a16="http://schemas.microsoft.com/office/drawing/2014/main" id="{DC574F85-C239-43E6-8E5A-B87BD51BA39A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235" name="1-bit Node">
              <a:extLst>
                <a:ext uri="{FF2B5EF4-FFF2-40B4-BE49-F238E27FC236}">
                  <a16:creationId xmlns:a16="http://schemas.microsoft.com/office/drawing/2014/main" id="{3307C796-731D-471D-80FC-96FA81CFCF26}"/>
                </a:ext>
              </a:extLst>
            </p:cNvPr>
            <p:cNvGrpSpPr/>
            <p:nvPr/>
          </p:nvGrpSpPr>
          <p:grpSpPr>
            <a:xfrm>
              <a:off x="2662292" y="3534735"/>
              <a:ext cx="1091143" cy="274320"/>
              <a:chOff x="1534055" y="1551170"/>
              <a:chExt cx="1091143" cy="274320"/>
            </a:xfrm>
          </p:grpSpPr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10F19739-98FD-416B-B7AA-45CE66589CDA}"/>
                  </a:ext>
                </a:extLst>
              </p:cNvPr>
              <p:cNvSpPr/>
              <p:nvPr/>
            </p:nvSpPr>
            <p:spPr bwMode="auto">
              <a:xfrm>
                <a:off x="1534055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0</a:t>
                </a:r>
              </a:p>
            </p:txBody>
          </p:sp>
          <p:grpSp>
            <p:nvGrpSpPr>
              <p:cNvPr id="237" name="PointerBox">
                <a:extLst>
                  <a:ext uri="{FF2B5EF4-FFF2-40B4-BE49-F238E27FC236}">
                    <a16:creationId xmlns:a16="http://schemas.microsoft.com/office/drawing/2014/main" id="{AC5C699C-3139-459C-B3D5-72E3FB8D83E1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242" name="Rectangle 241">
                  <a:extLst>
                    <a:ext uri="{FF2B5EF4-FFF2-40B4-BE49-F238E27FC236}">
                      <a16:creationId xmlns:a16="http://schemas.microsoft.com/office/drawing/2014/main" id="{F941F412-8DD4-41C8-991B-97EBDA01174D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243" name="mark" hidden="1">
                  <a:extLst>
                    <a:ext uri="{FF2B5EF4-FFF2-40B4-BE49-F238E27FC236}">
                      <a16:creationId xmlns:a16="http://schemas.microsoft.com/office/drawing/2014/main" id="{CAECFCE8-7705-497E-B411-776E44443BA5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71327CD5-90CF-4535-9CB6-BA32483C2C40}"/>
                  </a:ext>
                </a:extLst>
              </p:cNvPr>
              <p:cNvSpPr/>
              <p:nvPr/>
            </p:nvSpPr>
            <p:spPr bwMode="auto">
              <a:xfrm>
                <a:off x="2076558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grpSp>
            <p:nvGrpSpPr>
              <p:cNvPr id="239" name="PointerBox">
                <a:extLst>
                  <a:ext uri="{FF2B5EF4-FFF2-40B4-BE49-F238E27FC236}">
                    <a16:creationId xmlns:a16="http://schemas.microsoft.com/office/drawing/2014/main" id="{72395C4A-6694-4DC3-8D43-16CCA2FA9BCB}"/>
                  </a:ext>
                </a:extLst>
              </p:cNvPr>
              <p:cNvGrpSpPr/>
              <p:nvPr/>
            </p:nvGrpSpPr>
            <p:grpSpPr>
              <a:xfrm>
                <a:off x="2350878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240" name="Rectangle 239">
                  <a:extLst>
                    <a:ext uri="{FF2B5EF4-FFF2-40B4-BE49-F238E27FC236}">
                      <a16:creationId xmlns:a16="http://schemas.microsoft.com/office/drawing/2014/main" id="{7CE86810-FF31-4411-9A95-80190ECCF58D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241" name="mark" hidden="1">
                  <a:extLst>
                    <a:ext uri="{FF2B5EF4-FFF2-40B4-BE49-F238E27FC236}">
                      <a16:creationId xmlns:a16="http://schemas.microsoft.com/office/drawing/2014/main" id="{5997B324-3348-4E5C-B4FE-18E264C710D3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244" name="1-bit Node">
              <a:extLst>
                <a:ext uri="{FF2B5EF4-FFF2-40B4-BE49-F238E27FC236}">
                  <a16:creationId xmlns:a16="http://schemas.microsoft.com/office/drawing/2014/main" id="{6443D1ED-16C9-4083-8A55-54EC94FE380F}"/>
                </a:ext>
              </a:extLst>
            </p:cNvPr>
            <p:cNvGrpSpPr/>
            <p:nvPr/>
          </p:nvGrpSpPr>
          <p:grpSpPr>
            <a:xfrm>
              <a:off x="2662292" y="3931448"/>
              <a:ext cx="1091143" cy="274320"/>
              <a:chOff x="1534055" y="1551170"/>
              <a:chExt cx="1091143" cy="274320"/>
            </a:xfrm>
          </p:grpSpPr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CF1E05AD-4BD6-4B81-99E5-3124DFC311A2}"/>
                  </a:ext>
                </a:extLst>
              </p:cNvPr>
              <p:cNvSpPr/>
              <p:nvPr/>
            </p:nvSpPr>
            <p:spPr bwMode="auto">
              <a:xfrm>
                <a:off x="1534055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0</a:t>
                </a:r>
              </a:p>
            </p:txBody>
          </p:sp>
          <p:grpSp>
            <p:nvGrpSpPr>
              <p:cNvPr id="246" name="PointerBox">
                <a:extLst>
                  <a:ext uri="{FF2B5EF4-FFF2-40B4-BE49-F238E27FC236}">
                    <a16:creationId xmlns:a16="http://schemas.microsoft.com/office/drawing/2014/main" id="{2E0BCC6F-7C1B-467B-8A19-317215043DF0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251" name="Rectangle 250">
                  <a:extLst>
                    <a:ext uri="{FF2B5EF4-FFF2-40B4-BE49-F238E27FC236}">
                      <a16:creationId xmlns:a16="http://schemas.microsoft.com/office/drawing/2014/main" id="{D8A7CB46-CCB7-4295-B724-11F18E25FD21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252" name="mark" hidden="1">
                  <a:extLst>
                    <a:ext uri="{FF2B5EF4-FFF2-40B4-BE49-F238E27FC236}">
                      <a16:creationId xmlns:a16="http://schemas.microsoft.com/office/drawing/2014/main" id="{2C20A4DF-B99C-431F-B02D-617356938CB6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7ED2D588-50BD-45E2-A9EE-D4EE114BFB7D}"/>
                  </a:ext>
                </a:extLst>
              </p:cNvPr>
              <p:cNvSpPr/>
              <p:nvPr/>
            </p:nvSpPr>
            <p:spPr bwMode="auto">
              <a:xfrm>
                <a:off x="2076558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16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1</a:t>
                </a:r>
              </a:p>
            </p:txBody>
          </p:sp>
          <p:grpSp>
            <p:nvGrpSpPr>
              <p:cNvPr id="248" name="PointerBox">
                <a:extLst>
                  <a:ext uri="{FF2B5EF4-FFF2-40B4-BE49-F238E27FC236}">
                    <a16:creationId xmlns:a16="http://schemas.microsoft.com/office/drawing/2014/main" id="{DAFD55DB-30AE-401B-909C-DF545B23D525}"/>
                  </a:ext>
                </a:extLst>
              </p:cNvPr>
              <p:cNvGrpSpPr/>
              <p:nvPr/>
            </p:nvGrpSpPr>
            <p:grpSpPr>
              <a:xfrm>
                <a:off x="2350878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249" name="Rectangle 248">
                  <a:extLst>
                    <a:ext uri="{FF2B5EF4-FFF2-40B4-BE49-F238E27FC236}">
                      <a16:creationId xmlns:a16="http://schemas.microsoft.com/office/drawing/2014/main" id="{E921AFFA-3962-4F83-BA5C-C3100BCA9B0D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250" name="mark" hidden="1">
                  <a:extLst>
                    <a:ext uri="{FF2B5EF4-FFF2-40B4-BE49-F238E27FC236}">
                      <a16:creationId xmlns:a16="http://schemas.microsoft.com/office/drawing/2014/main" id="{B04A5482-6157-4DE6-B0C6-EC2BA397F468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cxnSp>
          <p:nvCxnSpPr>
            <p:cNvPr id="256" name="Pointer">
              <a:extLst>
                <a:ext uri="{FF2B5EF4-FFF2-40B4-BE49-F238E27FC236}">
                  <a16:creationId xmlns:a16="http://schemas.microsoft.com/office/drawing/2014/main" id="{802C85D3-AB56-4C45-912F-CCC47E53CD13}"/>
                </a:ext>
              </a:extLst>
            </p:cNvPr>
            <p:cNvCxnSpPr>
              <a:cxnSpLocks noChangeShapeType="1"/>
              <a:stCxn id="155" idx="2"/>
              <a:endCxn id="227" idx="0"/>
            </p:cNvCxnSpPr>
            <p:nvPr/>
          </p:nvCxnSpPr>
          <p:spPr bwMode="auto">
            <a:xfrm rot="5400000">
              <a:off x="2539686" y="2636664"/>
              <a:ext cx="185893" cy="816823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" name="Pointer">
              <a:extLst>
                <a:ext uri="{FF2B5EF4-FFF2-40B4-BE49-F238E27FC236}">
                  <a16:creationId xmlns:a16="http://schemas.microsoft.com/office/drawing/2014/main" id="{9E50E20C-BB43-47A1-8958-6FE41663D642}"/>
                </a:ext>
              </a:extLst>
            </p:cNvPr>
            <p:cNvCxnSpPr>
              <a:cxnSpLocks noChangeShapeType="1"/>
              <a:stCxn id="146" idx="2"/>
              <a:endCxn id="159" idx="0"/>
            </p:cNvCxnSpPr>
            <p:nvPr/>
          </p:nvCxnSpPr>
          <p:spPr bwMode="auto">
            <a:xfrm rot="5400000">
              <a:off x="813991" y="2636664"/>
              <a:ext cx="185893" cy="816823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0" name="Pointer">
              <a:extLst>
                <a:ext uri="{FF2B5EF4-FFF2-40B4-BE49-F238E27FC236}">
                  <a16:creationId xmlns:a16="http://schemas.microsoft.com/office/drawing/2014/main" id="{4315545A-BDB3-445D-9D39-7EE9445E61C0}"/>
                </a:ext>
              </a:extLst>
            </p:cNvPr>
            <p:cNvCxnSpPr>
              <a:cxnSpLocks noChangeShapeType="1"/>
              <a:stCxn id="234" idx="2"/>
              <a:endCxn id="200" idx="0"/>
            </p:cNvCxnSpPr>
            <p:nvPr/>
          </p:nvCxnSpPr>
          <p:spPr bwMode="auto">
            <a:xfrm rot="5400000">
              <a:off x="1980818" y="3017012"/>
              <a:ext cx="185893" cy="849552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4" name="Pointer">
              <a:extLst>
                <a:ext uri="{FF2B5EF4-FFF2-40B4-BE49-F238E27FC236}">
                  <a16:creationId xmlns:a16="http://schemas.microsoft.com/office/drawing/2014/main" id="{C495BFE7-58A6-4B43-9E38-D2399D05B18F}"/>
                </a:ext>
              </a:extLst>
            </p:cNvPr>
            <p:cNvCxnSpPr>
              <a:cxnSpLocks noChangeShapeType="1"/>
              <a:stCxn id="232" idx="2"/>
              <a:endCxn id="236" idx="0"/>
            </p:cNvCxnSpPr>
            <p:nvPr/>
          </p:nvCxnSpPr>
          <p:spPr bwMode="auto">
            <a:xfrm rot="5400000">
              <a:off x="2827302" y="3320993"/>
              <a:ext cx="185893" cy="241591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7" name="Pointer">
              <a:extLst>
                <a:ext uri="{FF2B5EF4-FFF2-40B4-BE49-F238E27FC236}">
                  <a16:creationId xmlns:a16="http://schemas.microsoft.com/office/drawing/2014/main" id="{8EF8A882-4618-49A1-932A-02E937298DF5}"/>
                </a:ext>
              </a:extLst>
            </p:cNvPr>
            <p:cNvCxnSpPr>
              <a:cxnSpLocks noChangeShapeType="1"/>
              <a:stCxn id="207" idx="2"/>
              <a:endCxn id="209" idx="0"/>
            </p:cNvCxnSpPr>
            <p:nvPr/>
          </p:nvCxnSpPr>
          <p:spPr bwMode="auto">
            <a:xfrm rot="5400000">
              <a:off x="1693202" y="3701341"/>
              <a:ext cx="185893" cy="274320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" name="Pointer">
              <a:extLst>
                <a:ext uri="{FF2B5EF4-FFF2-40B4-BE49-F238E27FC236}">
                  <a16:creationId xmlns:a16="http://schemas.microsoft.com/office/drawing/2014/main" id="{E3C587FB-5E1D-4865-9F4A-105D7B3488B0}"/>
                </a:ext>
              </a:extLst>
            </p:cNvPr>
            <p:cNvCxnSpPr>
              <a:cxnSpLocks noChangeShapeType="1"/>
              <a:stCxn id="214" idx="2"/>
            </p:cNvCxnSpPr>
            <p:nvPr/>
          </p:nvCxnSpPr>
          <p:spPr bwMode="auto">
            <a:xfrm>
              <a:off x="2465811" y="4142268"/>
              <a:ext cx="0" cy="288293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0" name="Pointer">
              <a:extLst>
                <a:ext uri="{FF2B5EF4-FFF2-40B4-BE49-F238E27FC236}">
                  <a16:creationId xmlns:a16="http://schemas.microsoft.com/office/drawing/2014/main" id="{7AB3AA78-C21A-42D3-BDD9-706EF9FF17DC}"/>
                </a:ext>
              </a:extLst>
            </p:cNvPr>
            <p:cNvCxnSpPr>
              <a:cxnSpLocks noChangeShapeType="1"/>
              <a:stCxn id="250" idx="2"/>
            </p:cNvCxnSpPr>
            <p:nvPr/>
          </p:nvCxnSpPr>
          <p:spPr bwMode="auto">
            <a:xfrm>
              <a:off x="3616275" y="4142268"/>
              <a:ext cx="0" cy="288293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3" name="Pointer">
              <a:extLst>
                <a:ext uri="{FF2B5EF4-FFF2-40B4-BE49-F238E27FC236}">
                  <a16:creationId xmlns:a16="http://schemas.microsoft.com/office/drawing/2014/main" id="{7F0B5904-557C-4E0C-8196-42F487C950F9}"/>
                </a:ext>
              </a:extLst>
            </p:cNvPr>
            <p:cNvCxnSpPr>
              <a:cxnSpLocks noChangeShapeType="1"/>
              <a:stCxn id="241" idx="2"/>
              <a:endCxn id="245" idx="0"/>
            </p:cNvCxnSpPr>
            <p:nvPr/>
          </p:nvCxnSpPr>
          <p:spPr bwMode="auto">
            <a:xfrm rot="5400000">
              <a:off x="3114918" y="3430090"/>
              <a:ext cx="185893" cy="816823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6" name="Pointer">
              <a:extLst>
                <a:ext uri="{FF2B5EF4-FFF2-40B4-BE49-F238E27FC236}">
                  <a16:creationId xmlns:a16="http://schemas.microsoft.com/office/drawing/2014/main" id="{F8DDD07F-8DB2-4E56-BC25-F5DFE1D621A4}"/>
                </a:ext>
              </a:extLst>
            </p:cNvPr>
            <p:cNvCxnSpPr>
              <a:cxnSpLocks noChangeShapeType="1"/>
              <a:stCxn id="166" idx="2"/>
              <a:endCxn id="168" idx="0"/>
            </p:cNvCxnSpPr>
            <p:nvPr/>
          </p:nvCxnSpPr>
          <p:spPr bwMode="auto">
            <a:xfrm rot="5400000">
              <a:off x="539564" y="3301453"/>
              <a:ext cx="192243" cy="274320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7" name="Pointer">
              <a:extLst>
                <a:ext uri="{FF2B5EF4-FFF2-40B4-BE49-F238E27FC236}">
                  <a16:creationId xmlns:a16="http://schemas.microsoft.com/office/drawing/2014/main" id="{6D8317E2-320D-42BA-A3DB-F79A66F8DD02}"/>
                </a:ext>
              </a:extLst>
            </p:cNvPr>
            <p:cNvCxnSpPr>
              <a:cxnSpLocks noChangeShapeType="1"/>
              <a:stCxn id="173" idx="2"/>
              <a:endCxn id="177" idx="0"/>
            </p:cNvCxnSpPr>
            <p:nvPr/>
          </p:nvCxnSpPr>
          <p:spPr bwMode="auto">
            <a:xfrm rot="5400000">
              <a:off x="813991" y="3430090"/>
              <a:ext cx="185893" cy="816823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8" name="Pointer">
              <a:extLst>
                <a:ext uri="{FF2B5EF4-FFF2-40B4-BE49-F238E27FC236}">
                  <a16:creationId xmlns:a16="http://schemas.microsoft.com/office/drawing/2014/main" id="{B8D53B83-5EE3-4F36-B331-19B963F067A7}"/>
                </a:ext>
              </a:extLst>
            </p:cNvPr>
            <p:cNvCxnSpPr>
              <a:cxnSpLocks noChangeShapeType="1"/>
              <a:stCxn id="184" idx="2"/>
            </p:cNvCxnSpPr>
            <p:nvPr/>
          </p:nvCxnSpPr>
          <p:spPr bwMode="auto">
            <a:xfrm>
              <a:off x="772845" y="4142268"/>
              <a:ext cx="0" cy="288293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Pointer">
              <a:extLst>
                <a:ext uri="{FF2B5EF4-FFF2-40B4-BE49-F238E27FC236}">
                  <a16:creationId xmlns:a16="http://schemas.microsoft.com/office/drawing/2014/main" id="{9C6CFEDC-F387-4D14-ABDD-DCFBA499F0B3}"/>
                </a:ext>
              </a:extLst>
            </p:cNvPr>
            <p:cNvCxnSpPr>
              <a:cxnSpLocks noChangeShapeType="1"/>
              <a:stCxn id="87" idx="2"/>
              <a:endCxn id="105" idx="0"/>
            </p:cNvCxnSpPr>
            <p:nvPr/>
          </p:nvCxnSpPr>
          <p:spPr bwMode="auto">
            <a:xfrm rot="5400000">
              <a:off x="1715429" y="1717776"/>
              <a:ext cx="185893" cy="274320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Pointer">
              <a:extLst>
                <a:ext uri="{FF2B5EF4-FFF2-40B4-BE49-F238E27FC236}">
                  <a16:creationId xmlns:a16="http://schemas.microsoft.com/office/drawing/2014/main" id="{7947D7D2-223F-488C-91A2-7A2CFE752A33}"/>
                </a:ext>
              </a:extLst>
            </p:cNvPr>
            <p:cNvCxnSpPr>
              <a:cxnSpLocks noChangeShapeType="1"/>
              <a:stCxn id="128" idx="2"/>
              <a:endCxn id="131" idx="0"/>
            </p:cNvCxnSpPr>
            <p:nvPr/>
          </p:nvCxnSpPr>
          <p:spPr bwMode="auto">
            <a:xfrm rot="5400000">
              <a:off x="1715429" y="2114489"/>
              <a:ext cx="185893" cy="274320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Pointer">
              <a:extLst>
                <a:ext uri="{FF2B5EF4-FFF2-40B4-BE49-F238E27FC236}">
                  <a16:creationId xmlns:a16="http://schemas.microsoft.com/office/drawing/2014/main" id="{000686F7-856E-4025-846F-EC9D25C9D326}"/>
                </a:ext>
              </a:extLst>
            </p:cNvPr>
            <p:cNvCxnSpPr>
              <a:cxnSpLocks noChangeShapeType="1"/>
              <a:stCxn id="138" idx="2"/>
              <a:endCxn id="141" idx="0"/>
            </p:cNvCxnSpPr>
            <p:nvPr/>
          </p:nvCxnSpPr>
          <p:spPr bwMode="auto">
            <a:xfrm rot="5400000">
              <a:off x="1129084" y="1924857"/>
              <a:ext cx="185893" cy="1447010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9" name="Pointer">
              <a:extLst>
                <a:ext uri="{FF2B5EF4-FFF2-40B4-BE49-F238E27FC236}">
                  <a16:creationId xmlns:a16="http://schemas.microsoft.com/office/drawing/2014/main" id="{45AB9251-14C2-429C-9581-D364EB01424F}"/>
                </a:ext>
              </a:extLst>
            </p:cNvPr>
            <p:cNvCxnSpPr>
              <a:cxnSpLocks noChangeShapeType="1"/>
              <a:stCxn id="136" idx="2"/>
              <a:endCxn id="150" idx="0"/>
            </p:cNvCxnSpPr>
            <p:nvPr/>
          </p:nvCxnSpPr>
          <p:spPr bwMode="auto">
            <a:xfrm rot="5400000">
              <a:off x="2263183" y="2516453"/>
              <a:ext cx="185893" cy="263818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86" name="Trie  Arrow">
            <a:extLst>
              <a:ext uri="{FF2B5EF4-FFF2-40B4-BE49-F238E27FC236}">
                <a16:creationId xmlns:a16="http://schemas.microsoft.com/office/drawing/2014/main" id="{55F6824E-1A13-48B9-AECD-D01AF4DC8712}"/>
              </a:ext>
            </a:extLst>
          </p:cNvPr>
          <p:cNvSpPr/>
          <p:nvPr/>
        </p:nvSpPr>
        <p:spPr>
          <a:xfrm rot="16200000">
            <a:off x="1309020" y="1274444"/>
            <a:ext cx="457200" cy="365760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Cursor Arrow">
            <a:extLst>
              <a:ext uri="{FF2B5EF4-FFF2-40B4-BE49-F238E27FC236}">
                <a16:creationId xmlns:a16="http://schemas.microsoft.com/office/drawing/2014/main" id="{CB4E4D75-58C2-4D74-89D2-E56C4D1A20AF}"/>
              </a:ext>
            </a:extLst>
          </p:cNvPr>
          <p:cNvSpPr/>
          <p:nvPr/>
        </p:nvSpPr>
        <p:spPr>
          <a:xfrm>
            <a:off x="5010142" y="1504950"/>
            <a:ext cx="457200" cy="365760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CA2B8D3A-E43D-45D9-901F-F2EB4E93A99F}"/>
              </a:ext>
            </a:extLst>
          </p:cNvPr>
          <p:cNvSpPr txBox="1"/>
          <p:nvPr/>
        </p:nvSpPr>
        <p:spPr>
          <a:xfrm>
            <a:off x="2964183" y="1733550"/>
            <a:ext cx="1150617" cy="342401"/>
          </a:xfrm>
          <a:prstGeom prst="rect">
            <a:avLst/>
          </a:prstGeom>
          <a:noFill/>
        </p:spPr>
        <p:txBody>
          <a:bodyPr wrap="square" lIns="0" tIns="45720" rIns="0" bIns="45720" rtlCol="0" anchor="ctr" anchorCtr="0">
            <a:spAutoFit/>
          </a:bodyPr>
          <a:lstStyle/>
          <a:p>
            <a:pPr>
              <a:lnSpc>
                <a:spcPct val="75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itchFamily="2" charset="0"/>
              </a:rPr>
              <a:t>Repeat 10x</a:t>
            </a:r>
          </a:p>
        </p:txBody>
      </p:sp>
      <p:grpSp>
        <p:nvGrpSpPr>
          <p:cNvPr id="434" name="1-bit Trie Compressed">
            <a:extLst>
              <a:ext uri="{FF2B5EF4-FFF2-40B4-BE49-F238E27FC236}">
                <a16:creationId xmlns:a16="http://schemas.microsoft.com/office/drawing/2014/main" id="{288870EF-4598-4A62-A662-5717DD68BFF5}"/>
              </a:ext>
            </a:extLst>
          </p:cNvPr>
          <p:cNvGrpSpPr/>
          <p:nvPr/>
        </p:nvGrpSpPr>
        <p:grpSpPr>
          <a:xfrm>
            <a:off x="1161893" y="1322570"/>
            <a:ext cx="2244989" cy="2879860"/>
            <a:chOff x="1123051" y="1551170"/>
            <a:chExt cx="2244989" cy="2879860"/>
          </a:xfrm>
        </p:grpSpPr>
        <p:grpSp>
          <p:nvGrpSpPr>
            <p:cNvPr id="290" name="1-bit Node">
              <a:extLst>
                <a:ext uri="{FF2B5EF4-FFF2-40B4-BE49-F238E27FC236}">
                  <a16:creationId xmlns:a16="http://schemas.microsoft.com/office/drawing/2014/main" id="{BB64991D-AE61-4531-A9F1-10A8F36B8CAE}"/>
                </a:ext>
              </a:extLst>
            </p:cNvPr>
            <p:cNvGrpSpPr/>
            <p:nvPr/>
          </p:nvGrpSpPr>
          <p:grpSpPr>
            <a:xfrm>
              <a:off x="1808375" y="1551170"/>
              <a:ext cx="547412" cy="274320"/>
              <a:chOff x="1808375" y="1551170"/>
              <a:chExt cx="547412" cy="274320"/>
            </a:xfrm>
          </p:grpSpPr>
          <p:grpSp>
            <p:nvGrpSpPr>
              <p:cNvPr id="415" name="PointerBox">
                <a:extLst>
                  <a:ext uri="{FF2B5EF4-FFF2-40B4-BE49-F238E27FC236}">
                    <a16:creationId xmlns:a16="http://schemas.microsoft.com/office/drawing/2014/main" id="{1F6653F5-C268-4417-9A33-C901DA0A4376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420" name="Rectangle 419">
                  <a:extLst>
                    <a:ext uri="{FF2B5EF4-FFF2-40B4-BE49-F238E27FC236}">
                      <a16:creationId xmlns:a16="http://schemas.microsoft.com/office/drawing/2014/main" id="{4F5D480D-E6AD-4D65-B5D3-3335EFCEE7EC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421" name="mark" hidden="1">
                  <a:extLst>
                    <a:ext uri="{FF2B5EF4-FFF2-40B4-BE49-F238E27FC236}">
                      <a16:creationId xmlns:a16="http://schemas.microsoft.com/office/drawing/2014/main" id="{EB476462-7227-4F37-8B68-8CEF7DC258BD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605897BD-5773-4C9E-8010-6645F71018C9}"/>
                  </a:ext>
                </a:extLst>
              </p:cNvPr>
              <p:cNvSpPr/>
              <p:nvPr/>
            </p:nvSpPr>
            <p:spPr>
              <a:xfrm>
                <a:off x="2081467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Ø</a:t>
                </a:r>
              </a:p>
            </p:txBody>
          </p:sp>
        </p:grpSp>
        <p:grpSp>
          <p:nvGrpSpPr>
            <p:cNvPr id="291" name="1-bit Node">
              <a:extLst>
                <a:ext uri="{FF2B5EF4-FFF2-40B4-BE49-F238E27FC236}">
                  <a16:creationId xmlns:a16="http://schemas.microsoft.com/office/drawing/2014/main" id="{E2CB7A1F-9C53-4B1D-A9E0-CDC989659200}"/>
                </a:ext>
              </a:extLst>
            </p:cNvPr>
            <p:cNvGrpSpPr/>
            <p:nvPr/>
          </p:nvGrpSpPr>
          <p:grpSpPr>
            <a:xfrm>
              <a:off x="1808375" y="1947883"/>
              <a:ext cx="547412" cy="274320"/>
              <a:chOff x="1808375" y="1551170"/>
              <a:chExt cx="547412" cy="274320"/>
            </a:xfrm>
          </p:grpSpPr>
          <p:grpSp>
            <p:nvGrpSpPr>
              <p:cNvPr id="407" name="PointerBox">
                <a:extLst>
                  <a:ext uri="{FF2B5EF4-FFF2-40B4-BE49-F238E27FC236}">
                    <a16:creationId xmlns:a16="http://schemas.microsoft.com/office/drawing/2014/main" id="{A9D54FE7-ADFB-4DA4-ACCF-3C83FD468830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412" name="Rectangle 411">
                  <a:extLst>
                    <a:ext uri="{FF2B5EF4-FFF2-40B4-BE49-F238E27FC236}">
                      <a16:creationId xmlns:a16="http://schemas.microsoft.com/office/drawing/2014/main" id="{892E9C99-AEC1-48ED-8E4D-E0698FA29AB9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413" name="mark" hidden="1">
                  <a:extLst>
                    <a:ext uri="{FF2B5EF4-FFF2-40B4-BE49-F238E27FC236}">
                      <a16:creationId xmlns:a16="http://schemas.microsoft.com/office/drawing/2014/main" id="{ACE537EE-F1E6-4C00-8865-3739AFBBB39E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4672C046-D14A-4D74-BA2D-37EF25A36B43}"/>
                  </a:ext>
                </a:extLst>
              </p:cNvPr>
              <p:cNvSpPr/>
              <p:nvPr/>
            </p:nvSpPr>
            <p:spPr>
              <a:xfrm>
                <a:off x="2081467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Ø</a:t>
                </a:r>
              </a:p>
            </p:txBody>
          </p:sp>
        </p:grpSp>
        <p:grpSp>
          <p:nvGrpSpPr>
            <p:cNvPr id="433" name="Group 432">
              <a:extLst>
                <a:ext uri="{FF2B5EF4-FFF2-40B4-BE49-F238E27FC236}">
                  <a16:creationId xmlns:a16="http://schemas.microsoft.com/office/drawing/2014/main" id="{065A126C-450B-4F95-B055-2AF255441722}"/>
                </a:ext>
              </a:extLst>
            </p:cNvPr>
            <p:cNvGrpSpPr/>
            <p:nvPr/>
          </p:nvGrpSpPr>
          <p:grpSpPr>
            <a:xfrm>
              <a:off x="1808375" y="2344596"/>
              <a:ext cx="547412" cy="274320"/>
              <a:chOff x="1808375" y="2344596"/>
              <a:chExt cx="547412" cy="274320"/>
            </a:xfrm>
          </p:grpSpPr>
          <p:grpSp>
            <p:nvGrpSpPr>
              <p:cNvPr id="399" name="PointerBox">
                <a:extLst>
                  <a:ext uri="{FF2B5EF4-FFF2-40B4-BE49-F238E27FC236}">
                    <a16:creationId xmlns:a16="http://schemas.microsoft.com/office/drawing/2014/main" id="{62FB1098-910E-483A-9CE9-8383AC676C5E}"/>
                  </a:ext>
                </a:extLst>
              </p:cNvPr>
              <p:cNvGrpSpPr/>
              <p:nvPr/>
            </p:nvGrpSpPr>
            <p:grpSpPr>
              <a:xfrm>
                <a:off x="1808375" y="2344596"/>
                <a:ext cx="274320" cy="274320"/>
                <a:chOff x="4648200" y="3847500"/>
                <a:chExt cx="274320" cy="274320"/>
              </a:xfrm>
            </p:grpSpPr>
            <p:sp>
              <p:nvSpPr>
                <p:cNvPr id="404" name="Rectangle 403">
                  <a:extLst>
                    <a:ext uri="{FF2B5EF4-FFF2-40B4-BE49-F238E27FC236}">
                      <a16:creationId xmlns:a16="http://schemas.microsoft.com/office/drawing/2014/main" id="{F71B5284-742B-4D25-8591-0ACEE7900222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405" name="mark" hidden="1">
                  <a:extLst>
                    <a:ext uri="{FF2B5EF4-FFF2-40B4-BE49-F238E27FC236}">
                      <a16:creationId xmlns:a16="http://schemas.microsoft.com/office/drawing/2014/main" id="{61A33541-52AB-4376-BA11-D5B33964BB0B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401" name="PointerBox">
                <a:extLst>
                  <a:ext uri="{FF2B5EF4-FFF2-40B4-BE49-F238E27FC236}">
                    <a16:creationId xmlns:a16="http://schemas.microsoft.com/office/drawing/2014/main" id="{CC68C188-D31B-4F36-8FAA-4691FBF1CCE0}"/>
                  </a:ext>
                </a:extLst>
              </p:cNvPr>
              <p:cNvGrpSpPr/>
              <p:nvPr/>
            </p:nvGrpSpPr>
            <p:grpSpPr>
              <a:xfrm>
                <a:off x="2081467" y="2344596"/>
                <a:ext cx="274320" cy="274320"/>
                <a:chOff x="4378789" y="3847500"/>
                <a:chExt cx="274320" cy="274320"/>
              </a:xfrm>
            </p:grpSpPr>
            <p:sp>
              <p:nvSpPr>
                <p:cNvPr id="402" name="Rectangle 401">
                  <a:extLst>
                    <a:ext uri="{FF2B5EF4-FFF2-40B4-BE49-F238E27FC236}">
                      <a16:creationId xmlns:a16="http://schemas.microsoft.com/office/drawing/2014/main" id="{577B4B8A-DE33-45A1-AFA3-EBFFBEBF5BDD}"/>
                    </a:ext>
                  </a:extLst>
                </p:cNvPr>
                <p:cNvSpPr/>
                <p:nvPr/>
              </p:nvSpPr>
              <p:spPr>
                <a:xfrm>
                  <a:off x="4378789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16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403" name="mark" hidden="1">
                  <a:extLst>
                    <a:ext uri="{FF2B5EF4-FFF2-40B4-BE49-F238E27FC236}">
                      <a16:creationId xmlns:a16="http://schemas.microsoft.com/office/drawing/2014/main" id="{D748D52C-6A24-45C7-A9ED-2CC765FDBF7B}"/>
                    </a:ext>
                  </a:extLst>
                </p:cNvPr>
                <p:cNvSpPr/>
                <p:nvPr/>
              </p:nvSpPr>
              <p:spPr>
                <a:xfrm>
                  <a:off x="4493089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293" name="1-bit Node">
              <a:extLst>
                <a:ext uri="{FF2B5EF4-FFF2-40B4-BE49-F238E27FC236}">
                  <a16:creationId xmlns:a16="http://schemas.microsoft.com/office/drawing/2014/main" id="{D27C0B8D-56DD-4CFB-B00E-883A52A993FB}"/>
                </a:ext>
              </a:extLst>
            </p:cNvPr>
            <p:cNvGrpSpPr/>
            <p:nvPr/>
          </p:nvGrpSpPr>
          <p:grpSpPr>
            <a:xfrm>
              <a:off x="1126277" y="3138022"/>
              <a:ext cx="548853" cy="274320"/>
              <a:chOff x="1808375" y="1551170"/>
              <a:chExt cx="548853" cy="274320"/>
            </a:xfrm>
          </p:grpSpPr>
          <p:grpSp>
            <p:nvGrpSpPr>
              <p:cNvPr id="391" name="PointerBox">
                <a:extLst>
                  <a:ext uri="{FF2B5EF4-FFF2-40B4-BE49-F238E27FC236}">
                    <a16:creationId xmlns:a16="http://schemas.microsoft.com/office/drawing/2014/main" id="{6506923A-B812-46CB-8EF7-008EFB2843A4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396" name="Rectangle 395">
                  <a:extLst>
                    <a:ext uri="{FF2B5EF4-FFF2-40B4-BE49-F238E27FC236}">
                      <a16:creationId xmlns:a16="http://schemas.microsoft.com/office/drawing/2014/main" id="{628EE9B7-6331-4F13-8ED1-08C252C1DCC4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397" name="mark" hidden="1">
                  <a:extLst>
                    <a:ext uri="{FF2B5EF4-FFF2-40B4-BE49-F238E27FC236}">
                      <a16:creationId xmlns:a16="http://schemas.microsoft.com/office/drawing/2014/main" id="{5BDF3DD9-E84B-4C43-8B0C-F4A0BDEEA619}"/>
                    </a:ext>
                  </a:extLst>
                </p:cNvPr>
                <p:cNvSpPr/>
                <p:nvPr/>
              </p:nvSpPr>
              <p:spPr>
                <a:xfrm>
                  <a:off x="4762500" y="400625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EB509432-F20B-4164-A36B-67DFEF5D67F3}"/>
                  </a:ext>
                </a:extLst>
              </p:cNvPr>
              <p:cNvSpPr/>
              <p:nvPr/>
            </p:nvSpPr>
            <p:spPr>
              <a:xfrm>
                <a:off x="2082908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Ø</a:t>
                </a:r>
              </a:p>
            </p:txBody>
          </p:sp>
        </p:grpSp>
        <p:grpSp>
          <p:nvGrpSpPr>
            <p:cNvPr id="294" name="1-bit Node">
              <a:extLst>
                <a:ext uri="{FF2B5EF4-FFF2-40B4-BE49-F238E27FC236}">
                  <a16:creationId xmlns:a16="http://schemas.microsoft.com/office/drawing/2014/main" id="{A2658154-8B1C-41A7-8FED-30CF404B7AFC}"/>
                </a:ext>
              </a:extLst>
            </p:cNvPr>
            <p:cNvGrpSpPr/>
            <p:nvPr/>
          </p:nvGrpSpPr>
          <p:grpSpPr>
            <a:xfrm>
              <a:off x="1126277" y="3534735"/>
              <a:ext cx="548853" cy="274320"/>
              <a:chOff x="1808375" y="1551170"/>
              <a:chExt cx="548853" cy="274320"/>
            </a:xfrm>
          </p:grpSpPr>
          <p:grpSp>
            <p:nvGrpSpPr>
              <p:cNvPr id="383" name="PointerBox">
                <a:extLst>
                  <a:ext uri="{FF2B5EF4-FFF2-40B4-BE49-F238E27FC236}">
                    <a16:creationId xmlns:a16="http://schemas.microsoft.com/office/drawing/2014/main" id="{0647A5E2-02F4-4BFB-A8F2-0B64AEC353A3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388" name="Rectangle 387">
                  <a:extLst>
                    <a:ext uri="{FF2B5EF4-FFF2-40B4-BE49-F238E27FC236}">
                      <a16:creationId xmlns:a16="http://schemas.microsoft.com/office/drawing/2014/main" id="{249D31ED-ECF3-4DA1-BEE5-C7B5BB2BC4AE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389" name="mark" hidden="1">
                  <a:extLst>
                    <a:ext uri="{FF2B5EF4-FFF2-40B4-BE49-F238E27FC236}">
                      <a16:creationId xmlns:a16="http://schemas.microsoft.com/office/drawing/2014/main" id="{F22DDC23-F2E5-44EC-B97D-D6D951BFC8C0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385" name="PointerBox">
                <a:extLst>
                  <a:ext uri="{FF2B5EF4-FFF2-40B4-BE49-F238E27FC236}">
                    <a16:creationId xmlns:a16="http://schemas.microsoft.com/office/drawing/2014/main" id="{1C71B3A1-85CD-494F-8CBA-1B6D23DE8A5C}"/>
                  </a:ext>
                </a:extLst>
              </p:cNvPr>
              <p:cNvGrpSpPr/>
              <p:nvPr/>
            </p:nvGrpSpPr>
            <p:grpSpPr>
              <a:xfrm>
                <a:off x="2082908" y="1551170"/>
                <a:ext cx="274320" cy="274320"/>
                <a:chOff x="4380230" y="3847500"/>
                <a:chExt cx="274320" cy="274320"/>
              </a:xfrm>
            </p:grpSpPr>
            <p:sp>
              <p:nvSpPr>
                <p:cNvPr id="386" name="Rectangle 385">
                  <a:extLst>
                    <a:ext uri="{FF2B5EF4-FFF2-40B4-BE49-F238E27FC236}">
                      <a16:creationId xmlns:a16="http://schemas.microsoft.com/office/drawing/2014/main" id="{C5BB70A8-2464-4EC0-86F6-CB75DE5794CB}"/>
                    </a:ext>
                  </a:extLst>
                </p:cNvPr>
                <p:cNvSpPr/>
                <p:nvPr/>
              </p:nvSpPr>
              <p:spPr>
                <a:xfrm>
                  <a:off x="438023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387" name="mark" hidden="1">
                  <a:extLst>
                    <a:ext uri="{FF2B5EF4-FFF2-40B4-BE49-F238E27FC236}">
                      <a16:creationId xmlns:a16="http://schemas.microsoft.com/office/drawing/2014/main" id="{D7C8182B-ACC4-4860-B797-4D4046A0C11D}"/>
                    </a:ext>
                  </a:extLst>
                </p:cNvPr>
                <p:cNvSpPr/>
                <p:nvPr/>
              </p:nvSpPr>
              <p:spPr>
                <a:xfrm>
                  <a:off x="449453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295" name="1-bit Node">
              <a:extLst>
                <a:ext uri="{FF2B5EF4-FFF2-40B4-BE49-F238E27FC236}">
                  <a16:creationId xmlns:a16="http://schemas.microsoft.com/office/drawing/2014/main" id="{48102A90-5742-4AA9-9A02-9E68D83FC3B5}"/>
                </a:ext>
              </a:extLst>
            </p:cNvPr>
            <p:cNvGrpSpPr/>
            <p:nvPr/>
          </p:nvGrpSpPr>
          <p:grpSpPr>
            <a:xfrm>
              <a:off x="1126277" y="3931448"/>
              <a:ext cx="548639" cy="274320"/>
              <a:chOff x="1808375" y="1551170"/>
              <a:chExt cx="548639" cy="274320"/>
            </a:xfrm>
          </p:grpSpPr>
          <p:grpSp>
            <p:nvGrpSpPr>
              <p:cNvPr id="375" name="PointerBox">
                <a:extLst>
                  <a:ext uri="{FF2B5EF4-FFF2-40B4-BE49-F238E27FC236}">
                    <a16:creationId xmlns:a16="http://schemas.microsoft.com/office/drawing/2014/main" id="{20B6FB1F-12D2-4332-9736-DBBC4F64EF66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380" name="Rectangle 379">
                  <a:extLst>
                    <a:ext uri="{FF2B5EF4-FFF2-40B4-BE49-F238E27FC236}">
                      <a16:creationId xmlns:a16="http://schemas.microsoft.com/office/drawing/2014/main" id="{264C568D-4C86-410B-9DAD-51452EAED61C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381" name="mark" hidden="1">
                  <a:extLst>
                    <a:ext uri="{FF2B5EF4-FFF2-40B4-BE49-F238E27FC236}">
                      <a16:creationId xmlns:a16="http://schemas.microsoft.com/office/drawing/2014/main" id="{56A3A04E-1D7C-4487-B124-F813DD300132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378" name="Rectangle 377">
                <a:extLst>
                  <a:ext uri="{FF2B5EF4-FFF2-40B4-BE49-F238E27FC236}">
                    <a16:creationId xmlns:a16="http://schemas.microsoft.com/office/drawing/2014/main" id="{236BEF78-C148-4BA9-9EA7-71098FC48620}"/>
                  </a:ext>
                </a:extLst>
              </p:cNvPr>
              <p:cNvSpPr/>
              <p:nvPr/>
            </p:nvSpPr>
            <p:spPr>
              <a:xfrm>
                <a:off x="2082694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Ø</a:t>
                </a:r>
              </a:p>
            </p:txBody>
          </p:sp>
        </p:grpSp>
        <p:grpSp>
          <p:nvGrpSpPr>
            <p:cNvPr id="296" name="1-bit Node">
              <a:extLst>
                <a:ext uri="{FF2B5EF4-FFF2-40B4-BE49-F238E27FC236}">
                  <a16:creationId xmlns:a16="http://schemas.microsoft.com/office/drawing/2014/main" id="{87E9A41F-C2DD-4F2F-B02E-E7E460C65CD4}"/>
                </a:ext>
              </a:extLst>
            </p:cNvPr>
            <p:cNvGrpSpPr/>
            <p:nvPr/>
          </p:nvGrpSpPr>
          <p:grpSpPr>
            <a:xfrm>
              <a:off x="1981200" y="3534735"/>
              <a:ext cx="543205" cy="274320"/>
              <a:chOff x="1808375" y="1551170"/>
              <a:chExt cx="543205" cy="274320"/>
            </a:xfrm>
          </p:grpSpPr>
          <p:grpSp>
            <p:nvGrpSpPr>
              <p:cNvPr id="367" name="PointerBox">
                <a:extLst>
                  <a:ext uri="{FF2B5EF4-FFF2-40B4-BE49-F238E27FC236}">
                    <a16:creationId xmlns:a16="http://schemas.microsoft.com/office/drawing/2014/main" id="{2E8D1204-BEC4-4CDA-ABED-904615F3A832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372" name="Rectangle 371">
                  <a:extLst>
                    <a:ext uri="{FF2B5EF4-FFF2-40B4-BE49-F238E27FC236}">
                      <a16:creationId xmlns:a16="http://schemas.microsoft.com/office/drawing/2014/main" id="{A85F12B3-CE3F-43EF-A4A0-F1E7E72423DE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373" name="mark" hidden="1">
                  <a:extLst>
                    <a:ext uri="{FF2B5EF4-FFF2-40B4-BE49-F238E27FC236}">
                      <a16:creationId xmlns:a16="http://schemas.microsoft.com/office/drawing/2014/main" id="{5B1F1055-2E78-4207-9636-898B986E0EA7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sp>
            <p:nvSpPr>
              <p:cNvPr id="370" name="Rectangle 369">
                <a:extLst>
                  <a:ext uri="{FF2B5EF4-FFF2-40B4-BE49-F238E27FC236}">
                    <a16:creationId xmlns:a16="http://schemas.microsoft.com/office/drawing/2014/main" id="{2834C5D9-178B-4149-9ACE-AAD6B03668C6}"/>
                  </a:ext>
                </a:extLst>
              </p:cNvPr>
              <p:cNvSpPr/>
              <p:nvPr/>
            </p:nvSpPr>
            <p:spPr>
              <a:xfrm>
                <a:off x="2077260" y="155117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Ø</a:t>
                </a:r>
              </a:p>
            </p:txBody>
          </p:sp>
        </p:grpSp>
        <p:grpSp>
          <p:nvGrpSpPr>
            <p:cNvPr id="297" name="1-bit Node">
              <a:extLst>
                <a:ext uri="{FF2B5EF4-FFF2-40B4-BE49-F238E27FC236}">
                  <a16:creationId xmlns:a16="http://schemas.microsoft.com/office/drawing/2014/main" id="{8EFDE1AA-97E5-4C5A-A392-BC7631DED8A7}"/>
                </a:ext>
              </a:extLst>
            </p:cNvPr>
            <p:cNvGrpSpPr/>
            <p:nvPr/>
          </p:nvGrpSpPr>
          <p:grpSpPr>
            <a:xfrm>
              <a:off x="1981200" y="3931448"/>
              <a:ext cx="542504" cy="274320"/>
              <a:chOff x="1808375" y="1551170"/>
              <a:chExt cx="542504" cy="274320"/>
            </a:xfrm>
          </p:grpSpPr>
          <p:grpSp>
            <p:nvGrpSpPr>
              <p:cNvPr id="359" name="PointerBox">
                <a:extLst>
                  <a:ext uri="{FF2B5EF4-FFF2-40B4-BE49-F238E27FC236}">
                    <a16:creationId xmlns:a16="http://schemas.microsoft.com/office/drawing/2014/main" id="{BCAA18CA-FF1A-469A-A6E7-44B12E4944EC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364" name="Rectangle 363">
                  <a:extLst>
                    <a:ext uri="{FF2B5EF4-FFF2-40B4-BE49-F238E27FC236}">
                      <a16:creationId xmlns:a16="http://schemas.microsoft.com/office/drawing/2014/main" id="{725968D0-6117-4652-8C9F-0ED63E9514BB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365" name="mark" hidden="1">
                  <a:extLst>
                    <a:ext uri="{FF2B5EF4-FFF2-40B4-BE49-F238E27FC236}">
                      <a16:creationId xmlns:a16="http://schemas.microsoft.com/office/drawing/2014/main" id="{9C256BDC-901C-4A9E-9700-A6382C3CC28F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361" name="PointerBox">
                <a:extLst>
                  <a:ext uri="{FF2B5EF4-FFF2-40B4-BE49-F238E27FC236}">
                    <a16:creationId xmlns:a16="http://schemas.microsoft.com/office/drawing/2014/main" id="{C87BAF96-5304-44C0-A992-C70DF615C5D9}"/>
                  </a:ext>
                </a:extLst>
              </p:cNvPr>
              <p:cNvGrpSpPr/>
              <p:nvPr/>
            </p:nvGrpSpPr>
            <p:grpSpPr>
              <a:xfrm>
                <a:off x="2076559" y="1551170"/>
                <a:ext cx="274320" cy="274320"/>
                <a:chOff x="4373881" y="3847500"/>
                <a:chExt cx="274320" cy="274320"/>
              </a:xfrm>
            </p:grpSpPr>
            <p:sp>
              <p:nvSpPr>
                <p:cNvPr id="362" name="Rectangle 361">
                  <a:extLst>
                    <a:ext uri="{FF2B5EF4-FFF2-40B4-BE49-F238E27FC236}">
                      <a16:creationId xmlns:a16="http://schemas.microsoft.com/office/drawing/2014/main" id="{6EC3745F-4DDD-4899-A405-EC9B20999A4F}"/>
                    </a:ext>
                  </a:extLst>
                </p:cNvPr>
                <p:cNvSpPr/>
                <p:nvPr/>
              </p:nvSpPr>
              <p:spPr>
                <a:xfrm>
                  <a:off x="4373881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363" name="mark" hidden="1">
                  <a:extLst>
                    <a:ext uri="{FF2B5EF4-FFF2-40B4-BE49-F238E27FC236}">
                      <a16:creationId xmlns:a16="http://schemas.microsoft.com/office/drawing/2014/main" id="{39C2426F-22C7-476C-8058-B64E146CD18C}"/>
                    </a:ext>
                  </a:extLst>
                </p:cNvPr>
                <p:cNvSpPr/>
                <p:nvPr/>
              </p:nvSpPr>
              <p:spPr>
                <a:xfrm>
                  <a:off x="4488181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298" name="1-bit Node">
              <a:extLst>
                <a:ext uri="{FF2B5EF4-FFF2-40B4-BE49-F238E27FC236}">
                  <a16:creationId xmlns:a16="http://schemas.microsoft.com/office/drawing/2014/main" id="{5DDE4C93-DB30-45B7-83EB-4B49903DA190}"/>
                </a:ext>
              </a:extLst>
            </p:cNvPr>
            <p:cNvGrpSpPr/>
            <p:nvPr/>
          </p:nvGrpSpPr>
          <p:grpSpPr>
            <a:xfrm>
              <a:off x="1123051" y="2744254"/>
              <a:ext cx="547412" cy="274320"/>
              <a:chOff x="1483626" y="1554115"/>
              <a:chExt cx="547412" cy="274320"/>
            </a:xfrm>
          </p:grpSpPr>
          <p:grpSp>
            <p:nvGrpSpPr>
              <p:cNvPr id="351" name="PointerBox">
                <a:extLst>
                  <a:ext uri="{FF2B5EF4-FFF2-40B4-BE49-F238E27FC236}">
                    <a16:creationId xmlns:a16="http://schemas.microsoft.com/office/drawing/2014/main" id="{A130E2C8-4098-4375-AB3F-4BEBDB033F09}"/>
                  </a:ext>
                </a:extLst>
              </p:cNvPr>
              <p:cNvGrpSpPr/>
              <p:nvPr/>
            </p:nvGrpSpPr>
            <p:grpSpPr>
              <a:xfrm>
                <a:off x="1483626" y="1554115"/>
                <a:ext cx="274320" cy="274320"/>
                <a:chOff x="4323451" y="3850445"/>
                <a:chExt cx="274320" cy="274320"/>
              </a:xfrm>
            </p:grpSpPr>
            <p:sp>
              <p:nvSpPr>
                <p:cNvPr id="356" name="Rectangle 355">
                  <a:extLst>
                    <a:ext uri="{FF2B5EF4-FFF2-40B4-BE49-F238E27FC236}">
                      <a16:creationId xmlns:a16="http://schemas.microsoft.com/office/drawing/2014/main" id="{60B5C1AD-1CB1-48AA-8954-217941C7DD16}"/>
                    </a:ext>
                  </a:extLst>
                </p:cNvPr>
                <p:cNvSpPr/>
                <p:nvPr/>
              </p:nvSpPr>
              <p:spPr>
                <a:xfrm>
                  <a:off x="4323451" y="3850445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357" name="mark" hidden="1">
                  <a:extLst>
                    <a:ext uri="{FF2B5EF4-FFF2-40B4-BE49-F238E27FC236}">
                      <a16:creationId xmlns:a16="http://schemas.microsoft.com/office/drawing/2014/main" id="{DC7F63F5-A72F-4170-BBF8-EAEF13F4CE7A}"/>
                    </a:ext>
                  </a:extLst>
                </p:cNvPr>
                <p:cNvSpPr/>
                <p:nvPr/>
              </p:nvSpPr>
              <p:spPr>
                <a:xfrm>
                  <a:off x="4437751" y="4015545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353" name="PointerBox">
                <a:extLst>
                  <a:ext uri="{FF2B5EF4-FFF2-40B4-BE49-F238E27FC236}">
                    <a16:creationId xmlns:a16="http://schemas.microsoft.com/office/drawing/2014/main" id="{8DD61AF4-CAFF-4A64-96D8-0B99D4237E50}"/>
                  </a:ext>
                </a:extLst>
              </p:cNvPr>
              <p:cNvGrpSpPr/>
              <p:nvPr/>
            </p:nvGrpSpPr>
            <p:grpSpPr>
              <a:xfrm>
                <a:off x="1756718" y="1554115"/>
                <a:ext cx="274320" cy="274320"/>
                <a:chOff x="4054040" y="3850445"/>
                <a:chExt cx="274320" cy="274320"/>
              </a:xfrm>
            </p:grpSpPr>
            <p:sp>
              <p:nvSpPr>
                <p:cNvPr id="354" name="Rectangle 353">
                  <a:extLst>
                    <a:ext uri="{FF2B5EF4-FFF2-40B4-BE49-F238E27FC236}">
                      <a16:creationId xmlns:a16="http://schemas.microsoft.com/office/drawing/2014/main" id="{EF07AEDB-65DC-4BE1-A8B3-87B1170D2A80}"/>
                    </a:ext>
                  </a:extLst>
                </p:cNvPr>
                <p:cNvSpPr/>
                <p:nvPr/>
              </p:nvSpPr>
              <p:spPr>
                <a:xfrm>
                  <a:off x="4054040" y="3850445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355" name="mark" hidden="1">
                  <a:extLst>
                    <a:ext uri="{FF2B5EF4-FFF2-40B4-BE49-F238E27FC236}">
                      <a16:creationId xmlns:a16="http://schemas.microsoft.com/office/drawing/2014/main" id="{CFD65E64-69F9-4F8C-952D-C2BCBDD92C3D}"/>
                    </a:ext>
                  </a:extLst>
                </p:cNvPr>
                <p:cNvSpPr/>
                <p:nvPr/>
              </p:nvSpPr>
              <p:spPr>
                <a:xfrm>
                  <a:off x="4168340" y="4015545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299" name="1-bit Node">
              <a:extLst>
                <a:ext uri="{FF2B5EF4-FFF2-40B4-BE49-F238E27FC236}">
                  <a16:creationId xmlns:a16="http://schemas.microsoft.com/office/drawing/2014/main" id="{BC7B77AB-EEEA-4785-ABDB-F9EC6744A438}"/>
                </a:ext>
              </a:extLst>
            </p:cNvPr>
            <p:cNvGrpSpPr/>
            <p:nvPr/>
          </p:nvGrpSpPr>
          <p:grpSpPr>
            <a:xfrm>
              <a:off x="2359347" y="2738369"/>
              <a:ext cx="546588" cy="274320"/>
              <a:chOff x="2228157" y="1548230"/>
              <a:chExt cx="546588" cy="274320"/>
            </a:xfrm>
          </p:grpSpPr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8E118FDA-CD31-4618-A315-023E08AE4A29}"/>
                  </a:ext>
                </a:extLst>
              </p:cNvPr>
              <p:cNvSpPr/>
              <p:nvPr/>
            </p:nvSpPr>
            <p:spPr>
              <a:xfrm>
                <a:off x="2228157" y="154823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16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rPr>
                  <a:t>Ø</a:t>
                </a:r>
              </a:p>
            </p:txBody>
          </p:sp>
          <p:grpSp>
            <p:nvGrpSpPr>
              <p:cNvPr id="345" name="PointerBox">
                <a:extLst>
                  <a:ext uri="{FF2B5EF4-FFF2-40B4-BE49-F238E27FC236}">
                    <a16:creationId xmlns:a16="http://schemas.microsoft.com/office/drawing/2014/main" id="{3041C406-68FF-45A4-AC86-1F503EF36605}"/>
                  </a:ext>
                </a:extLst>
              </p:cNvPr>
              <p:cNvGrpSpPr/>
              <p:nvPr/>
            </p:nvGrpSpPr>
            <p:grpSpPr>
              <a:xfrm>
                <a:off x="2500425" y="1548230"/>
                <a:ext cx="274320" cy="274320"/>
                <a:chOff x="4797747" y="3844560"/>
                <a:chExt cx="274320" cy="274320"/>
              </a:xfrm>
            </p:grpSpPr>
            <p:sp>
              <p:nvSpPr>
                <p:cNvPr id="346" name="Rectangle 345">
                  <a:extLst>
                    <a:ext uri="{FF2B5EF4-FFF2-40B4-BE49-F238E27FC236}">
                      <a16:creationId xmlns:a16="http://schemas.microsoft.com/office/drawing/2014/main" id="{D8D98293-C066-4204-90B5-BAB8D89243AA}"/>
                    </a:ext>
                  </a:extLst>
                </p:cNvPr>
                <p:cNvSpPr/>
                <p:nvPr/>
              </p:nvSpPr>
              <p:spPr>
                <a:xfrm>
                  <a:off x="4797747" y="384456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347" name="mark" hidden="1">
                  <a:extLst>
                    <a:ext uri="{FF2B5EF4-FFF2-40B4-BE49-F238E27FC236}">
                      <a16:creationId xmlns:a16="http://schemas.microsoft.com/office/drawing/2014/main" id="{6F1668FD-80BF-4F8B-828D-91E846045A31}"/>
                    </a:ext>
                  </a:extLst>
                </p:cNvPr>
                <p:cNvSpPr/>
                <p:nvPr/>
              </p:nvSpPr>
              <p:spPr>
                <a:xfrm>
                  <a:off x="4912047" y="400966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300" name="1-bit Node">
              <a:extLst>
                <a:ext uri="{FF2B5EF4-FFF2-40B4-BE49-F238E27FC236}">
                  <a16:creationId xmlns:a16="http://schemas.microsoft.com/office/drawing/2014/main" id="{04ACF7BA-BC24-4D68-A026-B20F841DB99E}"/>
                </a:ext>
              </a:extLst>
            </p:cNvPr>
            <p:cNvGrpSpPr/>
            <p:nvPr/>
          </p:nvGrpSpPr>
          <p:grpSpPr>
            <a:xfrm>
              <a:off x="2361380" y="3137788"/>
              <a:ext cx="544555" cy="274554"/>
              <a:chOff x="1808375" y="1550936"/>
              <a:chExt cx="544555" cy="274554"/>
            </a:xfrm>
          </p:grpSpPr>
          <p:grpSp>
            <p:nvGrpSpPr>
              <p:cNvPr id="335" name="PointerBox">
                <a:extLst>
                  <a:ext uri="{FF2B5EF4-FFF2-40B4-BE49-F238E27FC236}">
                    <a16:creationId xmlns:a16="http://schemas.microsoft.com/office/drawing/2014/main" id="{A968F494-2908-4317-AB9E-A3FFAD6EF553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340" name="Rectangle 339">
                  <a:extLst>
                    <a:ext uri="{FF2B5EF4-FFF2-40B4-BE49-F238E27FC236}">
                      <a16:creationId xmlns:a16="http://schemas.microsoft.com/office/drawing/2014/main" id="{088E2732-BDEF-416C-835F-55FB455C54F9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341" name="mark" hidden="1">
                  <a:extLst>
                    <a:ext uri="{FF2B5EF4-FFF2-40B4-BE49-F238E27FC236}">
                      <a16:creationId xmlns:a16="http://schemas.microsoft.com/office/drawing/2014/main" id="{1B5894BF-9662-4916-82F8-9BB1C966C0CB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337" name="PointerBox">
                <a:extLst>
                  <a:ext uri="{FF2B5EF4-FFF2-40B4-BE49-F238E27FC236}">
                    <a16:creationId xmlns:a16="http://schemas.microsoft.com/office/drawing/2014/main" id="{F7CF87A6-1299-477C-960A-0AE2BE391763}"/>
                  </a:ext>
                </a:extLst>
              </p:cNvPr>
              <p:cNvGrpSpPr/>
              <p:nvPr/>
            </p:nvGrpSpPr>
            <p:grpSpPr>
              <a:xfrm>
                <a:off x="2078610" y="1550936"/>
                <a:ext cx="274320" cy="274320"/>
                <a:chOff x="4375932" y="3847266"/>
                <a:chExt cx="274320" cy="274320"/>
              </a:xfrm>
            </p:grpSpPr>
            <p:sp>
              <p:nvSpPr>
                <p:cNvPr id="338" name="Rectangle 337">
                  <a:extLst>
                    <a:ext uri="{FF2B5EF4-FFF2-40B4-BE49-F238E27FC236}">
                      <a16:creationId xmlns:a16="http://schemas.microsoft.com/office/drawing/2014/main" id="{9ADF5360-419B-4D79-BB75-A9466F9C821D}"/>
                    </a:ext>
                  </a:extLst>
                </p:cNvPr>
                <p:cNvSpPr/>
                <p:nvPr/>
              </p:nvSpPr>
              <p:spPr>
                <a:xfrm>
                  <a:off x="4375932" y="3847266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339" name="mark" hidden="1">
                  <a:extLst>
                    <a:ext uri="{FF2B5EF4-FFF2-40B4-BE49-F238E27FC236}">
                      <a16:creationId xmlns:a16="http://schemas.microsoft.com/office/drawing/2014/main" id="{3232947C-85C5-4617-9CDE-C3BC9C995881}"/>
                    </a:ext>
                  </a:extLst>
                </p:cNvPr>
                <p:cNvSpPr/>
                <p:nvPr/>
              </p:nvSpPr>
              <p:spPr>
                <a:xfrm>
                  <a:off x="4490232" y="4012366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301" name="1-bit Node">
              <a:extLst>
                <a:ext uri="{FF2B5EF4-FFF2-40B4-BE49-F238E27FC236}">
                  <a16:creationId xmlns:a16="http://schemas.microsoft.com/office/drawing/2014/main" id="{21C65191-2B8C-43DD-94C4-2CAEBACDBA57}"/>
                </a:ext>
              </a:extLst>
            </p:cNvPr>
            <p:cNvGrpSpPr/>
            <p:nvPr/>
          </p:nvGrpSpPr>
          <p:grpSpPr>
            <a:xfrm>
              <a:off x="2819400" y="3532589"/>
              <a:ext cx="547925" cy="274320"/>
              <a:chOff x="1808375" y="1549024"/>
              <a:chExt cx="547925" cy="274320"/>
            </a:xfrm>
          </p:grpSpPr>
          <p:grpSp>
            <p:nvGrpSpPr>
              <p:cNvPr id="327" name="PointerBox">
                <a:extLst>
                  <a:ext uri="{FF2B5EF4-FFF2-40B4-BE49-F238E27FC236}">
                    <a16:creationId xmlns:a16="http://schemas.microsoft.com/office/drawing/2014/main" id="{12C6C8EF-9DB9-4840-A29D-A84C59147C00}"/>
                  </a:ext>
                </a:extLst>
              </p:cNvPr>
              <p:cNvGrpSpPr/>
              <p:nvPr/>
            </p:nvGrpSpPr>
            <p:grpSpPr>
              <a:xfrm>
                <a:off x="1808375" y="1549024"/>
                <a:ext cx="274320" cy="274320"/>
                <a:chOff x="4648200" y="3845354"/>
                <a:chExt cx="274320" cy="274320"/>
              </a:xfrm>
            </p:grpSpPr>
            <p:sp>
              <p:nvSpPr>
                <p:cNvPr id="332" name="Rectangle 331">
                  <a:extLst>
                    <a:ext uri="{FF2B5EF4-FFF2-40B4-BE49-F238E27FC236}">
                      <a16:creationId xmlns:a16="http://schemas.microsoft.com/office/drawing/2014/main" id="{4B1E56DD-352E-4FCE-B1BB-630C477B9614}"/>
                    </a:ext>
                  </a:extLst>
                </p:cNvPr>
                <p:cNvSpPr/>
                <p:nvPr/>
              </p:nvSpPr>
              <p:spPr>
                <a:xfrm>
                  <a:off x="4648200" y="3845354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333" name="mark" hidden="1">
                  <a:extLst>
                    <a:ext uri="{FF2B5EF4-FFF2-40B4-BE49-F238E27FC236}">
                      <a16:creationId xmlns:a16="http://schemas.microsoft.com/office/drawing/2014/main" id="{65D615B1-8A29-4055-9B4D-E4A672CADDC8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329" name="PointerBox">
                <a:extLst>
                  <a:ext uri="{FF2B5EF4-FFF2-40B4-BE49-F238E27FC236}">
                    <a16:creationId xmlns:a16="http://schemas.microsoft.com/office/drawing/2014/main" id="{A4800D2C-3904-41A8-9C0D-02BC9B3D92A1}"/>
                  </a:ext>
                </a:extLst>
              </p:cNvPr>
              <p:cNvGrpSpPr/>
              <p:nvPr/>
            </p:nvGrpSpPr>
            <p:grpSpPr>
              <a:xfrm>
                <a:off x="2081980" y="1549024"/>
                <a:ext cx="274320" cy="274320"/>
                <a:chOff x="4379302" y="3845354"/>
                <a:chExt cx="274320" cy="274320"/>
              </a:xfrm>
            </p:grpSpPr>
            <p:sp>
              <p:nvSpPr>
                <p:cNvPr id="330" name="Rectangle 329">
                  <a:extLst>
                    <a:ext uri="{FF2B5EF4-FFF2-40B4-BE49-F238E27FC236}">
                      <a16:creationId xmlns:a16="http://schemas.microsoft.com/office/drawing/2014/main" id="{9ED30BCE-F798-48A8-8051-198A43626124}"/>
                    </a:ext>
                  </a:extLst>
                </p:cNvPr>
                <p:cNvSpPr/>
                <p:nvPr/>
              </p:nvSpPr>
              <p:spPr>
                <a:xfrm>
                  <a:off x="4379302" y="3845354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331" name="mark" hidden="1">
                  <a:extLst>
                    <a:ext uri="{FF2B5EF4-FFF2-40B4-BE49-F238E27FC236}">
                      <a16:creationId xmlns:a16="http://schemas.microsoft.com/office/drawing/2014/main" id="{6EED82A1-3912-4805-9B9B-8197013EB27B}"/>
                    </a:ext>
                  </a:extLst>
                </p:cNvPr>
                <p:cNvSpPr/>
                <p:nvPr/>
              </p:nvSpPr>
              <p:spPr>
                <a:xfrm>
                  <a:off x="4493602" y="4010454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grpSp>
          <p:nvGrpSpPr>
            <p:cNvPr id="302" name="1-bit Node">
              <a:extLst>
                <a:ext uri="{FF2B5EF4-FFF2-40B4-BE49-F238E27FC236}">
                  <a16:creationId xmlns:a16="http://schemas.microsoft.com/office/drawing/2014/main" id="{5CAA5CDE-A312-46E8-8710-717F62A1EBAB}"/>
                </a:ext>
              </a:extLst>
            </p:cNvPr>
            <p:cNvGrpSpPr/>
            <p:nvPr/>
          </p:nvGrpSpPr>
          <p:grpSpPr>
            <a:xfrm>
              <a:off x="2819400" y="3930979"/>
              <a:ext cx="548640" cy="274789"/>
              <a:chOff x="1808375" y="1550701"/>
              <a:chExt cx="548640" cy="274789"/>
            </a:xfrm>
          </p:grpSpPr>
          <p:grpSp>
            <p:nvGrpSpPr>
              <p:cNvPr id="319" name="PointerBox">
                <a:extLst>
                  <a:ext uri="{FF2B5EF4-FFF2-40B4-BE49-F238E27FC236}">
                    <a16:creationId xmlns:a16="http://schemas.microsoft.com/office/drawing/2014/main" id="{5BA9929F-C001-4CA9-A601-14383D4FD28E}"/>
                  </a:ext>
                </a:extLst>
              </p:cNvPr>
              <p:cNvGrpSpPr/>
              <p:nvPr/>
            </p:nvGrpSpPr>
            <p:grpSpPr>
              <a:xfrm>
                <a:off x="1808375" y="1551170"/>
                <a:ext cx="274320" cy="274320"/>
                <a:chOff x="4648200" y="3847500"/>
                <a:chExt cx="274320" cy="274320"/>
              </a:xfrm>
            </p:grpSpPr>
            <p:sp>
              <p:nvSpPr>
                <p:cNvPr id="324" name="Rectangle 323">
                  <a:extLst>
                    <a:ext uri="{FF2B5EF4-FFF2-40B4-BE49-F238E27FC236}">
                      <a16:creationId xmlns:a16="http://schemas.microsoft.com/office/drawing/2014/main" id="{11EAC018-67A6-4E74-874F-CE05A2E3AB6C}"/>
                    </a:ext>
                  </a:extLst>
                </p:cNvPr>
                <p:cNvSpPr/>
                <p:nvPr/>
              </p:nvSpPr>
              <p:spPr>
                <a:xfrm>
                  <a:off x="4648200" y="3847500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Ø</a:t>
                  </a:r>
                </a:p>
              </p:txBody>
            </p:sp>
            <p:sp>
              <p:nvSpPr>
                <p:cNvPr id="325" name="mark" hidden="1">
                  <a:extLst>
                    <a:ext uri="{FF2B5EF4-FFF2-40B4-BE49-F238E27FC236}">
                      <a16:creationId xmlns:a16="http://schemas.microsoft.com/office/drawing/2014/main" id="{59AE6BCD-08A6-47CB-90AD-3DAB8569C201}"/>
                    </a:ext>
                  </a:extLst>
                </p:cNvPr>
                <p:cNvSpPr/>
                <p:nvPr/>
              </p:nvSpPr>
              <p:spPr>
                <a:xfrm>
                  <a:off x="4762500" y="4012600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  <p:grpSp>
            <p:nvGrpSpPr>
              <p:cNvPr id="321" name="PointerBox">
                <a:extLst>
                  <a:ext uri="{FF2B5EF4-FFF2-40B4-BE49-F238E27FC236}">
                    <a16:creationId xmlns:a16="http://schemas.microsoft.com/office/drawing/2014/main" id="{2E3467B5-3F5A-41B9-AE0E-230CA3DE6CF2}"/>
                  </a:ext>
                </a:extLst>
              </p:cNvPr>
              <p:cNvGrpSpPr/>
              <p:nvPr/>
            </p:nvGrpSpPr>
            <p:grpSpPr>
              <a:xfrm>
                <a:off x="2082695" y="1550701"/>
                <a:ext cx="274320" cy="274320"/>
                <a:chOff x="4380017" y="3847031"/>
                <a:chExt cx="274320" cy="274320"/>
              </a:xfrm>
            </p:grpSpPr>
            <p:sp>
              <p:nvSpPr>
                <p:cNvPr id="322" name="Rectangle 321">
                  <a:extLst>
                    <a:ext uri="{FF2B5EF4-FFF2-40B4-BE49-F238E27FC236}">
                      <a16:creationId xmlns:a16="http://schemas.microsoft.com/office/drawing/2014/main" id="{6835019E-B423-43AE-9A7E-14B386FFD2F4}"/>
                    </a:ext>
                  </a:extLst>
                </p:cNvPr>
                <p:cNvSpPr/>
                <p:nvPr/>
              </p:nvSpPr>
              <p:spPr>
                <a:xfrm>
                  <a:off x="4380017" y="3847031"/>
                  <a:ext cx="274320" cy="2743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2800" b="1" dirty="0">
                      <a:solidFill>
                        <a:schemeClr val="accent1"/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¤</a:t>
                  </a:r>
                  <a:endPara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DejaVu Sans Mono" pitchFamily="49" charset="0"/>
                    <a:cs typeface="Consolas" pitchFamily="49" charset="0"/>
                  </a:endParaRPr>
                </a:p>
              </p:txBody>
            </p:sp>
            <p:sp>
              <p:nvSpPr>
                <p:cNvPr id="323" name="mark" hidden="1">
                  <a:extLst>
                    <a:ext uri="{FF2B5EF4-FFF2-40B4-BE49-F238E27FC236}">
                      <a16:creationId xmlns:a16="http://schemas.microsoft.com/office/drawing/2014/main" id="{79C193B7-3E0A-4632-AFB8-C1992B0292AC}"/>
                    </a:ext>
                  </a:extLst>
                </p:cNvPr>
                <p:cNvSpPr/>
                <p:nvPr/>
              </p:nvSpPr>
              <p:spPr>
                <a:xfrm>
                  <a:off x="4494317" y="4012131"/>
                  <a:ext cx="45720" cy="4572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4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</p:grpSp>
        </p:grpSp>
        <p:cxnSp>
          <p:nvCxnSpPr>
            <p:cNvPr id="303" name="Pointer">
              <a:extLst>
                <a:ext uri="{FF2B5EF4-FFF2-40B4-BE49-F238E27FC236}">
                  <a16:creationId xmlns:a16="http://schemas.microsoft.com/office/drawing/2014/main" id="{DB25D1CD-CD63-4912-B373-85B757D88013}"/>
                </a:ext>
              </a:extLst>
            </p:cNvPr>
            <p:cNvCxnSpPr>
              <a:cxnSpLocks noChangeShapeType="1"/>
              <a:stCxn id="347" idx="2"/>
              <a:endCxn id="340" idx="0"/>
            </p:cNvCxnSpPr>
            <p:nvPr/>
          </p:nvCxnSpPr>
          <p:spPr bwMode="auto">
            <a:xfrm rot="5400000">
              <a:off x="2539242" y="2908488"/>
              <a:ext cx="188833" cy="270235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4" name="Pointer">
              <a:extLst>
                <a:ext uri="{FF2B5EF4-FFF2-40B4-BE49-F238E27FC236}">
                  <a16:creationId xmlns:a16="http://schemas.microsoft.com/office/drawing/2014/main" id="{602C16BA-12C1-4E3C-8B8B-857B47CE7456}"/>
                </a:ext>
              </a:extLst>
            </p:cNvPr>
            <p:cNvCxnSpPr>
              <a:cxnSpLocks noChangeShapeType="1"/>
              <a:stCxn id="355" idx="2"/>
              <a:endCxn id="396" idx="0"/>
            </p:cNvCxnSpPr>
            <p:nvPr/>
          </p:nvCxnSpPr>
          <p:spPr bwMode="auto">
            <a:xfrm rot="5400000">
              <a:off x="1306896" y="2911615"/>
              <a:ext cx="182948" cy="269866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5" name="Pointer">
              <a:extLst>
                <a:ext uri="{FF2B5EF4-FFF2-40B4-BE49-F238E27FC236}">
                  <a16:creationId xmlns:a16="http://schemas.microsoft.com/office/drawing/2014/main" id="{1667E158-FE91-4560-BE72-FD0E16FCE7F8}"/>
                </a:ext>
              </a:extLst>
            </p:cNvPr>
            <p:cNvCxnSpPr>
              <a:cxnSpLocks noChangeShapeType="1"/>
              <a:stCxn id="341" idx="2"/>
              <a:endCxn id="372" idx="0"/>
            </p:cNvCxnSpPr>
            <p:nvPr/>
          </p:nvCxnSpPr>
          <p:spPr bwMode="auto">
            <a:xfrm rot="5400000">
              <a:off x="2215504" y="3251698"/>
              <a:ext cx="185893" cy="380180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6" name="Pointer">
              <a:extLst>
                <a:ext uri="{FF2B5EF4-FFF2-40B4-BE49-F238E27FC236}">
                  <a16:creationId xmlns:a16="http://schemas.microsoft.com/office/drawing/2014/main" id="{A84E1928-57E4-401A-A763-EED4338C8F3B}"/>
                </a:ext>
              </a:extLst>
            </p:cNvPr>
            <p:cNvCxnSpPr>
              <a:cxnSpLocks noChangeShapeType="1"/>
              <a:stCxn id="339" idx="2"/>
              <a:endCxn id="332" idx="0"/>
            </p:cNvCxnSpPr>
            <p:nvPr/>
          </p:nvCxnSpPr>
          <p:spPr bwMode="auto">
            <a:xfrm rot="16200000" flipH="1">
              <a:off x="2770677" y="3346705"/>
              <a:ext cx="183981" cy="187785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7" name="Pointer">
              <a:extLst>
                <a:ext uri="{FF2B5EF4-FFF2-40B4-BE49-F238E27FC236}">
                  <a16:creationId xmlns:a16="http://schemas.microsoft.com/office/drawing/2014/main" id="{12A33335-20DF-40DA-9286-0A60AF110F2B}"/>
                </a:ext>
              </a:extLst>
            </p:cNvPr>
            <p:cNvCxnSpPr>
              <a:cxnSpLocks noChangeShapeType="1"/>
              <a:stCxn id="373" idx="2"/>
              <a:endCxn id="364" idx="0"/>
            </p:cNvCxnSpPr>
            <p:nvPr/>
          </p:nvCxnSpPr>
          <p:spPr bwMode="auto">
            <a:xfrm>
              <a:off x="2118360" y="3745555"/>
              <a:ext cx="0" cy="185893"/>
            </a:xfrm>
            <a:prstGeom prst="straightConnector1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8" name="Pointer">
              <a:extLst>
                <a:ext uri="{FF2B5EF4-FFF2-40B4-BE49-F238E27FC236}">
                  <a16:creationId xmlns:a16="http://schemas.microsoft.com/office/drawing/2014/main" id="{FB907FF4-A233-4F77-8465-FA7BE68C070E}"/>
                </a:ext>
              </a:extLst>
            </p:cNvPr>
            <p:cNvCxnSpPr>
              <a:cxnSpLocks noChangeShapeType="1"/>
              <a:stCxn id="363" idx="2"/>
            </p:cNvCxnSpPr>
            <p:nvPr/>
          </p:nvCxnSpPr>
          <p:spPr bwMode="auto">
            <a:xfrm>
              <a:off x="2386544" y="4142268"/>
              <a:ext cx="2437" cy="288762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9" name="Pointer">
              <a:extLst>
                <a:ext uri="{FF2B5EF4-FFF2-40B4-BE49-F238E27FC236}">
                  <a16:creationId xmlns:a16="http://schemas.microsoft.com/office/drawing/2014/main" id="{78CC6FF7-7689-4692-8592-2F23A5E27BCD}"/>
                </a:ext>
              </a:extLst>
            </p:cNvPr>
            <p:cNvCxnSpPr>
              <a:cxnSpLocks noChangeShapeType="1"/>
              <a:stCxn id="323" idx="2"/>
            </p:cNvCxnSpPr>
            <p:nvPr/>
          </p:nvCxnSpPr>
          <p:spPr bwMode="auto">
            <a:xfrm>
              <a:off x="3230880" y="4141799"/>
              <a:ext cx="0" cy="288762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0" name="Pointer">
              <a:extLst>
                <a:ext uri="{FF2B5EF4-FFF2-40B4-BE49-F238E27FC236}">
                  <a16:creationId xmlns:a16="http://schemas.microsoft.com/office/drawing/2014/main" id="{0E246201-9667-4537-AA57-D394393DD73D}"/>
                </a:ext>
              </a:extLst>
            </p:cNvPr>
            <p:cNvCxnSpPr>
              <a:cxnSpLocks noChangeShapeType="1"/>
              <a:stCxn id="331" idx="2"/>
              <a:endCxn id="324" idx="0"/>
            </p:cNvCxnSpPr>
            <p:nvPr/>
          </p:nvCxnSpPr>
          <p:spPr bwMode="auto">
            <a:xfrm rot="5400000">
              <a:off x="2999344" y="3700626"/>
              <a:ext cx="188039" cy="273605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1" name="Pointer">
              <a:extLst>
                <a:ext uri="{FF2B5EF4-FFF2-40B4-BE49-F238E27FC236}">
                  <a16:creationId xmlns:a16="http://schemas.microsoft.com/office/drawing/2014/main" id="{1CD2B311-6DED-4F42-A08A-53A7B5743D4C}"/>
                </a:ext>
              </a:extLst>
            </p:cNvPr>
            <p:cNvCxnSpPr>
              <a:cxnSpLocks noChangeShapeType="1"/>
              <a:stCxn id="397" idx="2"/>
              <a:endCxn id="388" idx="0"/>
            </p:cNvCxnSpPr>
            <p:nvPr/>
          </p:nvCxnSpPr>
          <p:spPr bwMode="auto">
            <a:xfrm>
              <a:off x="1263437" y="3342492"/>
              <a:ext cx="0" cy="192243"/>
            </a:xfrm>
            <a:prstGeom prst="straightConnector1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2" name="Pointer">
              <a:extLst>
                <a:ext uri="{FF2B5EF4-FFF2-40B4-BE49-F238E27FC236}">
                  <a16:creationId xmlns:a16="http://schemas.microsoft.com/office/drawing/2014/main" id="{F6783B97-49FA-4CCC-BE19-0F519EC3058C}"/>
                </a:ext>
              </a:extLst>
            </p:cNvPr>
            <p:cNvCxnSpPr>
              <a:cxnSpLocks noChangeShapeType="1"/>
              <a:stCxn id="387" idx="2"/>
              <a:endCxn id="380" idx="0"/>
            </p:cNvCxnSpPr>
            <p:nvPr/>
          </p:nvCxnSpPr>
          <p:spPr bwMode="auto">
            <a:xfrm rot="5400000">
              <a:off x="1307758" y="3701235"/>
              <a:ext cx="185893" cy="274533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3" name="Pointer">
              <a:extLst>
                <a:ext uri="{FF2B5EF4-FFF2-40B4-BE49-F238E27FC236}">
                  <a16:creationId xmlns:a16="http://schemas.microsoft.com/office/drawing/2014/main" id="{5D846FC2-3D0A-46DA-860D-434BBE9D3A30}"/>
                </a:ext>
              </a:extLst>
            </p:cNvPr>
            <p:cNvCxnSpPr>
              <a:cxnSpLocks noChangeShapeType="1"/>
              <a:stCxn id="381" idx="2"/>
            </p:cNvCxnSpPr>
            <p:nvPr/>
          </p:nvCxnSpPr>
          <p:spPr bwMode="auto">
            <a:xfrm flipH="1">
              <a:off x="1260211" y="4142268"/>
              <a:ext cx="3226" cy="288762"/>
            </a:xfrm>
            <a:prstGeom prst="straightConnector1">
              <a:avLst/>
            </a:prstGeom>
            <a:noFill/>
            <a:ln w="19050">
              <a:solidFill>
                <a:schemeClr val="accent1"/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4" name="Pointer">
              <a:extLst>
                <a:ext uri="{FF2B5EF4-FFF2-40B4-BE49-F238E27FC236}">
                  <a16:creationId xmlns:a16="http://schemas.microsoft.com/office/drawing/2014/main" id="{EA5E7C97-F8C1-422A-A811-229A2F700D48}"/>
                </a:ext>
              </a:extLst>
            </p:cNvPr>
            <p:cNvCxnSpPr>
              <a:cxnSpLocks noChangeShapeType="1"/>
              <a:stCxn id="421" idx="2"/>
              <a:endCxn id="412" idx="0"/>
            </p:cNvCxnSpPr>
            <p:nvPr/>
          </p:nvCxnSpPr>
          <p:spPr bwMode="auto">
            <a:xfrm>
              <a:off x="1945535" y="1761990"/>
              <a:ext cx="0" cy="185893"/>
            </a:xfrm>
            <a:prstGeom prst="straightConnector1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5" name="Pointer">
              <a:extLst>
                <a:ext uri="{FF2B5EF4-FFF2-40B4-BE49-F238E27FC236}">
                  <a16:creationId xmlns:a16="http://schemas.microsoft.com/office/drawing/2014/main" id="{06DEB9C7-E7CF-4121-BEC7-DCCF3050D9C4}"/>
                </a:ext>
              </a:extLst>
            </p:cNvPr>
            <p:cNvCxnSpPr>
              <a:cxnSpLocks noChangeShapeType="1"/>
              <a:stCxn id="413" idx="2"/>
              <a:endCxn id="404" idx="0"/>
            </p:cNvCxnSpPr>
            <p:nvPr/>
          </p:nvCxnSpPr>
          <p:spPr bwMode="auto">
            <a:xfrm>
              <a:off x="1945535" y="2158703"/>
              <a:ext cx="0" cy="185893"/>
            </a:xfrm>
            <a:prstGeom prst="straightConnector1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6" name="Pointer">
              <a:extLst>
                <a:ext uri="{FF2B5EF4-FFF2-40B4-BE49-F238E27FC236}">
                  <a16:creationId xmlns:a16="http://schemas.microsoft.com/office/drawing/2014/main" id="{AF73D623-A6D9-4434-9B99-19F2151DA74E}"/>
                </a:ext>
              </a:extLst>
            </p:cNvPr>
            <p:cNvCxnSpPr>
              <a:cxnSpLocks noChangeShapeType="1"/>
              <a:stCxn id="405" idx="2"/>
              <a:endCxn id="356" idx="0"/>
            </p:cNvCxnSpPr>
            <p:nvPr/>
          </p:nvCxnSpPr>
          <p:spPr bwMode="auto">
            <a:xfrm rot="5400000">
              <a:off x="1508454" y="2307173"/>
              <a:ext cx="188838" cy="685324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" name="Pointer">
              <a:extLst>
                <a:ext uri="{FF2B5EF4-FFF2-40B4-BE49-F238E27FC236}">
                  <a16:creationId xmlns:a16="http://schemas.microsoft.com/office/drawing/2014/main" id="{3E6942CF-4050-42BC-8F16-3DD0AB928366}"/>
                </a:ext>
              </a:extLst>
            </p:cNvPr>
            <p:cNvCxnSpPr>
              <a:cxnSpLocks noChangeShapeType="1"/>
              <a:stCxn id="403" idx="2"/>
              <a:endCxn id="348" idx="0"/>
            </p:cNvCxnSpPr>
            <p:nvPr/>
          </p:nvCxnSpPr>
          <p:spPr bwMode="auto">
            <a:xfrm rot="16200000" flipH="1">
              <a:off x="2266091" y="2507952"/>
              <a:ext cx="182953" cy="277880"/>
            </a:xfrm>
            <a:prstGeom prst="curvedConnector3">
              <a:avLst>
                <a:gd name="adj1" fmla="val 50000"/>
              </a:avLst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  <a:round/>
              <a:headEnd type="oval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3" name="Highlight Box">
            <a:extLst>
              <a:ext uri="{FF2B5EF4-FFF2-40B4-BE49-F238E27FC236}">
                <a16:creationId xmlns:a16="http://schemas.microsoft.com/office/drawing/2014/main" id="{0007433A-0886-48BF-962A-08672314A7E9}"/>
              </a:ext>
            </a:extLst>
          </p:cNvPr>
          <p:cNvSpPr/>
          <p:nvPr/>
        </p:nvSpPr>
        <p:spPr>
          <a:xfrm>
            <a:off x="1082580" y="2420151"/>
            <a:ext cx="703621" cy="1611047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Highlight Box">
            <a:extLst>
              <a:ext uri="{FF2B5EF4-FFF2-40B4-BE49-F238E27FC236}">
                <a16:creationId xmlns:a16="http://schemas.microsoft.com/office/drawing/2014/main" id="{768829AE-4C41-4CC1-9960-AB511AB5E432}"/>
              </a:ext>
            </a:extLst>
          </p:cNvPr>
          <p:cNvSpPr/>
          <p:nvPr/>
        </p:nvSpPr>
        <p:spPr>
          <a:xfrm>
            <a:off x="1935309" y="3260342"/>
            <a:ext cx="703621" cy="770856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Highlight Box">
            <a:extLst>
              <a:ext uri="{FF2B5EF4-FFF2-40B4-BE49-F238E27FC236}">
                <a16:creationId xmlns:a16="http://schemas.microsoft.com/office/drawing/2014/main" id="{913397A3-0295-4E71-9F5F-84FA9FEE926D}"/>
              </a:ext>
            </a:extLst>
          </p:cNvPr>
          <p:cNvSpPr/>
          <p:nvPr/>
        </p:nvSpPr>
        <p:spPr>
          <a:xfrm>
            <a:off x="2781891" y="3260342"/>
            <a:ext cx="703621" cy="770856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56F4A3-AF48-4BB3-A15A-F90D710E664A}"/>
              </a:ext>
            </a:extLst>
          </p:cNvPr>
          <p:cNvGrpSpPr/>
          <p:nvPr/>
        </p:nvGrpSpPr>
        <p:grpSpPr>
          <a:xfrm>
            <a:off x="536094" y="1885950"/>
            <a:ext cx="7880198" cy="2145247"/>
            <a:chOff x="536094" y="2114550"/>
            <a:chExt cx="7880198" cy="2145247"/>
          </a:xfrm>
        </p:grpSpPr>
        <p:sp>
          <p:nvSpPr>
            <p:cNvPr id="460" name="Highlight Box">
              <a:extLst>
                <a:ext uri="{FF2B5EF4-FFF2-40B4-BE49-F238E27FC236}">
                  <a16:creationId xmlns:a16="http://schemas.microsoft.com/office/drawing/2014/main" id="{41E26CA3-A690-4B6B-9A79-4B618D7C2BCF}"/>
                </a:ext>
              </a:extLst>
            </p:cNvPr>
            <p:cNvSpPr/>
            <p:nvPr/>
          </p:nvSpPr>
          <p:spPr>
            <a:xfrm>
              <a:off x="536094" y="2648750"/>
              <a:ext cx="1200773" cy="1611047"/>
            </a:xfrm>
            <a:prstGeom prst="roundRect">
              <a:avLst>
                <a:gd name="adj" fmla="val 4675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1" name="Highlight Box">
              <a:extLst>
                <a:ext uri="{FF2B5EF4-FFF2-40B4-BE49-F238E27FC236}">
                  <a16:creationId xmlns:a16="http://schemas.microsoft.com/office/drawing/2014/main" id="{9915896B-59AF-4568-B01E-96F1E43898D1}"/>
                </a:ext>
              </a:extLst>
            </p:cNvPr>
            <p:cNvSpPr/>
            <p:nvPr/>
          </p:nvSpPr>
          <p:spPr>
            <a:xfrm>
              <a:off x="7639052" y="2114550"/>
              <a:ext cx="777240" cy="320040"/>
            </a:xfrm>
            <a:prstGeom prst="roundRect">
              <a:avLst>
                <a:gd name="adj" fmla="val 4675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4C0AA5-03B4-43DB-9149-F5086084C749}"/>
              </a:ext>
            </a:extLst>
          </p:cNvPr>
          <p:cNvGrpSpPr/>
          <p:nvPr/>
        </p:nvGrpSpPr>
        <p:grpSpPr>
          <a:xfrm>
            <a:off x="2260600" y="2236531"/>
            <a:ext cx="5772242" cy="1013428"/>
            <a:chOff x="2260600" y="2465131"/>
            <a:chExt cx="5772242" cy="1013428"/>
          </a:xfrm>
        </p:grpSpPr>
        <p:sp>
          <p:nvSpPr>
            <p:cNvPr id="462" name="Highlight Box">
              <a:extLst>
                <a:ext uri="{FF2B5EF4-FFF2-40B4-BE49-F238E27FC236}">
                  <a16:creationId xmlns:a16="http://schemas.microsoft.com/office/drawing/2014/main" id="{1E0DBEF8-519E-4030-890A-6FF0E833BF89}"/>
                </a:ext>
              </a:extLst>
            </p:cNvPr>
            <p:cNvSpPr/>
            <p:nvPr/>
          </p:nvSpPr>
          <p:spPr>
            <a:xfrm>
              <a:off x="7639650" y="2465131"/>
              <a:ext cx="393192" cy="658368"/>
            </a:xfrm>
            <a:prstGeom prst="roundRect">
              <a:avLst>
                <a:gd name="adj" fmla="val 4675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4" name="Highlight Box">
              <a:extLst>
                <a:ext uri="{FF2B5EF4-FFF2-40B4-BE49-F238E27FC236}">
                  <a16:creationId xmlns:a16="http://schemas.microsoft.com/office/drawing/2014/main" id="{DBA7F5F9-E8E3-48CC-BAE5-B1D95B5EA763}"/>
                </a:ext>
              </a:extLst>
            </p:cNvPr>
            <p:cNvSpPr/>
            <p:nvPr/>
          </p:nvSpPr>
          <p:spPr>
            <a:xfrm>
              <a:off x="2260600" y="2648751"/>
              <a:ext cx="1200773" cy="829808"/>
            </a:xfrm>
            <a:prstGeom prst="roundRect">
              <a:avLst>
                <a:gd name="adj" fmla="val 4675"/>
              </a:avLst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89320FB-B63F-4A71-AEFA-C0EC7307D15F}"/>
              </a:ext>
            </a:extLst>
          </p:cNvPr>
          <p:cNvGrpSpPr/>
          <p:nvPr/>
        </p:nvGrpSpPr>
        <p:grpSpPr>
          <a:xfrm>
            <a:off x="845525" y="4352681"/>
            <a:ext cx="2880951" cy="317779"/>
            <a:chOff x="228600" y="4495601"/>
            <a:chExt cx="2880951" cy="31777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755E34E-4E43-4E94-B845-8447150BA9B1}"/>
                </a:ext>
              </a:extLst>
            </p:cNvPr>
            <p:cNvGrpSpPr/>
            <p:nvPr/>
          </p:nvGrpSpPr>
          <p:grpSpPr>
            <a:xfrm>
              <a:off x="228600" y="4495601"/>
              <a:ext cx="1486491" cy="317779"/>
              <a:chOff x="6743109" y="3912344"/>
              <a:chExt cx="1486491" cy="317779"/>
            </a:xfrm>
          </p:grpSpPr>
          <p:cxnSp>
            <p:nvCxnSpPr>
              <p:cNvPr id="466" name="Curved Connector 39">
                <a:extLst>
                  <a:ext uri="{FF2B5EF4-FFF2-40B4-BE49-F238E27FC236}">
                    <a16:creationId xmlns:a16="http://schemas.microsoft.com/office/drawing/2014/main" id="{B1CA7247-DD01-4D35-8EEC-CF0F9874E484}"/>
                  </a:ext>
                </a:extLst>
              </p:cNvPr>
              <p:cNvCxnSpPr/>
              <p:nvPr/>
            </p:nvCxnSpPr>
            <p:spPr>
              <a:xfrm>
                <a:off x="7680960" y="4071235"/>
                <a:ext cx="548640" cy="0"/>
              </a:xfrm>
              <a:prstGeom prst="straightConnector1">
                <a:avLst/>
              </a:prstGeom>
              <a:noFill/>
              <a:ln w="38100">
                <a:solidFill>
                  <a:schemeClr val="accent1"/>
                </a:solidFill>
                <a:round/>
                <a:headEnd type="oval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67" name="TextBox 15">
                <a:extLst>
                  <a:ext uri="{FF2B5EF4-FFF2-40B4-BE49-F238E27FC236}">
                    <a16:creationId xmlns:a16="http://schemas.microsoft.com/office/drawing/2014/main" id="{E273896E-7976-4B86-A388-170AB9A0C6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43109" y="3912344"/>
                <a:ext cx="838200" cy="3177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defPPr>
                  <a:defRPr lang="en-US"/>
                </a:defPPr>
                <a:lvl1pPr eaLnBrk="0" hangingPunct="0">
                  <a:defRPr sz="2400" b="1" i="1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ＭＳ Ｐゴシック" charset="-128"/>
                  </a:defRPr>
                </a:lvl1pPr>
              </a:lstStyle>
              <a:p>
                <a:pPr algn="r">
                  <a:lnSpc>
                    <a:spcPct val="70000"/>
                  </a:lnSpc>
                </a:pP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  <a:ea typeface="Crimson Text" pitchFamily="2" charset="0"/>
                  </a:rPr>
                  <a:t>Tuple Pointer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558DC2E-5639-4CFE-87D3-902A1F0C65D5}"/>
                </a:ext>
              </a:extLst>
            </p:cNvPr>
            <p:cNvGrpSpPr/>
            <p:nvPr/>
          </p:nvGrpSpPr>
          <p:grpSpPr>
            <a:xfrm>
              <a:off x="1600200" y="4495601"/>
              <a:ext cx="1509351" cy="317779"/>
              <a:chOff x="6720249" y="4448947"/>
              <a:chExt cx="1509351" cy="317779"/>
            </a:xfrm>
          </p:grpSpPr>
          <p:cxnSp>
            <p:nvCxnSpPr>
              <p:cNvPr id="469" name="Curved Connector 39">
                <a:extLst>
                  <a:ext uri="{FF2B5EF4-FFF2-40B4-BE49-F238E27FC236}">
                    <a16:creationId xmlns:a16="http://schemas.microsoft.com/office/drawing/2014/main" id="{B0D1697E-F3C7-43FC-8901-2BBD2D677EC1}"/>
                  </a:ext>
                </a:extLst>
              </p:cNvPr>
              <p:cNvCxnSpPr/>
              <p:nvPr/>
            </p:nvCxnSpPr>
            <p:spPr>
              <a:xfrm>
                <a:off x="7680960" y="4607838"/>
                <a:ext cx="548640" cy="0"/>
              </a:xfrm>
              <a:prstGeom prst="straightConnector1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oval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470" name="TextBox 15">
                <a:extLst>
                  <a:ext uri="{FF2B5EF4-FFF2-40B4-BE49-F238E27FC236}">
                    <a16:creationId xmlns:a16="http://schemas.microsoft.com/office/drawing/2014/main" id="{D76228D9-AC6A-4CCF-B196-333366B0A6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0249" y="4448947"/>
                <a:ext cx="838200" cy="3177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defPPr>
                  <a:defRPr lang="en-US"/>
                </a:defPPr>
                <a:lvl1pPr eaLnBrk="0" hangingPunct="0">
                  <a:defRPr sz="2400" b="1" i="1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ＭＳ Ｐゴシック" charset="-128"/>
                  </a:defRPr>
                </a:lvl1pPr>
              </a:lstStyle>
              <a:p>
                <a:pPr algn="r">
                  <a:lnSpc>
                    <a:spcPct val="70000"/>
                  </a:lnSpc>
                </a:pP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  <a:ea typeface="Crimson Text" pitchFamily="2" charset="0"/>
                  </a:rPr>
                  <a:t>Node Pointer</a:t>
                </a:r>
              </a:p>
            </p:txBody>
          </p:sp>
        </p:grpSp>
      </p:grpSp>
      <p:sp>
        <p:nvSpPr>
          <p:cNvPr id="263" name="Highlight Box">
            <a:extLst>
              <a:ext uri="{FF2B5EF4-FFF2-40B4-BE49-F238E27FC236}">
                <a16:creationId xmlns:a16="http://schemas.microsoft.com/office/drawing/2014/main" id="{77F40221-CC8F-4BEA-9DEF-295A5BA96E86}"/>
              </a:ext>
            </a:extLst>
          </p:cNvPr>
          <p:cNvSpPr/>
          <p:nvPr/>
        </p:nvSpPr>
        <p:spPr>
          <a:xfrm>
            <a:off x="5154979" y="1890713"/>
            <a:ext cx="192672" cy="1005840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5" name="Highlight Box">
            <a:extLst>
              <a:ext uri="{FF2B5EF4-FFF2-40B4-BE49-F238E27FC236}">
                <a16:creationId xmlns:a16="http://schemas.microsoft.com/office/drawing/2014/main" id="{F3A2E485-DF53-4690-AAAC-27BF1F6E32BA}"/>
              </a:ext>
            </a:extLst>
          </p:cNvPr>
          <p:cNvSpPr/>
          <p:nvPr/>
        </p:nvSpPr>
        <p:spPr>
          <a:xfrm>
            <a:off x="7446380" y="1890713"/>
            <a:ext cx="192672" cy="1005840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08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5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"/>
                            </p:stCondLst>
                            <p:childTnLst>
                              <p:par>
                                <p:cTn id="3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58025E-6 L 0.025 3.58025E-6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33333E-6 L 0.00052 0.07192 " pathEditMode="relative" rAng="0" ptsTypes="AA">
                                      <p:cBhvr>
                                        <p:cTn id="38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35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5 3.58025E-6 L 0.23211 -0.00155 " pathEditMode="relative" rAng="0" ptsTypes="AA">
                                      <p:cBhvr>
                                        <p:cTn id="42" dur="75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47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7192 L 0.00052 0.15402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05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211 -0.00155 L 0.25208 -0.00186 " pathEditMode="relative" rAng="0" ptsTypes="AA">
                                      <p:cBhvr>
                                        <p:cTn id="48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90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25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5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25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"/>
                            </p:stCondLst>
                            <p:childTnLst>
                              <p:par>
                                <p:cTn id="8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5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250"/>
                            </p:stCondLst>
                            <p:childTnLst>
                              <p:par>
                                <p:cTn id="9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7 L -0.0559 -0.0037 " pathEditMode="relative" rAng="0" ptsTypes="AA">
                                      <p:cBhvr>
                                        <p:cTn id="92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95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5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5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 animBg="1"/>
      <p:bldP spid="286" grpId="1" animBg="1"/>
      <p:bldP spid="286" grpId="2" animBg="1"/>
      <p:bldP spid="286" grpId="3" animBg="1"/>
      <p:bldP spid="287" grpId="0" animBg="1"/>
      <p:bldP spid="287" grpId="1" animBg="1"/>
      <p:bldP spid="287" grpId="2" animBg="1"/>
      <p:bldP spid="287" grpId="3" animBg="1"/>
      <p:bldP spid="287" grpId="4" animBg="1"/>
      <p:bldP spid="289" grpId="0"/>
      <p:bldP spid="289" grpId="1"/>
      <p:bldP spid="253" grpId="0" animBg="1"/>
      <p:bldP spid="254" grpId="0" animBg="1"/>
      <p:bldP spid="255" grpId="0" animBg="1"/>
      <p:bldP spid="263" grpId="0" animBg="1"/>
      <p:bldP spid="263" grpId="1" animBg="1"/>
      <p:bldP spid="265" grpId="0" animBg="1"/>
      <p:bldP spid="265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011782-97CB-4153-96FB-5526FD376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Tree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1A5237-0483-40F9-8B48-C965ECA3D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880" y="984250"/>
            <a:ext cx="4389120" cy="3657600"/>
          </a:xfrm>
        </p:spPr>
        <p:txBody>
          <a:bodyPr/>
          <a:lstStyle/>
          <a:p>
            <a:r>
              <a:rPr lang="en-US" dirty="0"/>
              <a:t>Vertically compressed trie that compacts nodes with a single child.</a:t>
            </a:r>
          </a:p>
          <a:p>
            <a:pPr lvl="1"/>
            <a:r>
              <a:rPr lang="en-US" dirty="0"/>
              <a:t>Also known as </a:t>
            </a:r>
            <a:r>
              <a:rPr lang="en-US" b="1" i="1" dirty="0"/>
              <a:t>Patricia Tree</a:t>
            </a:r>
            <a:r>
              <a:rPr lang="en-US" dirty="0"/>
              <a:t>.</a:t>
            </a:r>
          </a:p>
          <a:p>
            <a:endParaRPr lang="en-US" sz="1200" dirty="0"/>
          </a:p>
          <a:p>
            <a:r>
              <a:rPr lang="en-US" dirty="0"/>
              <a:t>Can produce false positives, so the DBMS always checks the original tuple to see whether a key matches.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F5B76-C94C-4FE7-AED5-09B0E3D44A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34</a:t>
            </a:fld>
            <a:endParaRPr lang="en-US" dirty="0"/>
          </a:p>
        </p:txBody>
      </p:sp>
      <p:sp>
        <p:nvSpPr>
          <p:cNvPr id="10" name="Content Placeholder 28">
            <a:extLst>
              <a:ext uri="{FF2B5EF4-FFF2-40B4-BE49-F238E27FC236}">
                <a16:creationId xmlns:a16="http://schemas.microsoft.com/office/drawing/2014/main" id="{B9120054-3AD3-4AD9-B374-F43E1083EDE6}"/>
              </a:ext>
            </a:extLst>
          </p:cNvPr>
          <p:cNvSpPr txBox="1">
            <a:spLocks/>
          </p:cNvSpPr>
          <p:nvPr/>
        </p:nvSpPr>
        <p:spPr>
          <a:xfrm>
            <a:off x="4648200" y="1746250"/>
            <a:ext cx="2743200" cy="457200"/>
          </a:xfrm>
          <a:prstGeom prst="rect">
            <a:avLst/>
          </a:prstGeom>
        </p:spPr>
        <p:txBody>
          <a:bodyPr lIns="0" rIns="0"/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4" name="Text Box 4">
            <a:extLst>
              <a:ext uri="{FF2B5EF4-FFF2-40B4-BE49-F238E27FC236}">
                <a16:creationId xmlns:a16="http://schemas.microsoft.com/office/drawing/2014/main" id="{1314B220-5CC3-4B73-B107-7992D077F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90968"/>
            <a:ext cx="3657600" cy="347472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2400" u="none" dirty="0">
              <a:latin typeface="DejaVu Sans Mono" pitchFamily="49" charset="0"/>
              <a:ea typeface="DejaVu Sans Mono" pitchFamily="49" charset="0"/>
              <a:cs typeface="DejaVu Sans Mono" pitchFamily="49" charset="0"/>
            </a:endParaRPr>
          </a:p>
        </p:txBody>
      </p:sp>
      <p:sp>
        <p:nvSpPr>
          <p:cNvPr id="85" name="TextBox 15">
            <a:extLst>
              <a:ext uri="{FF2B5EF4-FFF2-40B4-BE49-F238E27FC236}">
                <a16:creationId xmlns:a16="http://schemas.microsoft.com/office/drawing/2014/main" id="{93F0BFD7-512E-4A98-AA22-1730A18BD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" y="838200"/>
            <a:ext cx="27206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1-bit Span Radix Tree</a:t>
            </a:r>
          </a:p>
        </p:txBody>
      </p:sp>
      <p:grpSp>
        <p:nvGrpSpPr>
          <p:cNvPr id="275" name="Tuple Marks" hidden="1">
            <a:extLst>
              <a:ext uri="{FF2B5EF4-FFF2-40B4-BE49-F238E27FC236}">
                <a16:creationId xmlns:a16="http://schemas.microsoft.com/office/drawing/2014/main" id="{6D1DE782-77CB-42F0-A59F-D2484B83144C}"/>
              </a:ext>
            </a:extLst>
          </p:cNvPr>
          <p:cNvGrpSpPr/>
          <p:nvPr/>
        </p:nvGrpSpPr>
        <p:grpSpPr>
          <a:xfrm>
            <a:off x="746759" y="4197658"/>
            <a:ext cx="2892376" cy="45720"/>
            <a:chOff x="746759" y="4431030"/>
            <a:chExt cx="2892376" cy="45720"/>
          </a:xfrm>
        </p:grpSpPr>
        <p:sp>
          <p:nvSpPr>
            <p:cNvPr id="272" name="mark">
              <a:extLst>
                <a:ext uri="{FF2B5EF4-FFF2-40B4-BE49-F238E27FC236}">
                  <a16:creationId xmlns:a16="http://schemas.microsoft.com/office/drawing/2014/main" id="{3505B3E3-258F-4E44-8F23-A1AE51C17A17}"/>
                </a:ext>
              </a:extLst>
            </p:cNvPr>
            <p:cNvSpPr/>
            <p:nvPr/>
          </p:nvSpPr>
          <p:spPr>
            <a:xfrm>
              <a:off x="2445388" y="4431030"/>
              <a:ext cx="45720" cy="45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73" name="mark">
              <a:extLst>
                <a:ext uri="{FF2B5EF4-FFF2-40B4-BE49-F238E27FC236}">
                  <a16:creationId xmlns:a16="http://schemas.microsoft.com/office/drawing/2014/main" id="{E554D81B-9ECE-4B71-AA53-3FD754812351}"/>
                </a:ext>
              </a:extLst>
            </p:cNvPr>
            <p:cNvSpPr/>
            <p:nvPr/>
          </p:nvSpPr>
          <p:spPr>
            <a:xfrm>
              <a:off x="3593415" y="4431030"/>
              <a:ext cx="45720" cy="45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itchFamily="49" charset="0"/>
                <a:ea typeface="Open Sans" pitchFamily="34" charset="0"/>
                <a:cs typeface="Consolas" pitchFamily="49" charset="0"/>
              </a:endParaRPr>
            </a:p>
          </p:txBody>
        </p:sp>
        <p:sp>
          <p:nvSpPr>
            <p:cNvPr id="274" name="mark">
              <a:extLst>
                <a:ext uri="{FF2B5EF4-FFF2-40B4-BE49-F238E27FC236}">
                  <a16:creationId xmlns:a16="http://schemas.microsoft.com/office/drawing/2014/main" id="{3C1A225E-928F-4810-9E93-96EBB9029A26}"/>
                </a:ext>
              </a:extLst>
            </p:cNvPr>
            <p:cNvSpPr/>
            <p:nvPr/>
          </p:nvSpPr>
          <p:spPr>
            <a:xfrm>
              <a:off x="746759" y="4431030"/>
              <a:ext cx="45720" cy="457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itchFamily="49" charset="0"/>
                <a:ea typeface="Open Sans" pitchFamily="34" charset="0"/>
                <a:cs typeface="Consolas" pitchFamily="49" charset="0"/>
              </a:endParaRPr>
            </a:p>
          </p:txBody>
        </p:sp>
      </p:grpSp>
      <p:grpSp>
        <p:nvGrpSpPr>
          <p:cNvPr id="290" name="1-bit Node">
            <a:extLst>
              <a:ext uri="{FF2B5EF4-FFF2-40B4-BE49-F238E27FC236}">
                <a16:creationId xmlns:a16="http://schemas.microsoft.com/office/drawing/2014/main" id="{BB64991D-AE61-4531-A9F1-10A8F36B8CAE}"/>
              </a:ext>
            </a:extLst>
          </p:cNvPr>
          <p:cNvGrpSpPr/>
          <p:nvPr/>
        </p:nvGrpSpPr>
        <p:grpSpPr>
          <a:xfrm>
            <a:off x="1847217" y="1317798"/>
            <a:ext cx="547412" cy="274320"/>
            <a:chOff x="1808375" y="1551170"/>
            <a:chExt cx="547412" cy="274320"/>
          </a:xfrm>
        </p:grpSpPr>
        <p:grpSp>
          <p:nvGrpSpPr>
            <p:cNvPr id="415" name="PointerBox">
              <a:extLst>
                <a:ext uri="{FF2B5EF4-FFF2-40B4-BE49-F238E27FC236}">
                  <a16:creationId xmlns:a16="http://schemas.microsoft.com/office/drawing/2014/main" id="{1F6653F5-C268-4417-9A33-C901DA0A4376}"/>
                </a:ext>
              </a:extLst>
            </p:cNvPr>
            <p:cNvGrpSpPr/>
            <p:nvPr/>
          </p:nvGrpSpPr>
          <p:grpSpPr>
            <a:xfrm>
              <a:off x="1808375" y="1551170"/>
              <a:ext cx="274320" cy="274320"/>
              <a:chOff x="4648200" y="3847500"/>
              <a:chExt cx="274320" cy="274320"/>
            </a:xfrm>
          </p:grpSpPr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4F5D480D-E6AD-4D65-B5D3-3335EFCEE7EC}"/>
                  </a:ext>
                </a:extLst>
              </p:cNvPr>
              <p:cNvSpPr/>
              <p:nvPr/>
            </p:nvSpPr>
            <p:spPr>
              <a:xfrm>
                <a:off x="4648200" y="384750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¤</a:t>
                </a:r>
                <a:endParaRPr lang="en-US" sz="28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sp>
            <p:nvSpPr>
              <p:cNvPr id="421" name="mark" hidden="1">
                <a:extLst>
                  <a:ext uri="{FF2B5EF4-FFF2-40B4-BE49-F238E27FC236}">
                    <a16:creationId xmlns:a16="http://schemas.microsoft.com/office/drawing/2014/main" id="{EB476462-7227-4F37-8B68-8CEF7DC258BD}"/>
                  </a:ext>
                </a:extLst>
              </p:cNvPr>
              <p:cNvSpPr/>
              <p:nvPr/>
            </p:nvSpPr>
            <p:spPr>
              <a:xfrm>
                <a:off x="4762500" y="4012600"/>
                <a:ext cx="45720" cy="457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endParaRPr lang="en-US" sz="14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sp>
          <p:nvSpPr>
            <p:cNvPr id="418" name="Rectangle 417">
              <a:extLst>
                <a:ext uri="{FF2B5EF4-FFF2-40B4-BE49-F238E27FC236}">
                  <a16:creationId xmlns:a16="http://schemas.microsoft.com/office/drawing/2014/main" id="{605897BD-5773-4C9E-8010-6645F71018C9}"/>
                </a:ext>
              </a:extLst>
            </p:cNvPr>
            <p:cNvSpPr/>
            <p:nvPr/>
          </p:nvSpPr>
          <p:spPr>
            <a:xfrm>
              <a:off x="2081467" y="1551170"/>
              <a:ext cx="274320" cy="274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Ø</a:t>
              </a:r>
            </a:p>
          </p:txBody>
        </p:sp>
      </p:grpSp>
      <p:grpSp>
        <p:nvGrpSpPr>
          <p:cNvPr id="291" name="1-bit Node">
            <a:extLst>
              <a:ext uri="{FF2B5EF4-FFF2-40B4-BE49-F238E27FC236}">
                <a16:creationId xmlns:a16="http://schemas.microsoft.com/office/drawing/2014/main" id="{E2CB7A1F-9C53-4B1D-A9E0-CDC989659200}"/>
              </a:ext>
            </a:extLst>
          </p:cNvPr>
          <p:cNvGrpSpPr/>
          <p:nvPr/>
        </p:nvGrpSpPr>
        <p:grpSpPr>
          <a:xfrm>
            <a:off x="1847217" y="1714511"/>
            <a:ext cx="547412" cy="274320"/>
            <a:chOff x="1808375" y="1551170"/>
            <a:chExt cx="547412" cy="274320"/>
          </a:xfrm>
        </p:grpSpPr>
        <p:grpSp>
          <p:nvGrpSpPr>
            <p:cNvPr id="407" name="PointerBox">
              <a:extLst>
                <a:ext uri="{FF2B5EF4-FFF2-40B4-BE49-F238E27FC236}">
                  <a16:creationId xmlns:a16="http://schemas.microsoft.com/office/drawing/2014/main" id="{A9D54FE7-ADFB-4DA4-ACCF-3C83FD468830}"/>
                </a:ext>
              </a:extLst>
            </p:cNvPr>
            <p:cNvGrpSpPr/>
            <p:nvPr/>
          </p:nvGrpSpPr>
          <p:grpSpPr>
            <a:xfrm>
              <a:off x="1808375" y="1551170"/>
              <a:ext cx="274320" cy="274320"/>
              <a:chOff x="4648200" y="3847500"/>
              <a:chExt cx="274320" cy="274320"/>
            </a:xfrm>
          </p:grpSpPr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892E9C99-AEC1-48ED-8E4D-E0698FA29AB9}"/>
                  </a:ext>
                </a:extLst>
              </p:cNvPr>
              <p:cNvSpPr/>
              <p:nvPr/>
            </p:nvSpPr>
            <p:spPr>
              <a:xfrm>
                <a:off x="4648200" y="384750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¤</a:t>
                </a:r>
                <a:endParaRPr lang="en-US" sz="28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sp>
            <p:nvSpPr>
              <p:cNvPr id="413" name="mark" hidden="1">
                <a:extLst>
                  <a:ext uri="{FF2B5EF4-FFF2-40B4-BE49-F238E27FC236}">
                    <a16:creationId xmlns:a16="http://schemas.microsoft.com/office/drawing/2014/main" id="{ACE537EE-F1E6-4C00-8865-3739AFBBB39E}"/>
                  </a:ext>
                </a:extLst>
              </p:cNvPr>
              <p:cNvSpPr/>
              <p:nvPr/>
            </p:nvSpPr>
            <p:spPr>
              <a:xfrm>
                <a:off x="4762500" y="4012600"/>
                <a:ext cx="45720" cy="457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endParaRPr lang="en-US" sz="14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4672C046-D14A-4D74-BA2D-37EF25A36B43}"/>
                </a:ext>
              </a:extLst>
            </p:cNvPr>
            <p:cNvSpPr/>
            <p:nvPr/>
          </p:nvSpPr>
          <p:spPr>
            <a:xfrm>
              <a:off x="2081467" y="1551170"/>
              <a:ext cx="274320" cy="274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Ø</a:t>
              </a:r>
            </a:p>
          </p:txBody>
        </p:sp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065A126C-450B-4F95-B055-2AF255441722}"/>
              </a:ext>
            </a:extLst>
          </p:cNvPr>
          <p:cNvGrpSpPr/>
          <p:nvPr/>
        </p:nvGrpSpPr>
        <p:grpSpPr>
          <a:xfrm>
            <a:off x="1847217" y="2111224"/>
            <a:ext cx="547412" cy="274320"/>
            <a:chOff x="1808375" y="2344596"/>
            <a:chExt cx="547412" cy="274320"/>
          </a:xfrm>
        </p:grpSpPr>
        <p:grpSp>
          <p:nvGrpSpPr>
            <p:cNvPr id="399" name="PointerBox">
              <a:extLst>
                <a:ext uri="{FF2B5EF4-FFF2-40B4-BE49-F238E27FC236}">
                  <a16:creationId xmlns:a16="http://schemas.microsoft.com/office/drawing/2014/main" id="{62FB1098-910E-483A-9CE9-8383AC676C5E}"/>
                </a:ext>
              </a:extLst>
            </p:cNvPr>
            <p:cNvGrpSpPr/>
            <p:nvPr/>
          </p:nvGrpSpPr>
          <p:grpSpPr>
            <a:xfrm>
              <a:off x="1808375" y="2344596"/>
              <a:ext cx="274320" cy="274320"/>
              <a:chOff x="4648200" y="3847500"/>
              <a:chExt cx="274320" cy="274320"/>
            </a:xfrm>
          </p:grpSpPr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F71B5284-742B-4D25-8591-0ACEE7900222}"/>
                  </a:ext>
                </a:extLst>
              </p:cNvPr>
              <p:cNvSpPr/>
              <p:nvPr/>
            </p:nvSpPr>
            <p:spPr>
              <a:xfrm>
                <a:off x="4648200" y="384750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¤</a:t>
                </a:r>
                <a:endParaRPr lang="en-US" sz="28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sp>
            <p:nvSpPr>
              <p:cNvPr id="405" name="mark" hidden="1">
                <a:extLst>
                  <a:ext uri="{FF2B5EF4-FFF2-40B4-BE49-F238E27FC236}">
                    <a16:creationId xmlns:a16="http://schemas.microsoft.com/office/drawing/2014/main" id="{61A33541-52AB-4376-BA11-D5B33964BB0B}"/>
                  </a:ext>
                </a:extLst>
              </p:cNvPr>
              <p:cNvSpPr/>
              <p:nvPr/>
            </p:nvSpPr>
            <p:spPr>
              <a:xfrm>
                <a:off x="4762500" y="4012600"/>
                <a:ext cx="45720" cy="457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endParaRPr lang="en-US" sz="14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grpSp>
          <p:nvGrpSpPr>
            <p:cNvPr id="401" name="PointerBox">
              <a:extLst>
                <a:ext uri="{FF2B5EF4-FFF2-40B4-BE49-F238E27FC236}">
                  <a16:creationId xmlns:a16="http://schemas.microsoft.com/office/drawing/2014/main" id="{CC68C188-D31B-4F36-8FAA-4691FBF1CCE0}"/>
                </a:ext>
              </a:extLst>
            </p:cNvPr>
            <p:cNvGrpSpPr/>
            <p:nvPr/>
          </p:nvGrpSpPr>
          <p:grpSpPr>
            <a:xfrm>
              <a:off x="2081467" y="2344596"/>
              <a:ext cx="274320" cy="274320"/>
              <a:chOff x="4378789" y="3847500"/>
              <a:chExt cx="274320" cy="274320"/>
            </a:xfrm>
          </p:grpSpPr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577B4B8A-DE33-45A1-AFA3-EBFFBEBF5BDD}"/>
                  </a:ext>
                </a:extLst>
              </p:cNvPr>
              <p:cNvSpPr/>
              <p:nvPr/>
            </p:nvSpPr>
            <p:spPr>
              <a:xfrm>
                <a:off x="4378789" y="384750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¤</a:t>
                </a:r>
                <a:endParaRPr lang="en-US" sz="28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sp>
            <p:nvSpPr>
              <p:cNvPr id="403" name="mark" hidden="1">
                <a:extLst>
                  <a:ext uri="{FF2B5EF4-FFF2-40B4-BE49-F238E27FC236}">
                    <a16:creationId xmlns:a16="http://schemas.microsoft.com/office/drawing/2014/main" id="{D748D52C-6A24-45C7-A9ED-2CC765FDBF7B}"/>
                  </a:ext>
                </a:extLst>
              </p:cNvPr>
              <p:cNvSpPr/>
              <p:nvPr/>
            </p:nvSpPr>
            <p:spPr>
              <a:xfrm>
                <a:off x="4493089" y="4012600"/>
                <a:ext cx="45720" cy="457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endParaRPr lang="en-US" sz="14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99" name="1-bit Node">
            <a:extLst>
              <a:ext uri="{FF2B5EF4-FFF2-40B4-BE49-F238E27FC236}">
                <a16:creationId xmlns:a16="http://schemas.microsoft.com/office/drawing/2014/main" id="{BC7B77AB-EEEA-4785-ABDB-F9EC6744A438}"/>
              </a:ext>
            </a:extLst>
          </p:cNvPr>
          <p:cNvGrpSpPr/>
          <p:nvPr/>
        </p:nvGrpSpPr>
        <p:grpSpPr>
          <a:xfrm>
            <a:off x="2398189" y="2504997"/>
            <a:ext cx="546588" cy="274320"/>
            <a:chOff x="2228157" y="1548230"/>
            <a:chExt cx="546588" cy="274320"/>
          </a:xfrm>
        </p:grpSpPr>
        <p:sp>
          <p:nvSpPr>
            <p:cNvPr id="348" name="Rectangle 347">
              <a:extLst>
                <a:ext uri="{FF2B5EF4-FFF2-40B4-BE49-F238E27FC236}">
                  <a16:creationId xmlns:a16="http://schemas.microsoft.com/office/drawing/2014/main" id="{8E118FDA-CD31-4618-A315-023E08AE4A29}"/>
                </a:ext>
              </a:extLst>
            </p:cNvPr>
            <p:cNvSpPr/>
            <p:nvPr/>
          </p:nvSpPr>
          <p:spPr>
            <a:xfrm>
              <a:off x="2228157" y="1548230"/>
              <a:ext cx="274320" cy="274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" tIns="18288" rIns="18288" bIns="18288" rtlCol="0" anchor="ctr"/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Ø</a:t>
              </a:r>
            </a:p>
          </p:txBody>
        </p:sp>
        <p:grpSp>
          <p:nvGrpSpPr>
            <p:cNvPr id="345" name="PointerBox">
              <a:extLst>
                <a:ext uri="{FF2B5EF4-FFF2-40B4-BE49-F238E27FC236}">
                  <a16:creationId xmlns:a16="http://schemas.microsoft.com/office/drawing/2014/main" id="{3041C406-68FF-45A4-AC86-1F503EF36605}"/>
                </a:ext>
              </a:extLst>
            </p:cNvPr>
            <p:cNvGrpSpPr/>
            <p:nvPr/>
          </p:nvGrpSpPr>
          <p:grpSpPr>
            <a:xfrm>
              <a:off x="2500425" y="1548230"/>
              <a:ext cx="274320" cy="274320"/>
              <a:chOff x="4797747" y="3844560"/>
              <a:chExt cx="274320" cy="274320"/>
            </a:xfrm>
          </p:grpSpPr>
          <p:sp>
            <p:nvSpPr>
              <p:cNvPr id="346" name="Rectangle 345">
                <a:extLst>
                  <a:ext uri="{FF2B5EF4-FFF2-40B4-BE49-F238E27FC236}">
                    <a16:creationId xmlns:a16="http://schemas.microsoft.com/office/drawing/2014/main" id="{D8D98293-C066-4204-90B5-BAB8D89243AA}"/>
                  </a:ext>
                </a:extLst>
              </p:cNvPr>
              <p:cNvSpPr/>
              <p:nvPr/>
            </p:nvSpPr>
            <p:spPr>
              <a:xfrm>
                <a:off x="4797747" y="384456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¤</a:t>
                </a:r>
                <a:endParaRPr lang="en-US" sz="28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sp>
            <p:nvSpPr>
              <p:cNvPr id="347" name="mark" hidden="1">
                <a:extLst>
                  <a:ext uri="{FF2B5EF4-FFF2-40B4-BE49-F238E27FC236}">
                    <a16:creationId xmlns:a16="http://schemas.microsoft.com/office/drawing/2014/main" id="{6F1668FD-80BF-4F8B-828D-91E846045A31}"/>
                  </a:ext>
                </a:extLst>
              </p:cNvPr>
              <p:cNvSpPr/>
              <p:nvPr/>
            </p:nvSpPr>
            <p:spPr>
              <a:xfrm>
                <a:off x="4912047" y="4009660"/>
                <a:ext cx="45720" cy="457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endParaRPr lang="en-US" sz="14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300" name="1-bit Node">
            <a:extLst>
              <a:ext uri="{FF2B5EF4-FFF2-40B4-BE49-F238E27FC236}">
                <a16:creationId xmlns:a16="http://schemas.microsoft.com/office/drawing/2014/main" id="{04ACF7BA-BC24-4D68-A026-B20F841DB99E}"/>
              </a:ext>
            </a:extLst>
          </p:cNvPr>
          <p:cNvGrpSpPr/>
          <p:nvPr/>
        </p:nvGrpSpPr>
        <p:grpSpPr>
          <a:xfrm>
            <a:off x="2400222" y="2904416"/>
            <a:ext cx="544555" cy="274554"/>
            <a:chOff x="1808375" y="1550936"/>
            <a:chExt cx="544555" cy="274554"/>
          </a:xfrm>
        </p:grpSpPr>
        <p:grpSp>
          <p:nvGrpSpPr>
            <p:cNvPr id="335" name="PointerBox">
              <a:extLst>
                <a:ext uri="{FF2B5EF4-FFF2-40B4-BE49-F238E27FC236}">
                  <a16:creationId xmlns:a16="http://schemas.microsoft.com/office/drawing/2014/main" id="{A968F494-2908-4317-AB9E-A3FFAD6EF553}"/>
                </a:ext>
              </a:extLst>
            </p:cNvPr>
            <p:cNvGrpSpPr/>
            <p:nvPr/>
          </p:nvGrpSpPr>
          <p:grpSpPr>
            <a:xfrm>
              <a:off x="1808375" y="1551170"/>
              <a:ext cx="274320" cy="274320"/>
              <a:chOff x="4648200" y="3847500"/>
              <a:chExt cx="274320" cy="274320"/>
            </a:xfrm>
          </p:grpSpPr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088E2732-BDEF-416C-835F-55FB455C54F9}"/>
                  </a:ext>
                </a:extLst>
              </p:cNvPr>
              <p:cNvSpPr/>
              <p:nvPr/>
            </p:nvSpPr>
            <p:spPr>
              <a:xfrm>
                <a:off x="4648200" y="3847500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¤</a:t>
                </a:r>
                <a:endParaRPr lang="en-US" sz="28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sp>
            <p:nvSpPr>
              <p:cNvPr id="341" name="mark" hidden="1">
                <a:extLst>
                  <a:ext uri="{FF2B5EF4-FFF2-40B4-BE49-F238E27FC236}">
                    <a16:creationId xmlns:a16="http://schemas.microsoft.com/office/drawing/2014/main" id="{1B5894BF-9662-4916-82F8-9BB1C966C0CB}"/>
                  </a:ext>
                </a:extLst>
              </p:cNvPr>
              <p:cNvSpPr/>
              <p:nvPr/>
            </p:nvSpPr>
            <p:spPr>
              <a:xfrm>
                <a:off x="4762500" y="4012600"/>
                <a:ext cx="45720" cy="457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endParaRPr lang="en-US" sz="14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  <p:grpSp>
          <p:nvGrpSpPr>
            <p:cNvPr id="337" name="PointerBox">
              <a:extLst>
                <a:ext uri="{FF2B5EF4-FFF2-40B4-BE49-F238E27FC236}">
                  <a16:creationId xmlns:a16="http://schemas.microsoft.com/office/drawing/2014/main" id="{F7CF87A6-1299-477C-960A-0AE2BE391763}"/>
                </a:ext>
              </a:extLst>
            </p:cNvPr>
            <p:cNvGrpSpPr/>
            <p:nvPr/>
          </p:nvGrpSpPr>
          <p:grpSpPr>
            <a:xfrm>
              <a:off x="2078610" y="1550936"/>
              <a:ext cx="274320" cy="274320"/>
              <a:chOff x="4375932" y="3847266"/>
              <a:chExt cx="274320" cy="274320"/>
            </a:xfrm>
          </p:grpSpPr>
          <p:sp>
            <p:nvSpPr>
              <p:cNvPr id="338" name="Rectangle 337">
                <a:extLst>
                  <a:ext uri="{FF2B5EF4-FFF2-40B4-BE49-F238E27FC236}">
                    <a16:creationId xmlns:a16="http://schemas.microsoft.com/office/drawing/2014/main" id="{9ADF5360-419B-4D79-BB75-A9466F9C821D}"/>
                  </a:ext>
                </a:extLst>
              </p:cNvPr>
              <p:cNvSpPr/>
              <p:nvPr/>
            </p:nvSpPr>
            <p:spPr>
              <a:xfrm>
                <a:off x="4375932" y="3847266"/>
                <a:ext cx="274320" cy="2743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r>
                  <a:rPr lang="en-US" sz="2800" b="1" dirty="0">
                    <a:solidFill>
                      <a:schemeClr val="accent1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rPr>
                  <a:t>¤</a:t>
                </a:r>
                <a:endParaRPr lang="en-US" sz="28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  <p:sp>
            <p:nvSpPr>
              <p:cNvPr id="339" name="mark" hidden="1">
                <a:extLst>
                  <a:ext uri="{FF2B5EF4-FFF2-40B4-BE49-F238E27FC236}">
                    <a16:creationId xmlns:a16="http://schemas.microsoft.com/office/drawing/2014/main" id="{3232947C-85C5-4617-9CDE-C3BC9C995881}"/>
                  </a:ext>
                </a:extLst>
              </p:cNvPr>
              <p:cNvSpPr/>
              <p:nvPr/>
            </p:nvSpPr>
            <p:spPr>
              <a:xfrm>
                <a:off x="4490232" y="4012366"/>
                <a:ext cx="45720" cy="457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endParaRPr lang="en-US" sz="14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</p:grpSp>
      <p:cxnSp>
        <p:nvCxnSpPr>
          <p:cNvPr id="303" name="Pointer">
            <a:extLst>
              <a:ext uri="{FF2B5EF4-FFF2-40B4-BE49-F238E27FC236}">
                <a16:creationId xmlns:a16="http://schemas.microsoft.com/office/drawing/2014/main" id="{DB25D1CD-CD63-4912-B373-85B757D88013}"/>
              </a:ext>
            </a:extLst>
          </p:cNvPr>
          <p:cNvCxnSpPr>
            <a:cxnSpLocks noChangeShapeType="1"/>
            <a:stCxn id="347" idx="2"/>
            <a:endCxn id="340" idx="0"/>
          </p:cNvCxnSpPr>
          <p:nvPr/>
        </p:nvCxnSpPr>
        <p:spPr bwMode="auto">
          <a:xfrm rot="5400000">
            <a:off x="2578084" y="2675116"/>
            <a:ext cx="188833" cy="27023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 type="oval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5" name="Pointer">
            <a:extLst>
              <a:ext uri="{FF2B5EF4-FFF2-40B4-BE49-F238E27FC236}">
                <a16:creationId xmlns:a16="http://schemas.microsoft.com/office/drawing/2014/main" id="{1667E158-FE91-4560-BE72-FD0E16FCE7F8}"/>
              </a:ext>
            </a:extLst>
          </p:cNvPr>
          <p:cNvCxnSpPr>
            <a:cxnSpLocks noChangeShapeType="1"/>
            <a:stCxn id="341" idx="2"/>
          </p:cNvCxnSpPr>
          <p:nvPr/>
        </p:nvCxnSpPr>
        <p:spPr bwMode="auto">
          <a:xfrm>
            <a:off x="2537382" y="3115470"/>
            <a:ext cx="0" cy="274320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 type="oval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6" name="Pointer">
            <a:extLst>
              <a:ext uri="{FF2B5EF4-FFF2-40B4-BE49-F238E27FC236}">
                <a16:creationId xmlns:a16="http://schemas.microsoft.com/office/drawing/2014/main" id="{A84E1928-57E4-401A-A763-EED4338C8F3B}"/>
              </a:ext>
            </a:extLst>
          </p:cNvPr>
          <p:cNvCxnSpPr>
            <a:cxnSpLocks noChangeShapeType="1"/>
            <a:stCxn id="339" idx="2"/>
          </p:cNvCxnSpPr>
          <p:nvPr/>
        </p:nvCxnSpPr>
        <p:spPr bwMode="auto">
          <a:xfrm flipH="1">
            <a:off x="2807616" y="3115236"/>
            <a:ext cx="1" cy="274320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 type="oval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4" name="Pointer">
            <a:extLst>
              <a:ext uri="{FF2B5EF4-FFF2-40B4-BE49-F238E27FC236}">
                <a16:creationId xmlns:a16="http://schemas.microsoft.com/office/drawing/2014/main" id="{EA5E7C97-F8C1-422A-A811-229A2F700D48}"/>
              </a:ext>
            </a:extLst>
          </p:cNvPr>
          <p:cNvCxnSpPr>
            <a:cxnSpLocks noChangeShapeType="1"/>
            <a:stCxn id="421" idx="2"/>
            <a:endCxn id="412" idx="0"/>
          </p:cNvCxnSpPr>
          <p:nvPr/>
        </p:nvCxnSpPr>
        <p:spPr bwMode="auto">
          <a:xfrm>
            <a:off x="1984377" y="1528618"/>
            <a:ext cx="0" cy="185893"/>
          </a:xfrm>
          <a:prstGeom prst="straightConnector1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 type="oval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5" name="Pointer">
            <a:extLst>
              <a:ext uri="{FF2B5EF4-FFF2-40B4-BE49-F238E27FC236}">
                <a16:creationId xmlns:a16="http://schemas.microsoft.com/office/drawing/2014/main" id="{06DEB9C7-E7CF-4121-BEC7-DCCF3050D9C4}"/>
              </a:ext>
            </a:extLst>
          </p:cNvPr>
          <p:cNvCxnSpPr>
            <a:cxnSpLocks noChangeShapeType="1"/>
            <a:stCxn id="413" idx="2"/>
            <a:endCxn id="404" idx="0"/>
          </p:cNvCxnSpPr>
          <p:nvPr/>
        </p:nvCxnSpPr>
        <p:spPr bwMode="auto">
          <a:xfrm>
            <a:off x="1984377" y="1925331"/>
            <a:ext cx="0" cy="185893"/>
          </a:xfrm>
          <a:prstGeom prst="straightConnector1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 type="oval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" name="Pointer">
            <a:extLst>
              <a:ext uri="{FF2B5EF4-FFF2-40B4-BE49-F238E27FC236}">
                <a16:creationId xmlns:a16="http://schemas.microsoft.com/office/drawing/2014/main" id="{3E6942CF-4050-42BC-8F16-3DD0AB928366}"/>
              </a:ext>
            </a:extLst>
          </p:cNvPr>
          <p:cNvCxnSpPr>
            <a:cxnSpLocks noChangeShapeType="1"/>
            <a:stCxn id="403" idx="2"/>
            <a:endCxn id="348" idx="0"/>
          </p:cNvCxnSpPr>
          <p:nvPr/>
        </p:nvCxnSpPr>
        <p:spPr bwMode="auto">
          <a:xfrm rot="16200000" flipH="1">
            <a:off x="2304933" y="2274580"/>
            <a:ext cx="182953" cy="277880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 type="oval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7" name="TextBox 256">
            <a:extLst>
              <a:ext uri="{FF2B5EF4-FFF2-40B4-BE49-F238E27FC236}">
                <a16:creationId xmlns:a16="http://schemas.microsoft.com/office/drawing/2014/main" id="{4612D566-B644-4816-A097-81286DAE2287}"/>
              </a:ext>
            </a:extLst>
          </p:cNvPr>
          <p:cNvSpPr txBox="1"/>
          <p:nvPr/>
        </p:nvSpPr>
        <p:spPr>
          <a:xfrm>
            <a:off x="2453962" y="1708798"/>
            <a:ext cx="1150617" cy="342401"/>
          </a:xfrm>
          <a:prstGeom prst="rect">
            <a:avLst/>
          </a:prstGeom>
          <a:noFill/>
        </p:spPr>
        <p:txBody>
          <a:bodyPr wrap="square" lIns="0" tIns="45720" rIns="0" bIns="45720" rtlCol="0" anchor="ctr" anchorCtr="0">
            <a:spAutoFit/>
          </a:bodyPr>
          <a:lstStyle/>
          <a:p>
            <a:pPr>
              <a:lnSpc>
                <a:spcPct val="75000"/>
              </a:lnSpc>
            </a:pPr>
            <a:r>
              <a:rPr lang="en-US" sz="2000" b="1" i="1" dirty="0">
                <a:solidFill>
                  <a:schemeClr val="accent1"/>
                </a:solidFill>
                <a:latin typeface="Crimson Text" pitchFamily="2" charset="0"/>
              </a:rPr>
              <a:t>Repeat 10x</a:t>
            </a:r>
          </a:p>
        </p:txBody>
      </p:sp>
      <p:cxnSp>
        <p:nvCxnSpPr>
          <p:cNvPr id="258" name="Pointer">
            <a:extLst>
              <a:ext uri="{FF2B5EF4-FFF2-40B4-BE49-F238E27FC236}">
                <a16:creationId xmlns:a16="http://schemas.microsoft.com/office/drawing/2014/main" id="{33485D74-9135-43E0-912E-768BB082DABF}"/>
              </a:ext>
            </a:extLst>
          </p:cNvPr>
          <p:cNvCxnSpPr>
            <a:cxnSpLocks noChangeShapeType="1"/>
            <a:stCxn id="405" idx="2"/>
          </p:cNvCxnSpPr>
          <p:nvPr/>
        </p:nvCxnSpPr>
        <p:spPr bwMode="auto">
          <a:xfrm>
            <a:off x="1984377" y="2322044"/>
            <a:ext cx="0" cy="274320"/>
          </a:xfrm>
          <a:prstGeom prst="straightConnector1">
            <a:avLst/>
          </a:prstGeom>
          <a:noFill/>
          <a:ln w="19050">
            <a:solidFill>
              <a:schemeClr val="accent1"/>
            </a:solidFill>
            <a:round/>
            <a:headEnd type="oval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53E2CFE1-2528-9F8B-F6AF-C0B6FB4B4A5B}"/>
              </a:ext>
            </a:extLst>
          </p:cNvPr>
          <p:cNvGrpSpPr/>
          <p:nvPr/>
        </p:nvGrpSpPr>
        <p:grpSpPr>
          <a:xfrm>
            <a:off x="845525" y="4352681"/>
            <a:ext cx="2880951" cy="317779"/>
            <a:chOff x="228600" y="4495601"/>
            <a:chExt cx="2880951" cy="31777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4087877-78F1-0306-94BD-D7E73628EEA1}"/>
                </a:ext>
              </a:extLst>
            </p:cNvPr>
            <p:cNvGrpSpPr/>
            <p:nvPr/>
          </p:nvGrpSpPr>
          <p:grpSpPr>
            <a:xfrm>
              <a:off x="228600" y="4495601"/>
              <a:ext cx="1486491" cy="317779"/>
              <a:chOff x="6743109" y="3912344"/>
              <a:chExt cx="1486491" cy="317779"/>
            </a:xfrm>
          </p:grpSpPr>
          <p:cxnSp>
            <p:nvCxnSpPr>
              <p:cNvPr id="11" name="Curved Connector 39">
                <a:extLst>
                  <a:ext uri="{FF2B5EF4-FFF2-40B4-BE49-F238E27FC236}">
                    <a16:creationId xmlns:a16="http://schemas.microsoft.com/office/drawing/2014/main" id="{5A8F513B-3BF5-99B9-5CB2-0B6D84F90B58}"/>
                  </a:ext>
                </a:extLst>
              </p:cNvPr>
              <p:cNvCxnSpPr/>
              <p:nvPr/>
            </p:nvCxnSpPr>
            <p:spPr>
              <a:xfrm>
                <a:off x="7680960" y="4071235"/>
                <a:ext cx="548640" cy="0"/>
              </a:xfrm>
              <a:prstGeom prst="straightConnector1">
                <a:avLst/>
              </a:prstGeom>
              <a:noFill/>
              <a:ln w="38100">
                <a:solidFill>
                  <a:schemeClr val="accent1"/>
                </a:solidFill>
                <a:round/>
                <a:headEnd type="oval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2" name="TextBox 15">
                <a:extLst>
                  <a:ext uri="{FF2B5EF4-FFF2-40B4-BE49-F238E27FC236}">
                    <a16:creationId xmlns:a16="http://schemas.microsoft.com/office/drawing/2014/main" id="{1C77AAF4-559A-ADCF-A1A4-78CF4C3A31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43109" y="3912344"/>
                <a:ext cx="838200" cy="3177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defPPr>
                  <a:defRPr lang="en-US"/>
                </a:defPPr>
                <a:lvl1pPr eaLnBrk="0" hangingPunct="0">
                  <a:defRPr sz="2400" b="1" i="1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ＭＳ Ｐゴシック" charset="-128"/>
                  </a:defRPr>
                </a:lvl1pPr>
              </a:lstStyle>
              <a:p>
                <a:pPr algn="r">
                  <a:lnSpc>
                    <a:spcPct val="70000"/>
                  </a:lnSpc>
                </a:pP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  <a:ea typeface="Crimson Text" pitchFamily="2" charset="0"/>
                  </a:rPr>
                  <a:t>Tuple Pointer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E2F43FC-4AB6-D453-A941-E1BB22BB744C}"/>
                </a:ext>
              </a:extLst>
            </p:cNvPr>
            <p:cNvGrpSpPr/>
            <p:nvPr/>
          </p:nvGrpSpPr>
          <p:grpSpPr>
            <a:xfrm>
              <a:off x="1600200" y="4495601"/>
              <a:ext cx="1509351" cy="317779"/>
              <a:chOff x="6720249" y="4448947"/>
              <a:chExt cx="1509351" cy="317779"/>
            </a:xfrm>
          </p:grpSpPr>
          <p:cxnSp>
            <p:nvCxnSpPr>
              <p:cNvPr id="8" name="Curved Connector 39">
                <a:extLst>
                  <a:ext uri="{FF2B5EF4-FFF2-40B4-BE49-F238E27FC236}">
                    <a16:creationId xmlns:a16="http://schemas.microsoft.com/office/drawing/2014/main" id="{2864735E-AD56-087C-01BD-E2770AC30864}"/>
                  </a:ext>
                </a:extLst>
              </p:cNvPr>
              <p:cNvCxnSpPr/>
              <p:nvPr/>
            </p:nvCxnSpPr>
            <p:spPr>
              <a:xfrm>
                <a:off x="7680960" y="4607838"/>
                <a:ext cx="548640" cy="0"/>
              </a:xfrm>
              <a:prstGeom prst="straightConnector1">
                <a:avLst/>
              </a:prstGeom>
              <a:noFill/>
              <a:ln w="38100">
                <a:solidFill>
                  <a:schemeClr val="tx1">
                    <a:lumMod val="65000"/>
                    <a:lumOff val="35000"/>
                  </a:schemeClr>
                </a:solidFill>
                <a:round/>
                <a:headEnd type="oval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" name="TextBox 15">
                <a:extLst>
                  <a:ext uri="{FF2B5EF4-FFF2-40B4-BE49-F238E27FC236}">
                    <a16:creationId xmlns:a16="http://schemas.microsoft.com/office/drawing/2014/main" id="{CA457E1C-0661-D5FD-01D6-D600F05DD6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0249" y="4448947"/>
                <a:ext cx="838200" cy="3177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 anchor="ctr" anchorCtr="0">
                <a:spAutoFit/>
              </a:bodyPr>
              <a:lstStyle>
                <a:defPPr>
                  <a:defRPr lang="en-US"/>
                </a:defPPr>
                <a:lvl1pPr eaLnBrk="0" hangingPunct="0">
                  <a:defRPr sz="2400" b="1" i="1">
                    <a:solidFill>
                      <a:schemeClr val="tx1">
                        <a:lumMod val="50000"/>
                        <a:lumOff val="50000"/>
                      </a:schemeClr>
                    </a:solidFill>
                    <a:ea typeface="ＭＳ Ｐゴシック" charset="-128"/>
                  </a:defRPr>
                </a:lvl1pPr>
              </a:lstStyle>
              <a:p>
                <a:pPr algn="r">
                  <a:lnSpc>
                    <a:spcPct val="70000"/>
                  </a:lnSpc>
                </a:pPr>
                <a:r>
                  <a:rPr lang="en-US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rimson Text" pitchFamily="2" charset="0"/>
                    <a:ea typeface="Crimson Text" pitchFamily="2" charset="0"/>
                  </a:rPr>
                  <a:t>Node Pointer</a:t>
                </a:r>
              </a:p>
            </p:txBody>
          </p:sp>
        </p:grpSp>
      </p:grpSp>
      <p:cxnSp>
        <p:nvCxnSpPr>
          <p:cNvPr id="22" name="Straight Connector 36">
            <a:extLst>
              <a:ext uri="{FF2B5EF4-FFF2-40B4-BE49-F238E27FC236}">
                <a16:creationId xmlns:a16="http://schemas.microsoft.com/office/drawing/2014/main" id="{DC54B7A8-F0B7-D9DD-7B06-5B078E1F426D}"/>
              </a:ext>
            </a:extLst>
          </p:cNvPr>
          <p:cNvCxnSpPr>
            <a:cxnSpLocks noChangeShapeType="1"/>
            <a:stCxn id="14" idx="0"/>
            <a:endCxn id="16" idx="0"/>
          </p:cNvCxnSpPr>
          <p:nvPr/>
        </p:nvCxnSpPr>
        <p:spPr bwMode="auto">
          <a:xfrm rot="16200000" flipH="1">
            <a:off x="6701782" y="3302366"/>
            <a:ext cx="45735" cy="1346538"/>
          </a:xfrm>
          <a:prstGeom prst="curvedConnector3">
            <a:avLst>
              <a:gd name="adj1" fmla="val -499836"/>
            </a:avLst>
          </a:prstGeom>
          <a:ln w="28575" cap="flat" cmpd="sng" algn="ctr">
            <a:solidFill>
              <a:schemeClr val="accent1"/>
            </a:solidFill>
            <a:prstDash val="sysDash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36">
            <a:extLst>
              <a:ext uri="{FF2B5EF4-FFF2-40B4-BE49-F238E27FC236}">
                <a16:creationId xmlns:a16="http://schemas.microsoft.com/office/drawing/2014/main" id="{80EA5E2D-8595-7DE9-C368-6D80D0635A06}"/>
              </a:ext>
            </a:extLst>
          </p:cNvPr>
          <p:cNvCxnSpPr>
            <a:cxnSpLocks noChangeShapeType="1"/>
            <a:stCxn id="16" idx="3"/>
            <a:endCxn id="18" idx="3"/>
          </p:cNvCxnSpPr>
          <p:nvPr/>
        </p:nvCxnSpPr>
        <p:spPr bwMode="auto">
          <a:xfrm>
            <a:off x="7962900" y="4123151"/>
            <a:ext cx="12700" cy="388568"/>
          </a:xfrm>
          <a:prstGeom prst="curvedConnector3">
            <a:avLst>
              <a:gd name="adj1" fmla="val 1800000"/>
            </a:avLst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Curved Connector 265">
            <a:extLst>
              <a:ext uri="{FF2B5EF4-FFF2-40B4-BE49-F238E27FC236}">
                <a16:creationId xmlns:a16="http://schemas.microsoft.com/office/drawing/2014/main" id="{4235B624-0F29-2EDF-EF42-8FC0DA269871}"/>
              </a:ext>
            </a:extLst>
          </p:cNvPr>
          <p:cNvCxnSpPr>
            <a:cxnSpLocks/>
            <a:stCxn id="14" idx="1"/>
            <a:endCxn id="20" idx="1"/>
          </p:cNvCxnSpPr>
          <p:nvPr/>
        </p:nvCxnSpPr>
        <p:spPr>
          <a:xfrm rot="10800000" flipV="1">
            <a:off x="5486400" y="4099569"/>
            <a:ext cx="12700" cy="412149"/>
          </a:xfrm>
          <a:prstGeom prst="curvedConnector3">
            <a:avLst>
              <a:gd name="adj1" fmla="val 1800000"/>
            </a:avLst>
          </a:prstGeom>
          <a:ln w="28575" cap="flat" cmpd="sng" algn="ctr">
            <a:solidFill>
              <a:schemeClr val="accent1"/>
            </a:solidFill>
            <a:prstDash val="sys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9FD4D665-7297-0149-1790-6E8822E817E9}"/>
              </a:ext>
            </a:extLst>
          </p:cNvPr>
          <p:cNvGrpSpPr/>
          <p:nvPr/>
        </p:nvGrpSpPr>
        <p:grpSpPr>
          <a:xfrm>
            <a:off x="5486400" y="3952768"/>
            <a:ext cx="3441700" cy="1117607"/>
            <a:chOff x="5397500" y="3972314"/>
            <a:chExt cx="3441700" cy="1117607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D930A7EB-5A71-448A-6025-85B18B3BC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5397500" y="3972314"/>
              <a:ext cx="1129962" cy="293603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DB11EDA-16F5-5CF5-9D24-890AA63157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44038" y="4018049"/>
              <a:ext cx="1129962" cy="249296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5B9C944E-332A-6D41-DFA6-34D249CB5D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44038" y="4399200"/>
              <a:ext cx="1129962" cy="264129"/>
            </a:xfrm>
            <a:prstGeom prst="rect">
              <a:avLst/>
            </a:prstGeom>
          </p:spPr>
        </p:pic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C671C5EA-760D-52B1-2D08-4DDCE42F9A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97500" y="4369703"/>
              <a:ext cx="1129962" cy="323123"/>
            </a:xfrm>
            <a:prstGeom prst="rect">
              <a:avLst/>
            </a:prstGeom>
          </p:spPr>
        </p:pic>
        <p:pic>
          <p:nvPicPr>
            <p:cNvPr id="259" name="Picture 258" descr="A blue and black logo with a city skyline&#10;&#10;Description automatically generated">
              <a:extLst>
                <a:ext uri="{FF2B5EF4-FFF2-40B4-BE49-F238E27FC236}">
                  <a16:creationId xmlns:a16="http://schemas.microsoft.com/office/drawing/2014/main" id="{F96AB042-2CB0-B554-4E97-69D59BA2F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99120" y="4053551"/>
              <a:ext cx="640080" cy="575599"/>
            </a:xfrm>
            <a:prstGeom prst="rect">
              <a:avLst/>
            </a:prstGeom>
          </p:spPr>
        </p:pic>
        <p:pic>
          <p:nvPicPr>
            <p:cNvPr id="260" name="Picture 259">
              <a:extLst>
                <a:ext uri="{FF2B5EF4-FFF2-40B4-BE49-F238E27FC236}">
                  <a16:creationId xmlns:a16="http://schemas.microsoft.com/office/drawing/2014/main" id="{44A944A4-3593-503B-4526-DD3A8701305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634015" y="4776946"/>
              <a:ext cx="914400" cy="196448"/>
            </a:xfrm>
            <a:prstGeom prst="rect">
              <a:avLst/>
            </a:prstGeom>
          </p:spPr>
        </p:pic>
        <p:pic>
          <p:nvPicPr>
            <p:cNvPr id="261" name="Picture 260">
              <a:extLst>
                <a:ext uri="{FF2B5EF4-FFF2-40B4-BE49-F238E27FC236}">
                  <a16:creationId xmlns:a16="http://schemas.microsoft.com/office/drawing/2014/main" id="{1F9BFC29-393E-01AE-FCA1-4BE2E56249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6744038" y="4731760"/>
              <a:ext cx="640080" cy="358161"/>
            </a:xfrm>
            <a:prstGeom prst="rect">
              <a:avLst/>
            </a:prstGeom>
          </p:spPr>
        </p:pic>
        <p:pic>
          <p:nvPicPr>
            <p:cNvPr id="264" name="Graphic 263">
              <a:extLst>
                <a:ext uri="{FF2B5EF4-FFF2-40B4-BE49-F238E27FC236}">
                  <a16:creationId xmlns:a16="http://schemas.microsoft.com/office/drawing/2014/main" id="{73231822-82DC-EC56-9819-8BC64C1D57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531691" y="4671011"/>
              <a:ext cx="914400" cy="2629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126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BDB38-E4B4-4933-BAE4-1E3AD963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C2838A-B2E0-4E0D-B060-23411E83F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71550"/>
            <a:ext cx="5059680" cy="3657600"/>
          </a:xfrm>
        </p:spPr>
        <p:txBody>
          <a:bodyPr/>
          <a:lstStyle/>
          <a:p>
            <a:r>
              <a:rPr lang="en-US" dirty="0"/>
              <a:t>The indexes that we've discussed are useful for "point" and "range" queries:</a:t>
            </a:r>
          </a:p>
          <a:p>
            <a:pPr lvl="1"/>
            <a:r>
              <a:rPr lang="en-US" dirty="0"/>
              <a:t>Find all customers in the 15217 </a:t>
            </a:r>
            <a:r>
              <a:rPr lang="en-US" dirty="0" err="1"/>
              <a:t>zipcode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Find all orders between June 2024 and September 2024.</a:t>
            </a:r>
          </a:p>
          <a:p>
            <a:endParaRPr lang="en-US" sz="1200" dirty="0"/>
          </a:p>
          <a:p>
            <a:r>
              <a:rPr lang="en-US" dirty="0"/>
              <a:t>They are </a:t>
            </a:r>
            <a:r>
              <a:rPr lang="en-US" b="1" u="sng" dirty="0"/>
              <a:t>not</a:t>
            </a:r>
            <a:r>
              <a:rPr lang="en-US" dirty="0"/>
              <a:t> good at keyword searches:</a:t>
            </a:r>
          </a:p>
          <a:p>
            <a:pPr lvl="1"/>
            <a:r>
              <a:rPr lang="en-US" dirty="0"/>
              <a:t>Example: Find all Wikipedia articles that contain the word "Pavlo"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CEE44-3840-4B3D-91A1-D16F28379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35</a:t>
            </a:fld>
            <a:endParaRPr lang="en-US" dirty="0"/>
          </a:p>
        </p:txBody>
      </p:sp>
      <p:sp>
        <p:nvSpPr>
          <p:cNvPr id="6" name="Highlight Box">
            <a:extLst>
              <a:ext uri="{FF2B5EF4-FFF2-40B4-BE49-F238E27FC236}">
                <a16:creationId xmlns:a16="http://schemas.microsoft.com/office/drawing/2014/main" id="{0DBCBCD6-6D29-44E2-B56F-AFC5C0872FE8}"/>
              </a:ext>
            </a:extLst>
          </p:cNvPr>
          <p:cNvSpPr/>
          <p:nvPr/>
        </p:nvSpPr>
        <p:spPr>
          <a:xfrm>
            <a:off x="457200" y="3463609"/>
            <a:ext cx="4572000" cy="548640"/>
          </a:xfrm>
          <a:prstGeom prst="roundRect">
            <a:avLst>
              <a:gd name="adj" fmla="val 4675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DEABA2-C50D-1920-07B5-982564F44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719338"/>
              </p:ext>
            </p:extLst>
          </p:nvPr>
        </p:nvGraphicFramePr>
        <p:xfrm>
          <a:off x="5516880" y="1123950"/>
          <a:ext cx="3474720" cy="1600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89560">
                  <a:extLst>
                    <a:ext uri="{9D8B030D-6E8A-4147-A177-3AD203B41FA5}">
                      <a16:colId xmlns:a16="http://schemas.microsoft.com/office/drawing/2014/main" val="3606947816"/>
                    </a:ext>
                  </a:extLst>
                </a:gridCol>
                <a:gridCol w="3185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content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11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Inconsolata" panose="00000509000000000000" pitchFamily="49" charset="0"/>
                        </a:rPr>
                        <a:t>Wu-Tang Clan is an American hip hop musical collective formed in Staten Island, New York City, in 1992...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Inconsolata" panose="00000509000000000000" pitchFamily="49" charset="0"/>
                        </a:rPr>
                        <a:t>Carnegie Mellon University (CMU) is a private research university in Pittsburgh, Pennsylvania. The institution was established in 1900 by Andrew Carnegie...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33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Inconsolata" panose="00000509000000000000" pitchFamily="49" charset="0"/>
                        </a:rPr>
                        <a:t>In computing, a database is an organized collection of data or a type of data store based on the use of a database management system (DBMS), the software...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2477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44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Inconsolata" panose="00000509000000000000" pitchFamily="49" charset="0"/>
                        </a:rPr>
                        <a:t>Andrew Pavlo, best known as Andy Pavlo, is an associate professor of Computer Science at Carnegie Mellon University. He conducts research on database...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77691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9DA36EF-ECBF-5822-0407-D0805B3750CE}"/>
              </a:ext>
            </a:extLst>
          </p:cNvPr>
          <p:cNvSpPr txBox="1"/>
          <p:nvPr/>
        </p:nvSpPr>
        <p:spPr>
          <a:xfrm>
            <a:off x="5818011" y="692350"/>
            <a:ext cx="31341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revisions</a:t>
            </a:r>
            <a:r>
              <a:rPr lang="en-US" sz="2000" dirty="0">
                <a:solidFill>
                  <a:schemeClr val="accent1"/>
                </a:solidFill>
                <a:latin typeface="Inconsolata" panose="00000509000000000000" pitchFamily="49" charset="0"/>
              </a:rPr>
              <a:t>(</a:t>
            </a:r>
            <a:r>
              <a:rPr lang="en-US" sz="2000" u="sng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id</a:t>
            </a:r>
            <a:r>
              <a:rPr lang="en-US" sz="2000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,content</a:t>
            </a:r>
            <a:r>
              <a:rPr lang="en-US" sz="2000" dirty="0">
                <a:solidFill>
                  <a:schemeClr val="accent1"/>
                </a:solidFill>
                <a:latin typeface="Inconsolata" panose="00000509000000000000" pitchFamily="49" charset="0"/>
              </a:rPr>
              <a:t>,…)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2558B6F-1FCA-5EF2-F863-B0F53C58A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760" y="2937448"/>
            <a:ext cx="3291840" cy="5909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sz="1800" dirty="0"/>
              <a:t>CREATE INDEX </a:t>
            </a:r>
            <a:r>
              <a:rPr lang="en-US" sz="1800" b="0" dirty="0" err="1"/>
              <a:t>idx_rev_cntnt</a:t>
            </a:r>
            <a:br>
              <a:rPr lang="en-US" sz="1800" b="0" dirty="0"/>
            </a:br>
            <a:r>
              <a:rPr lang="en-US" sz="1800" dirty="0"/>
              <a:t>    ON </a:t>
            </a:r>
            <a:r>
              <a:rPr lang="en-US" sz="1800" b="0" dirty="0"/>
              <a:t>revisions</a:t>
            </a:r>
            <a:r>
              <a:rPr lang="en-US" sz="1800" dirty="0"/>
              <a:t> </a:t>
            </a:r>
            <a:r>
              <a:rPr lang="en-US" sz="1800" b="0" dirty="0"/>
              <a:t>(content)</a:t>
            </a:r>
            <a:r>
              <a:rPr lang="en-US" sz="1800" dirty="0"/>
              <a:t>;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763C6DC5-2DC3-3F24-FC40-D58DC95AF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638550"/>
            <a:ext cx="3657600" cy="5909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646464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rIns="4572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2000" b="1" u="none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ＭＳ Ｐゴシック" pitchFamily="-112" charset="-128"/>
                <a:cs typeface="DejaVu Sans Mono" pitchFamily="49" charset="0"/>
              </a:defRPr>
            </a:lvl1pPr>
            <a:lvl2pPr marL="742950" indent="-285750">
              <a:defRPr sz="2800" u="sng">
                <a:latin typeface="Times New Roman" pitchFamily="-112" charset="0"/>
                <a:ea typeface="ＭＳ Ｐゴシック" pitchFamily="-112" charset="-128"/>
              </a:defRPr>
            </a:lvl2pPr>
            <a:lvl3pPr marL="11430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3pPr>
            <a:lvl4pPr marL="16002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4pPr>
            <a:lvl5pPr marL="2057400" indent="-228600">
              <a:defRPr sz="2800" u="sng">
                <a:latin typeface="Times New Roman" pitchFamily="-112" charset="0"/>
                <a:ea typeface="ＭＳ Ｐゴシック" pitchFamily="-112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latin typeface="Times New Roman" pitchFamily="-112" charset="0"/>
                <a:ea typeface="ＭＳ Ｐゴシック" pitchFamily="-112" charset="-128"/>
              </a:defRPr>
            </a:lvl9pPr>
          </a:lstStyle>
          <a:p>
            <a:r>
              <a:rPr lang="en-US" sz="1800" dirty="0"/>
              <a:t>SELECT </a:t>
            </a:r>
            <a:r>
              <a:rPr lang="en-US" sz="1800" b="0" dirty="0" err="1"/>
              <a:t>pageID</a:t>
            </a:r>
            <a:r>
              <a:rPr lang="en-US" sz="1800" dirty="0"/>
              <a:t> FROM </a:t>
            </a:r>
            <a:r>
              <a:rPr lang="en-US" sz="1800" b="0" dirty="0"/>
              <a:t>revisions</a:t>
            </a:r>
            <a:br>
              <a:rPr lang="en-US" sz="1800" dirty="0"/>
            </a:br>
            <a:r>
              <a:rPr lang="en-US" sz="1800" dirty="0"/>
              <a:t> WHERE </a:t>
            </a:r>
            <a:r>
              <a:rPr lang="en-US" sz="1800" b="0" dirty="0"/>
              <a:t>content</a:t>
            </a:r>
            <a:r>
              <a:rPr lang="en-US" sz="1800" dirty="0"/>
              <a:t> LIKE </a:t>
            </a:r>
            <a:r>
              <a:rPr lang="en-US" sz="1800" b="0" dirty="0"/>
              <a:t>'%Pavlo%'</a:t>
            </a:r>
            <a:r>
              <a:rPr lang="en-US" sz="18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81162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054541-559A-439B-9250-9B2E41B75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Inverted Index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D70E1C4-6314-4B85-A4CD-2DD0FCA11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>
                <a:hlinkClick r:id="rId3"/>
              </a:rPr>
              <a:t>inverted index</a:t>
            </a:r>
            <a:r>
              <a:rPr lang="en-US" dirty="0"/>
              <a:t> stores a mapping of terms to records that contain those terms in the target attribute.</a:t>
            </a:r>
          </a:p>
          <a:p>
            <a:pPr lvl="1"/>
            <a:r>
              <a:rPr lang="en-US" dirty="0"/>
              <a:t>Sometimes called a </a:t>
            </a:r>
            <a:r>
              <a:rPr lang="en-US" b="1" i="1" dirty="0"/>
              <a:t>full-text search index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Originally called a </a:t>
            </a:r>
            <a:r>
              <a:rPr lang="en-US" b="1" i="1" dirty="0">
                <a:hlinkClick r:id="rId4"/>
              </a:rPr>
              <a:t>concordance</a:t>
            </a:r>
            <a:r>
              <a:rPr lang="en-US" dirty="0"/>
              <a:t> (1200s).</a:t>
            </a:r>
            <a:endParaRPr lang="en-US" sz="1200" dirty="0"/>
          </a:p>
          <a:p>
            <a:r>
              <a:rPr lang="en-US" dirty="0"/>
              <a:t>Many major DBMSs support these natively. But there are also specialized DBMSs and libraries.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354E85-04BF-4716-AEDC-800BC5A76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36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5C98349-A6BA-C9CB-D960-38FC55C85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657592"/>
              </p:ext>
            </p:extLst>
          </p:nvPr>
        </p:nvGraphicFramePr>
        <p:xfrm>
          <a:off x="5516880" y="1123950"/>
          <a:ext cx="3474720" cy="1600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89560">
                  <a:extLst>
                    <a:ext uri="{9D8B030D-6E8A-4147-A177-3AD203B41FA5}">
                      <a16:colId xmlns:a16="http://schemas.microsoft.com/office/drawing/2014/main" val="3606947816"/>
                    </a:ext>
                  </a:extLst>
                </a:gridCol>
                <a:gridCol w="3185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content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11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Inconsolata" panose="00000509000000000000" pitchFamily="49" charset="0"/>
                        </a:rPr>
                        <a:t>Wu-Tang Clan is an American hip hop musical collective formed in Staten Island, New York City, in 1992...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Inconsolata" panose="00000509000000000000" pitchFamily="49" charset="0"/>
                        </a:rPr>
                        <a:t>Carnegie Mellon University (CMU) is a private research university in Pittsburgh, Pennsylvania. The institution was established in 1900 by Andrew Carnegie...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33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Inconsolata" panose="00000509000000000000" pitchFamily="49" charset="0"/>
                        </a:rPr>
                        <a:t>In computing, a database is an organized collection of data or a type of data store based on the use of a database management system (DBMS), the software...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2477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44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Inconsolata" panose="00000509000000000000" pitchFamily="49" charset="0"/>
                        </a:rPr>
                        <a:t>Andrew Pavlo, best known as Andy Pavlo, is an associate professor of Computer Science at Carnegie Mellon University. He conducts research on database...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277691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F776A59-A5CF-2E66-6A12-D1F5800CBB28}"/>
              </a:ext>
            </a:extLst>
          </p:cNvPr>
          <p:cNvSpPr txBox="1"/>
          <p:nvPr/>
        </p:nvSpPr>
        <p:spPr>
          <a:xfrm>
            <a:off x="5818011" y="692350"/>
            <a:ext cx="31341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revisions</a:t>
            </a:r>
            <a:r>
              <a:rPr lang="en-US" sz="2000" dirty="0">
                <a:solidFill>
                  <a:schemeClr val="accent1"/>
                </a:solidFill>
                <a:latin typeface="Inconsolata" panose="00000509000000000000" pitchFamily="49" charset="0"/>
              </a:rPr>
              <a:t>(</a:t>
            </a:r>
            <a:r>
              <a:rPr lang="en-US" sz="2000" u="sng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id</a:t>
            </a:r>
            <a:r>
              <a:rPr lang="en-US" sz="2000" dirty="0" err="1">
                <a:solidFill>
                  <a:schemeClr val="accent1"/>
                </a:solidFill>
                <a:latin typeface="Inconsolata" panose="00000509000000000000" pitchFamily="49" charset="0"/>
              </a:rPr>
              <a:t>,content</a:t>
            </a:r>
            <a:r>
              <a:rPr lang="en-US" sz="2000" dirty="0">
                <a:solidFill>
                  <a:schemeClr val="accent1"/>
                </a:solidFill>
                <a:latin typeface="Inconsolata" panose="00000509000000000000" pitchFamily="49" charset="0"/>
              </a:rPr>
              <a:t>,…)</a:t>
            </a:r>
          </a:p>
        </p:txBody>
      </p:sp>
      <p:sp>
        <p:nvSpPr>
          <p:cNvPr id="27" name="Highlight Box">
            <a:extLst>
              <a:ext uri="{FF2B5EF4-FFF2-40B4-BE49-F238E27FC236}">
                <a16:creationId xmlns:a16="http://schemas.microsoft.com/office/drawing/2014/main" id="{A8BEB5A2-44C0-B0FA-06D3-C5AF3377A415}"/>
              </a:ext>
            </a:extLst>
          </p:cNvPr>
          <p:cNvSpPr/>
          <p:nvPr/>
        </p:nvSpPr>
        <p:spPr>
          <a:xfrm>
            <a:off x="5791200" y="1422873"/>
            <a:ext cx="3200400" cy="1301277"/>
          </a:xfrm>
          <a:prstGeom prst="roundRect">
            <a:avLst>
              <a:gd name="adj" fmla="val 1342"/>
            </a:avLst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C9A5F11-9472-FDA5-3FD9-92E1091DE036}"/>
              </a:ext>
            </a:extLst>
          </p:cNvPr>
          <p:cNvGrpSpPr/>
          <p:nvPr/>
        </p:nvGrpSpPr>
        <p:grpSpPr>
          <a:xfrm>
            <a:off x="5631180" y="2936021"/>
            <a:ext cx="1249680" cy="1920624"/>
            <a:chOff x="5516880" y="2936021"/>
            <a:chExt cx="1249680" cy="192062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DD6850C-C231-6F1C-84D6-372CB550B8C8}"/>
                </a:ext>
              </a:extLst>
            </p:cNvPr>
            <p:cNvSpPr/>
            <p:nvPr/>
          </p:nvSpPr>
          <p:spPr>
            <a:xfrm>
              <a:off x="5516880" y="3257543"/>
              <a:ext cx="1249680" cy="155448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/>
              <a:endParaRPr lang="en-US" sz="2400" dirty="0">
                <a:solidFill>
                  <a:schemeClr val="tx1"/>
                </a:solidFill>
                <a:latin typeface="DejaVu Sans Mono" pitchFamily="49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39FBA77-A4DB-1B5E-BCB9-55FBA1ECAB72}"/>
                </a:ext>
              </a:extLst>
            </p:cNvPr>
            <p:cNvSpPr/>
            <p:nvPr/>
          </p:nvSpPr>
          <p:spPr>
            <a:xfrm>
              <a:off x="5609332" y="3335486"/>
              <a:ext cx="1065788" cy="2286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18288" rIns="45720" bIns="18288" rtlCol="0" anchor="ctr"/>
            <a:lstStyle/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Wu-Tang|</a:t>
              </a:r>
              <a:r>
                <a:rPr lang="en-US" sz="14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26BA639-6525-3150-4A13-3AB1034A9783}"/>
                </a:ext>
              </a:extLst>
            </p:cNvPr>
            <p:cNvSpPr/>
            <p:nvPr/>
          </p:nvSpPr>
          <p:spPr>
            <a:xfrm>
              <a:off x="5609332" y="3776238"/>
              <a:ext cx="1065788" cy="2286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Carnegie|</a:t>
              </a:r>
              <a:r>
                <a:rPr lang="en-US" sz="14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93FBEC6-6C6E-07BF-72D6-7C67063D1114}"/>
                </a:ext>
              </a:extLst>
            </p:cNvPr>
            <p:cNvSpPr/>
            <p:nvPr/>
          </p:nvSpPr>
          <p:spPr>
            <a:xfrm>
              <a:off x="5609332" y="4216990"/>
              <a:ext cx="1065788" cy="2286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r>
                <a:rPr 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Database|</a:t>
              </a:r>
              <a:r>
                <a:rPr lang="en-US" sz="14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29" name="TextBox 15">
              <a:extLst>
                <a:ext uri="{FF2B5EF4-FFF2-40B4-BE49-F238E27FC236}">
                  <a16:creationId xmlns:a16="http://schemas.microsoft.com/office/drawing/2014/main" id="{5AF08B36-D60F-B1A2-0842-C192A919D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6880" y="2936021"/>
              <a:ext cx="106279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sz="2000" dirty="0">
                  <a:solidFill>
                    <a:srgbClr val="646464"/>
                  </a:solidFill>
                </a:rPr>
                <a:t>Dictionary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21C3CB-6EE4-4DD4-FF54-E8BB4314783F}"/>
                </a:ext>
              </a:extLst>
            </p:cNvPr>
            <p:cNvSpPr/>
            <p:nvPr/>
          </p:nvSpPr>
          <p:spPr>
            <a:xfrm>
              <a:off x="6002098" y="4394980"/>
              <a:ext cx="27924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cs typeface="Consolas" pitchFamily="49" charset="0"/>
                </a:rPr>
                <a:t>⋮</a:t>
              </a:r>
              <a:endParaRPr lang="en-US" sz="2400" b="1" dirty="0">
                <a:latin typeface="Inconsolata" panose="00000509000000000000" pitchFamily="49" charset="0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B3330F8-1F83-A170-ADA3-E2AAF78F3626}"/>
              </a:ext>
            </a:extLst>
          </p:cNvPr>
          <p:cNvGrpSpPr/>
          <p:nvPr/>
        </p:nvGrpSpPr>
        <p:grpSpPr>
          <a:xfrm>
            <a:off x="6789420" y="3449786"/>
            <a:ext cx="487680" cy="881504"/>
            <a:chOff x="6675120" y="3449786"/>
            <a:chExt cx="487680" cy="881504"/>
          </a:xfrm>
        </p:grpSpPr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55987786-9DA4-9245-951B-A41BBC8CAC7C}"/>
                </a:ext>
              </a:extLst>
            </p:cNvPr>
            <p:cNvCxnSpPr>
              <a:cxnSpLocks/>
              <a:stCxn id="16" idx="3"/>
              <a:endCxn id="28" idx="1"/>
            </p:cNvCxnSpPr>
            <p:nvPr/>
          </p:nvCxnSpPr>
          <p:spPr>
            <a:xfrm>
              <a:off x="6675120" y="3449786"/>
              <a:ext cx="373380" cy="0"/>
            </a:xfrm>
            <a:prstGeom prst="straightConnector1">
              <a:avLst/>
            </a:prstGeom>
            <a:noFill/>
            <a:ln w="38100" algn="ctr">
              <a:solidFill>
                <a:schemeClr val="accent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E65C8124-9FC4-0A98-7CF1-4BF37DA8AF9B}"/>
                </a:ext>
              </a:extLst>
            </p:cNvPr>
            <p:cNvCxnSpPr>
              <a:cxnSpLocks/>
              <a:stCxn id="17" idx="3"/>
              <a:endCxn id="56" idx="1"/>
            </p:cNvCxnSpPr>
            <p:nvPr/>
          </p:nvCxnSpPr>
          <p:spPr>
            <a:xfrm>
              <a:off x="6675120" y="3890538"/>
              <a:ext cx="373380" cy="0"/>
            </a:xfrm>
            <a:prstGeom prst="straightConnector1">
              <a:avLst/>
            </a:prstGeom>
            <a:noFill/>
            <a:ln w="38100" algn="ctr">
              <a:solidFill>
                <a:schemeClr val="accent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9BB2E31F-D6FB-8E0F-739B-9F865312ACAE}"/>
                </a:ext>
              </a:extLst>
            </p:cNvPr>
            <p:cNvCxnSpPr>
              <a:cxnSpLocks/>
              <a:endCxn id="64" idx="1"/>
            </p:cNvCxnSpPr>
            <p:nvPr/>
          </p:nvCxnSpPr>
          <p:spPr>
            <a:xfrm>
              <a:off x="6789420" y="4331290"/>
              <a:ext cx="373380" cy="0"/>
            </a:xfrm>
            <a:prstGeom prst="straightConnector1">
              <a:avLst/>
            </a:prstGeom>
            <a:noFill/>
            <a:ln w="38100" algn="ctr">
              <a:solidFill>
                <a:schemeClr val="accent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CC3F3A7-52A2-6D00-89BA-1FAD39EA5473}"/>
              </a:ext>
            </a:extLst>
          </p:cNvPr>
          <p:cNvGrpSpPr/>
          <p:nvPr/>
        </p:nvGrpSpPr>
        <p:grpSpPr>
          <a:xfrm>
            <a:off x="7162800" y="2936021"/>
            <a:ext cx="1828800" cy="1578149"/>
            <a:chOff x="7048500" y="2936021"/>
            <a:chExt cx="1828800" cy="1578149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82C46B8-7CA6-0FA1-8F53-75D8EE7AA631}"/>
                </a:ext>
              </a:extLst>
            </p:cNvPr>
            <p:cNvGrpSpPr/>
            <p:nvPr/>
          </p:nvGrpSpPr>
          <p:grpSpPr>
            <a:xfrm>
              <a:off x="7048500" y="3266906"/>
              <a:ext cx="1828800" cy="365760"/>
              <a:chOff x="6562146" y="3392643"/>
              <a:chExt cx="1828800" cy="365760"/>
            </a:xfrm>
          </p:grpSpPr>
          <p:sp>
            <p:nvSpPr>
              <p:cNvPr id="28" name="Text Box 4">
                <a:extLst>
                  <a:ext uri="{FF2B5EF4-FFF2-40B4-BE49-F238E27FC236}">
                    <a16:creationId xmlns:a16="http://schemas.microsoft.com/office/drawing/2014/main" id="{0DDE576A-5C5B-5CAA-B56A-E87DA63FDF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62146" y="3392643"/>
                <a:ext cx="1828800" cy="36576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>
                  <a:defRPr/>
                </a:pPr>
                <a:endParaRPr lang="en-US" sz="2400" u="none" dirty="0">
                  <a:latin typeface="DejaVu Sans Mono" pitchFamily="49" charset="0"/>
                  <a:ea typeface="DejaVu Sans Mono" pitchFamily="49" charset="0"/>
                  <a:cs typeface="DejaVu Sans Mono" pitchFamily="49" charset="0"/>
                </a:endParaRPr>
              </a:p>
            </p:txBody>
          </p: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FD4FFAB0-85A1-49FE-DDC5-0C7B70839948}"/>
                  </a:ext>
                </a:extLst>
              </p:cNvPr>
              <p:cNvGrpSpPr/>
              <p:nvPr/>
            </p:nvGrpSpPr>
            <p:grpSpPr>
              <a:xfrm>
                <a:off x="6711399" y="3422494"/>
                <a:ext cx="1530294" cy="306059"/>
                <a:chOff x="6957060" y="3861061"/>
                <a:chExt cx="1828800" cy="365760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755BC1DA-2DE9-2771-2014-7BBBA033478D}"/>
                    </a:ext>
                  </a:extLst>
                </p:cNvPr>
                <p:cNvSpPr/>
                <p:nvPr/>
              </p:nvSpPr>
              <p:spPr>
                <a:xfrm>
                  <a:off x="695706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11</a:t>
                  </a:r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401BBB80-72E9-622F-1FFF-D3189DC31FA4}"/>
                    </a:ext>
                  </a:extLst>
                </p:cNvPr>
                <p:cNvSpPr/>
                <p:nvPr/>
              </p:nvSpPr>
              <p:spPr>
                <a:xfrm>
                  <a:off x="768858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  <p:sp>
              <p:nvSpPr>
                <p:cNvPr id="32" name="bit4">
                  <a:extLst>
                    <a:ext uri="{FF2B5EF4-FFF2-40B4-BE49-F238E27FC236}">
                      <a16:creationId xmlns:a16="http://schemas.microsoft.com/office/drawing/2014/main" id="{AEAFC471-0A4B-0B8A-F315-93166749653F}"/>
                    </a:ext>
                  </a:extLst>
                </p:cNvPr>
                <p:cNvSpPr/>
                <p:nvPr/>
              </p:nvSpPr>
              <p:spPr>
                <a:xfrm>
                  <a:off x="842010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</a:endParaRPr>
                </a:p>
              </p:txBody>
            </p:sp>
            <p:sp>
              <p:nvSpPr>
                <p:cNvPr id="33" name="bit1">
                  <a:extLst>
                    <a:ext uri="{FF2B5EF4-FFF2-40B4-BE49-F238E27FC236}">
                      <a16:creationId xmlns:a16="http://schemas.microsoft.com/office/drawing/2014/main" id="{9EC764B9-6E98-BBD0-04B4-EEED834A95B4}"/>
                    </a:ext>
                  </a:extLst>
                </p:cNvPr>
                <p:cNvSpPr/>
                <p:nvPr/>
              </p:nvSpPr>
              <p:spPr>
                <a:xfrm>
                  <a:off x="732282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Inconsolata" panose="00000509000000000000" pitchFamily="49" charset="0"/>
                      <a:ea typeface="Open Sans" pitchFamily="34" charset="0"/>
                    </a:rPr>
                    <a:t>44</a:t>
                  </a:r>
                </a:p>
              </p:txBody>
            </p:sp>
            <p:sp>
              <p:nvSpPr>
                <p:cNvPr id="34" name="bit3">
                  <a:extLst>
                    <a:ext uri="{FF2B5EF4-FFF2-40B4-BE49-F238E27FC236}">
                      <a16:creationId xmlns:a16="http://schemas.microsoft.com/office/drawing/2014/main" id="{7E50F6AD-EDE5-2CB7-BE0A-0117EFE0C45A}"/>
                    </a:ext>
                  </a:extLst>
                </p:cNvPr>
                <p:cNvSpPr/>
                <p:nvPr/>
              </p:nvSpPr>
              <p:spPr>
                <a:xfrm>
                  <a:off x="805434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</a:endParaRPr>
                </a:p>
              </p:txBody>
            </p:sp>
          </p:grp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A882350-D2C7-0EAA-1B5D-F08CE429AF5B}"/>
                </a:ext>
              </a:extLst>
            </p:cNvPr>
            <p:cNvGrpSpPr/>
            <p:nvPr/>
          </p:nvGrpSpPr>
          <p:grpSpPr>
            <a:xfrm>
              <a:off x="7048500" y="3707658"/>
              <a:ext cx="1828800" cy="365760"/>
              <a:chOff x="6562146" y="3392643"/>
              <a:chExt cx="1828800" cy="365760"/>
            </a:xfrm>
          </p:grpSpPr>
          <p:sp>
            <p:nvSpPr>
              <p:cNvPr id="56" name="Text Box 4">
                <a:extLst>
                  <a:ext uri="{FF2B5EF4-FFF2-40B4-BE49-F238E27FC236}">
                    <a16:creationId xmlns:a16="http://schemas.microsoft.com/office/drawing/2014/main" id="{AA1D3943-6B8D-25F6-7DC6-0672CDE06A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62146" y="3392643"/>
                <a:ext cx="1828800" cy="36576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>
                  <a:defRPr/>
                </a:pPr>
                <a:endParaRPr lang="en-US" sz="2400" u="none" dirty="0">
                  <a:latin typeface="DejaVu Sans Mono" pitchFamily="49" charset="0"/>
                  <a:ea typeface="DejaVu Sans Mono" pitchFamily="49" charset="0"/>
                  <a:cs typeface="DejaVu Sans Mono" pitchFamily="49" charset="0"/>
                </a:endParaRPr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8E02FD6F-566C-05B3-C843-D0802B5FAB84}"/>
                  </a:ext>
                </a:extLst>
              </p:cNvPr>
              <p:cNvGrpSpPr/>
              <p:nvPr/>
            </p:nvGrpSpPr>
            <p:grpSpPr>
              <a:xfrm>
                <a:off x="6711399" y="3422494"/>
                <a:ext cx="1530294" cy="306059"/>
                <a:chOff x="6957060" y="3861061"/>
                <a:chExt cx="1828800" cy="365760"/>
              </a:xfrm>
            </p:grpSpPr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95A4BC0C-C80E-5AA7-9591-A6C7B49F85D5}"/>
                    </a:ext>
                  </a:extLst>
                </p:cNvPr>
                <p:cNvSpPr/>
                <p:nvPr/>
              </p:nvSpPr>
              <p:spPr>
                <a:xfrm>
                  <a:off x="695706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22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11E7CD38-6835-42EB-FFE0-9302BC4E6BAA}"/>
                    </a:ext>
                  </a:extLst>
                </p:cNvPr>
                <p:cNvSpPr/>
                <p:nvPr/>
              </p:nvSpPr>
              <p:spPr>
                <a:xfrm>
                  <a:off x="768858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44</a:t>
                  </a:r>
                </a:p>
              </p:txBody>
            </p:sp>
            <p:sp>
              <p:nvSpPr>
                <p:cNvPr id="60" name="bit4">
                  <a:extLst>
                    <a:ext uri="{FF2B5EF4-FFF2-40B4-BE49-F238E27FC236}">
                      <a16:creationId xmlns:a16="http://schemas.microsoft.com/office/drawing/2014/main" id="{21C95112-B6C5-51AD-AE52-56ED66B9DC5A}"/>
                    </a:ext>
                  </a:extLst>
                </p:cNvPr>
                <p:cNvSpPr/>
                <p:nvPr/>
              </p:nvSpPr>
              <p:spPr>
                <a:xfrm>
                  <a:off x="842010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</a:endParaRPr>
                </a:p>
              </p:txBody>
            </p:sp>
            <p:sp>
              <p:nvSpPr>
                <p:cNvPr id="61" name="bit1">
                  <a:extLst>
                    <a:ext uri="{FF2B5EF4-FFF2-40B4-BE49-F238E27FC236}">
                      <a16:creationId xmlns:a16="http://schemas.microsoft.com/office/drawing/2014/main" id="{5B700399-F00B-0E9E-C1D8-D9F0AC8DE55C}"/>
                    </a:ext>
                  </a:extLst>
                </p:cNvPr>
                <p:cNvSpPr/>
                <p:nvPr/>
              </p:nvSpPr>
              <p:spPr>
                <a:xfrm>
                  <a:off x="732282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Inconsolata" panose="00000509000000000000" pitchFamily="49" charset="0"/>
                      <a:ea typeface="Open Sans" pitchFamily="34" charset="0"/>
                    </a:rPr>
                    <a:t>33</a:t>
                  </a:r>
                </a:p>
              </p:txBody>
            </p:sp>
            <p:sp>
              <p:nvSpPr>
                <p:cNvPr id="62" name="bit3">
                  <a:extLst>
                    <a:ext uri="{FF2B5EF4-FFF2-40B4-BE49-F238E27FC236}">
                      <a16:creationId xmlns:a16="http://schemas.microsoft.com/office/drawing/2014/main" id="{C8CCE1C1-CBB5-9C54-C0A8-371E37DD90C8}"/>
                    </a:ext>
                  </a:extLst>
                </p:cNvPr>
                <p:cNvSpPr/>
                <p:nvPr/>
              </p:nvSpPr>
              <p:spPr>
                <a:xfrm>
                  <a:off x="805434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</a:endParaRPr>
                </a:p>
              </p:txBody>
            </p: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07E32A8-8501-FE17-7758-0D5B10E23599}"/>
                </a:ext>
              </a:extLst>
            </p:cNvPr>
            <p:cNvGrpSpPr/>
            <p:nvPr/>
          </p:nvGrpSpPr>
          <p:grpSpPr>
            <a:xfrm>
              <a:off x="7048500" y="4148410"/>
              <a:ext cx="1828800" cy="365760"/>
              <a:chOff x="6562146" y="3392643"/>
              <a:chExt cx="1828800" cy="365760"/>
            </a:xfrm>
          </p:grpSpPr>
          <p:sp>
            <p:nvSpPr>
              <p:cNvPr id="64" name="Text Box 4">
                <a:extLst>
                  <a:ext uri="{FF2B5EF4-FFF2-40B4-BE49-F238E27FC236}">
                    <a16:creationId xmlns:a16="http://schemas.microsoft.com/office/drawing/2014/main" id="{E8404607-E077-E96D-5A08-E1A809C255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62146" y="3392643"/>
                <a:ext cx="1828800" cy="36576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0" hangingPunct="0">
                  <a:defRPr/>
                </a:pPr>
                <a:endParaRPr lang="en-US" sz="2400" u="none" dirty="0">
                  <a:latin typeface="DejaVu Sans Mono" pitchFamily="49" charset="0"/>
                  <a:ea typeface="DejaVu Sans Mono" pitchFamily="49" charset="0"/>
                  <a:cs typeface="DejaVu Sans Mono" pitchFamily="49" charset="0"/>
                </a:endParaRP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0CBB5D26-634F-24E6-3301-B28A8B121DE8}"/>
                  </a:ext>
                </a:extLst>
              </p:cNvPr>
              <p:cNvGrpSpPr/>
              <p:nvPr/>
            </p:nvGrpSpPr>
            <p:grpSpPr>
              <a:xfrm>
                <a:off x="6711399" y="3422494"/>
                <a:ext cx="1530294" cy="306059"/>
                <a:chOff x="6957060" y="3861061"/>
                <a:chExt cx="1828800" cy="365760"/>
              </a:xfrm>
            </p:grpSpPr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CCF5BBB9-9B4C-1FA1-88FF-E6CA7E646F1F}"/>
                    </a:ext>
                  </a:extLst>
                </p:cNvPr>
                <p:cNvSpPr/>
                <p:nvPr/>
              </p:nvSpPr>
              <p:spPr>
                <a:xfrm>
                  <a:off x="695706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Inconsolata" panose="00000509000000000000" pitchFamily="49" charset="0"/>
                      <a:ea typeface="Open Sans" pitchFamily="34" charset="0"/>
                      <a:cs typeface="Consolas" pitchFamily="49" charset="0"/>
                    </a:rPr>
                    <a:t>33</a:t>
                  </a: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B8A58F7A-BAED-5AE1-981D-FCE9B94DE9FC}"/>
                    </a:ext>
                  </a:extLst>
                </p:cNvPr>
                <p:cNvSpPr/>
                <p:nvPr/>
              </p:nvSpPr>
              <p:spPr>
                <a:xfrm>
                  <a:off x="768858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  <a:cs typeface="Consolas" pitchFamily="49" charset="0"/>
                  </a:endParaRPr>
                </a:p>
              </p:txBody>
            </p:sp>
            <p:sp>
              <p:nvSpPr>
                <p:cNvPr id="68" name="bit4">
                  <a:extLst>
                    <a:ext uri="{FF2B5EF4-FFF2-40B4-BE49-F238E27FC236}">
                      <a16:creationId xmlns:a16="http://schemas.microsoft.com/office/drawing/2014/main" id="{38F8CA66-AA72-9423-0019-F140F0E8EE46}"/>
                    </a:ext>
                  </a:extLst>
                </p:cNvPr>
                <p:cNvSpPr/>
                <p:nvPr/>
              </p:nvSpPr>
              <p:spPr>
                <a:xfrm>
                  <a:off x="842010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</a:endParaRPr>
                </a:p>
              </p:txBody>
            </p:sp>
            <p:sp>
              <p:nvSpPr>
                <p:cNvPr id="69" name="bit1">
                  <a:extLst>
                    <a:ext uri="{FF2B5EF4-FFF2-40B4-BE49-F238E27FC236}">
                      <a16:creationId xmlns:a16="http://schemas.microsoft.com/office/drawing/2014/main" id="{425148C1-0373-C4D8-272C-342977D4FB07}"/>
                    </a:ext>
                  </a:extLst>
                </p:cNvPr>
                <p:cNvSpPr/>
                <p:nvPr/>
              </p:nvSpPr>
              <p:spPr>
                <a:xfrm>
                  <a:off x="732282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r>
                    <a:rPr lang="en-US" sz="16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Inconsolata" panose="00000509000000000000" pitchFamily="49" charset="0"/>
                      <a:ea typeface="Open Sans" pitchFamily="34" charset="0"/>
                    </a:rPr>
                    <a:t>44</a:t>
                  </a:r>
                </a:p>
              </p:txBody>
            </p:sp>
            <p:sp>
              <p:nvSpPr>
                <p:cNvPr id="70" name="bit3">
                  <a:extLst>
                    <a:ext uri="{FF2B5EF4-FFF2-40B4-BE49-F238E27FC236}">
                      <a16:creationId xmlns:a16="http://schemas.microsoft.com/office/drawing/2014/main" id="{0942DCC2-0ABE-14A5-32BB-A878E222A8F8}"/>
                    </a:ext>
                  </a:extLst>
                </p:cNvPr>
                <p:cNvSpPr/>
                <p:nvPr/>
              </p:nvSpPr>
              <p:spPr>
                <a:xfrm>
                  <a:off x="8054340" y="3861061"/>
                  <a:ext cx="365760" cy="36576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8288" tIns="18288" rIns="18288" bIns="18288" rtlCol="0" anchor="ctr"/>
                <a:lstStyle/>
                <a:p>
                  <a:pPr algn="ctr"/>
                  <a:endParaRPr lang="en-US" sz="1600" dirty="0">
                    <a:solidFill>
                      <a:srgbClr val="646464"/>
                    </a:solidFill>
                    <a:latin typeface="Inconsolata" panose="00000509000000000000" pitchFamily="49" charset="0"/>
                    <a:ea typeface="Open Sans" pitchFamily="34" charset="0"/>
                  </a:endParaRPr>
                </a:p>
              </p:txBody>
            </p:sp>
          </p:grpSp>
        </p:grpSp>
        <p:sp>
          <p:nvSpPr>
            <p:cNvPr id="81" name="TextBox 15">
              <a:extLst>
                <a:ext uri="{FF2B5EF4-FFF2-40B4-BE49-F238E27FC236}">
                  <a16:creationId xmlns:a16="http://schemas.microsoft.com/office/drawing/2014/main" id="{41EEBE55-BA56-5319-3571-36A38265D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8500" y="2936021"/>
              <a:ext cx="119744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sz="2000" dirty="0">
                  <a:solidFill>
                    <a:srgbClr val="646464"/>
                  </a:solidFill>
                </a:rPr>
                <a:t>Posting Lists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D8E4EB3-B0C6-024E-7D17-C047E20ED3F1}"/>
              </a:ext>
            </a:extLst>
          </p:cNvPr>
          <p:cNvGrpSpPr/>
          <p:nvPr/>
        </p:nvGrpSpPr>
        <p:grpSpPr>
          <a:xfrm>
            <a:off x="556914" y="3921430"/>
            <a:ext cx="1472036" cy="1193254"/>
            <a:chOff x="265324" y="3784557"/>
            <a:chExt cx="1472036" cy="1193254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5186265F-810C-44F2-984F-EDD517CCCA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65324" y="3784557"/>
              <a:ext cx="1371600" cy="21726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56C365C-F486-40EE-8660-78E3D8E68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65760" y="4112806"/>
              <a:ext cx="1371600" cy="342900"/>
            </a:xfrm>
            <a:prstGeom prst="rect">
              <a:avLst/>
            </a:prstGeom>
          </p:spPr>
        </p:pic>
        <p:pic>
          <p:nvPicPr>
            <p:cNvPr id="83" name="Picture 82" descr="A person riding a horse&#10;&#10;Description automatically generated">
              <a:extLst>
                <a:ext uri="{FF2B5EF4-FFF2-40B4-BE49-F238E27FC236}">
                  <a16:creationId xmlns:a16="http://schemas.microsoft.com/office/drawing/2014/main" id="{30B4BED4-E87C-6A63-249B-CDC9113DF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3504" y="4514170"/>
              <a:ext cx="548640" cy="463641"/>
            </a:xfrm>
            <a:prstGeom prst="rect">
              <a:avLst/>
            </a:prstGeom>
          </p:spPr>
        </p:pic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ECB32FE8-DF8E-0938-454C-FC192B9FC20E}"/>
              </a:ext>
            </a:extLst>
          </p:cNvPr>
          <p:cNvGrpSpPr/>
          <p:nvPr/>
        </p:nvGrpSpPr>
        <p:grpSpPr>
          <a:xfrm>
            <a:off x="2035301" y="3862179"/>
            <a:ext cx="2536699" cy="1241201"/>
            <a:chOff x="1758844" y="3657022"/>
            <a:chExt cx="2813103" cy="1376445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5DE8D360-6290-46DC-87E2-6EA30404FE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758844" y="3791540"/>
              <a:ext cx="1554480" cy="28067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C0BF556-E972-4DCD-8097-981D9160D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533653" y="3657022"/>
              <a:ext cx="822960" cy="41518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E1C2335-1517-4252-91B9-F9FDA7030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291787" y="4264878"/>
              <a:ext cx="1280160" cy="30348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A7173D2-9B93-C94F-97B9-49B590CF99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41724" y="4690122"/>
              <a:ext cx="1188720" cy="333046"/>
            </a:xfrm>
            <a:prstGeom prst="rect">
              <a:avLst/>
            </a:prstGeom>
          </p:spPr>
        </p:pic>
        <p:pic>
          <p:nvPicPr>
            <p:cNvPr id="85" name="Graphic 84">
              <a:extLst>
                <a:ext uri="{FF2B5EF4-FFF2-40B4-BE49-F238E27FC236}">
                  <a16:creationId xmlns:a16="http://schemas.microsoft.com/office/drawing/2014/main" id="{338BC74D-B91C-FD0D-06E9-08E8606195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819804" y="4282890"/>
              <a:ext cx="1371600" cy="267462"/>
            </a:xfrm>
            <a:prstGeom prst="rect">
              <a:avLst/>
            </a:prstGeom>
          </p:spPr>
        </p:pic>
        <p:pic>
          <p:nvPicPr>
            <p:cNvPr id="92" name="Graphic 91">
              <a:extLst>
                <a:ext uri="{FF2B5EF4-FFF2-40B4-BE49-F238E27FC236}">
                  <a16:creationId xmlns:a16="http://schemas.microsoft.com/office/drawing/2014/main" id="{7E718980-AE28-2A8E-AC91-3178610020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313324" y="4679822"/>
              <a:ext cx="1188720" cy="353645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BFB0BAD-A76F-4DF4-25F5-9B697B9639FF}"/>
              </a:ext>
            </a:extLst>
          </p:cNvPr>
          <p:cNvGrpSpPr/>
          <p:nvPr/>
        </p:nvGrpSpPr>
        <p:grpSpPr>
          <a:xfrm>
            <a:off x="4525629" y="3280674"/>
            <a:ext cx="1210587" cy="1203646"/>
            <a:chOff x="4447726" y="8198651"/>
            <a:chExt cx="1210587" cy="1203646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9DD044B-0F0C-04E8-78EE-EE7A149259E5}"/>
                </a:ext>
              </a:extLst>
            </p:cNvPr>
            <p:cNvSpPr txBox="1"/>
            <p:nvPr/>
          </p:nvSpPr>
          <p:spPr>
            <a:xfrm>
              <a:off x="4447726" y="8571950"/>
              <a:ext cx="1042695" cy="45704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>
              <a:defPPr>
                <a:defRPr lang="en-US"/>
              </a:defPPr>
              <a:lvl1pPr>
                <a:lnSpc>
                  <a:spcPct val="80000"/>
                </a:lnSpc>
                <a:defRPr sz="2000">
                  <a:solidFill>
                    <a:srgbClr val="646464"/>
                  </a:solidFill>
                  <a:latin typeface="Proxima Nova Rg" panose="02000506030000020004" pitchFamily="50" charset="0"/>
                </a:defRPr>
              </a:lvl1pPr>
            </a:lstStyle>
            <a:p>
              <a:r>
                <a:rPr lang="en-US" sz="1800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Term </a:t>
              </a:r>
              <a:r>
                <a:rPr lang="en-US" sz="1800" b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/</a:t>
              </a:r>
              <a:br>
                <a:rPr lang="en-US" sz="1800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</a:br>
              <a:r>
                <a:rPr lang="en-US" sz="1800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Frequency</a:t>
              </a:r>
            </a:p>
          </p:txBody>
        </p:sp>
        <p:sp>
          <p:nvSpPr>
            <p:cNvPr id="96" name="Right Brace 95">
              <a:extLst>
                <a:ext uri="{FF2B5EF4-FFF2-40B4-BE49-F238E27FC236}">
                  <a16:creationId xmlns:a16="http://schemas.microsoft.com/office/drawing/2014/main" id="{7857C3DE-08B4-22E0-5F25-C4E066E66742}"/>
                </a:ext>
              </a:extLst>
            </p:cNvPr>
            <p:cNvSpPr>
              <a:spLocks/>
            </p:cNvSpPr>
            <p:nvPr/>
          </p:nvSpPr>
          <p:spPr bwMode="auto">
            <a:xfrm rot="10800000" flipV="1">
              <a:off x="5454405" y="8198651"/>
              <a:ext cx="203908" cy="1203646"/>
            </a:xfrm>
            <a:prstGeom prst="rightBrace">
              <a:avLst>
                <a:gd name="adj1" fmla="val 8339"/>
                <a:gd name="adj2" fmla="val 50000"/>
              </a:avLst>
            </a:prstGeom>
            <a:noFill/>
            <a:ln w="28575" algn="ctr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u="sng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800" u="sng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800" u="sng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800" u="sng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800" u="sng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sz="2100">
                <a:solidFill>
                  <a:srgbClr val="F76D6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218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7192-69B2-0EDB-0C30-1B7CBCA29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Inverted Index: Lucene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D1FA9-1CA1-45F3-374A-1A6CCE796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a </a:t>
            </a:r>
            <a:r>
              <a:rPr lang="en-US" b="1" dirty="0">
                <a:hlinkClick r:id="rId2"/>
              </a:rPr>
              <a:t>Finite State Transducer</a:t>
            </a:r>
            <a:r>
              <a:rPr lang="en-US" dirty="0"/>
              <a:t> for determining offset of terms in dictionary.</a:t>
            </a:r>
          </a:p>
          <a:p>
            <a:r>
              <a:rPr lang="en-US" dirty="0"/>
              <a:t>Incrementally create dictionary segments and then merge them in the background.</a:t>
            </a:r>
          </a:p>
          <a:p>
            <a:pPr lvl="1"/>
            <a:r>
              <a:rPr lang="en-US" dirty="0"/>
              <a:t>Uses </a:t>
            </a:r>
            <a:r>
              <a:rPr lang="en-US" dirty="0">
                <a:hlinkClick r:id="rId3"/>
              </a:rPr>
              <a:t>compression methods</a:t>
            </a:r>
            <a:r>
              <a:rPr lang="en-US" dirty="0"/>
              <a:t> we previously discussed (e.g., delta, bit packing).</a:t>
            </a:r>
          </a:p>
          <a:p>
            <a:pPr lvl="1"/>
            <a:r>
              <a:rPr lang="en-US" dirty="0"/>
              <a:t>Also supports precomputed aggregations for terms and occurrences.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1E6F-F53A-D118-AB7C-DC1E1EFB5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37</a:t>
            </a:fld>
            <a:endParaRPr lang="en-US" dirty="0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96797E33-72E8-3A68-90D5-840592D1317E}"/>
              </a:ext>
            </a:extLst>
          </p:cNvPr>
          <p:cNvGrpSpPr/>
          <p:nvPr/>
        </p:nvGrpSpPr>
        <p:grpSpPr>
          <a:xfrm>
            <a:off x="5561994" y="742950"/>
            <a:ext cx="1371600" cy="1634490"/>
            <a:chOff x="7621270" y="937260"/>
            <a:chExt cx="1371600" cy="163449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C02B26-470D-B8B6-83B6-9184D1442605}"/>
                </a:ext>
              </a:extLst>
            </p:cNvPr>
            <p:cNvSpPr/>
            <p:nvPr/>
          </p:nvSpPr>
          <p:spPr>
            <a:xfrm>
              <a:off x="7621270" y="1200150"/>
              <a:ext cx="1371600" cy="1371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/>
              <a:endParaRPr lang="en-US" sz="2400" dirty="0">
                <a:solidFill>
                  <a:schemeClr val="tx1"/>
                </a:solidFill>
                <a:latin typeface="DejaVu Sans Mono" pitchFamily="49" charset="0"/>
              </a:endParaRPr>
            </a:p>
          </p:txBody>
        </p:sp>
        <p:sp>
          <p:nvSpPr>
            <p:cNvPr id="10" name="TextBox 15">
              <a:extLst>
                <a:ext uri="{FF2B5EF4-FFF2-40B4-BE49-F238E27FC236}">
                  <a16:creationId xmlns:a16="http://schemas.microsoft.com/office/drawing/2014/main" id="{09976469-0B4D-11C0-7EE3-4E382D1BC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1270" y="937260"/>
              <a:ext cx="1062791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sz="2000" dirty="0">
                  <a:solidFill>
                    <a:srgbClr val="646464"/>
                  </a:solidFill>
                </a:rPr>
                <a:t>Dictionary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0FF90DE-FC77-0923-45C9-9A28180CE788}"/>
                </a:ext>
              </a:extLst>
            </p:cNvPr>
            <p:cNvGrpSpPr/>
            <p:nvPr/>
          </p:nvGrpSpPr>
          <p:grpSpPr>
            <a:xfrm>
              <a:off x="7827010" y="1308319"/>
              <a:ext cx="960120" cy="1155263"/>
              <a:chOff x="7712710" y="1370767"/>
              <a:chExt cx="960120" cy="1155263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E8A5B7E5-226A-BEBD-6789-7328829EF7DC}"/>
                  </a:ext>
                </a:extLst>
              </p:cNvPr>
              <p:cNvGrpSpPr/>
              <p:nvPr/>
            </p:nvGrpSpPr>
            <p:grpSpPr>
              <a:xfrm>
                <a:off x="7712710" y="1370767"/>
                <a:ext cx="960120" cy="228600"/>
                <a:chOff x="5654040" y="1374221"/>
                <a:chExt cx="960120" cy="228600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EE099FE-6BFB-C2E3-E44E-375FA6CFC0A4}"/>
                    </a:ext>
                  </a:extLst>
                </p:cNvPr>
                <p:cNvSpPr/>
                <p:nvPr/>
              </p:nvSpPr>
              <p:spPr>
                <a:xfrm>
                  <a:off x="5882640" y="1374221"/>
                  <a:ext cx="731520" cy="22860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64646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18288" bIns="18288" rtlCol="0" anchor="ctr"/>
                <a:lstStyle/>
                <a:p>
                  <a:r>
                    <a:rPr 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BR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DDAC6210-1D01-D485-5D4F-9DE5DFB1FC95}"/>
                    </a:ext>
                  </a:extLst>
                </p:cNvPr>
                <p:cNvSpPr/>
                <p:nvPr/>
              </p:nvSpPr>
              <p:spPr>
                <a:xfrm>
                  <a:off x="5654040" y="1374221"/>
                  <a:ext cx="228600" cy="2286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19050">
                  <a:solidFill>
                    <a:srgbClr val="64646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18288" bIns="18288"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1</a:t>
                  </a: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A154B0C-9F3F-5555-44DE-B6812B956C09}"/>
                  </a:ext>
                </a:extLst>
              </p:cNvPr>
              <p:cNvGrpSpPr/>
              <p:nvPr/>
            </p:nvGrpSpPr>
            <p:grpSpPr>
              <a:xfrm>
                <a:off x="7712710" y="1687830"/>
                <a:ext cx="960120" cy="228600"/>
                <a:chOff x="5654040" y="1374221"/>
                <a:chExt cx="960120" cy="228600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57648A5-B8CC-414E-B729-4315B14403EF}"/>
                    </a:ext>
                  </a:extLst>
                </p:cNvPr>
                <p:cNvSpPr/>
                <p:nvPr/>
              </p:nvSpPr>
              <p:spPr>
                <a:xfrm>
                  <a:off x="5882640" y="1374221"/>
                  <a:ext cx="731520" cy="22860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64646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18288" bIns="18288" rtlCol="0" anchor="ctr"/>
                <a:lstStyle/>
                <a:p>
                  <a:r>
                    <a:rPr 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BRAV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6E7F378-A797-9B00-3B14-9A5CE5B8DA73}"/>
                    </a:ext>
                  </a:extLst>
                </p:cNvPr>
                <p:cNvSpPr/>
                <p:nvPr/>
              </p:nvSpPr>
              <p:spPr>
                <a:xfrm>
                  <a:off x="5654040" y="1374221"/>
                  <a:ext cx="228600" cy="2286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19050">
                  <a:solidFill>
                    <a:srgbClr val="64646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18288" bIns="18288"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2</a:t>
                  </a: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575C2FB-91CC-C24C-4A4B-9AD4A4C2C5D2}"/>
                  </a:ext>
                </a:extLst>
              </p:cNvPr>
              <p:cNvGrpSpPr/>
              <p:nvPr/>
            </p:nvGrpSpPr>
            <p:grpSpPr>
              <a:xfrm>
                <a:off x="7712710" y="1992630"/>
                <a:ext cx="960120" cy="228600"/>
                <a:chOff x="5654040" y="1374221"/>
                <a:chExt cx="960120" cy="228600"/>
              </a:xfrm>
            </p:grpSpPr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A7216190-E976-EB1C-E386-A333FDB78DF8}"/>
                    </a:ext>
                  </a:extLst>
                </p:cNvPr>
                <p:cNvSpPr/>
                <p:nvPr/>
              </p:nvSpPr>
              <p:spPr>
                <a:xfrm>
                  <a:off x="5882640" y="1374221"/>
                  <a:ext cx="731520" cy="22860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64646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18288" bIns="18288" rtlCol="0" anchor="ctr"/>
                <a:lstStyle/>
                <a:p>
                  <a:r>
                    <a:rPr 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PAV</a:t>
                  </a:r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91471EDC-3220-62DB-4091-DE0EC2146122}"/>
                    </a:ext>
                  </a:extLst>
                </p:cNvPr>
                <p:cNvSpPr/>
                <p:nvPr/>
              </p:nvSpPr>
              <p:spPr>
                <a:xfrm>
                  <a:off x="5654040" y="1374221"/>
                  <a:ext cx="228600" cy="2286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19050">
                  <a:solidFill>
                    <a:srgbClr val="64646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18288" bIns="18288"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3</a:t>
                  </a: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0FB728E2-5CEF-DC8A-3B21-0AC1D985AF24}"/>
                  </a:ext>
                </a:extLst>
              </p:cNvPr>
              <p:cNvGrpSpPr/>
              <p:nvPr/>
            </p:nvGrpSpPr>
            <p:grpSpPr>
              <a:xfrm>
                <a:off x="7712710" y="2297430"/>
                <a:ext cx="960120" cy="228600"/>
                <a:chOff x="5654040" y="1374221"/>
                <a:chExt cx="960120" cy="228600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B1CC40FE-0266-4990-8634-8175C656106F}"/>
                    </a:ext>
                  </a:extLst>
                </p:cNvPr>
                <p:cNvSpPr/>
                <p:nvPr/>
              </p:nvSpPr>
              <p:spPr>
                <a:xfrm>
                  <a:off x="5882640" y="1374221"/>
                  <a:ext cx="731520" cy="228600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rgbClr val="64646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18288" bIns="18288" rtlCol="0" anchor="ctr"/>
                <a:lstStyle/>
                <a:p>
                  <a:r>
                    <a:rPr lang="en-US" sz="14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PLA</a:t>
                  </a: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8E8F880-BDCB-B030-3480-2B641DE646C1}"/>
                    </a:ext>
                  </a:extLst>
                </p:cNvPr>
                <p:cNvSpPr/>
                <p:nvPr/>
              </p:nvSpPr>
              <p:spPr>
                <a:xfrm>
                  <a:off x="5654040" y="1374221"/>
                  <a:ext cx="228600" cy="2286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19050">
                  <a:solidFill>
                    <a:srgbClr val="64646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18288" bIns="18288"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bg1"/>
                      </a:solidFill>
                      <a:latin typeface="Inconsolata" panose="00000509000000000000" pitchFamily="49" charset="0"/>
                      <a:ea typeface="DejaVu Sans Mono" pitchFamily="49" charset="0"/>
                      <a:cs typeface="Consolas" pitchFamily="49" charset="0"/>
                    </a:rPr>
                    <a:t>4</a:t>
                  </a:r>
                </a:p>
              </p:txBody>
            </p:sp>
          </p:grpSp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C9768B9-A0AE-C019-D865-9C36BDA60F93}"/>
              </a:ext>
            </a:extLst>
          </p:cNvPr>
          <p:cNvGrpSpPr/>
          <p:nvPr/>
        </p:nvGrpSpPr>
        <p:grpSpPr>
          <a:xfrm>
            <a:off x="6400800" y="1346636"/>
            <a:ext cx="2610703" cy="2825314"/>
            <a:chOff x="6400800" y="1346636"/>
            <a:chExt cx="2610703" cy="282531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F00F6D9-65BD-E8A7-0C8D-6A33B37198BF}"/>
                </a:ext>
              </a:extLst>
            </p:cNvPr>
            <p:cNvSpPr/>
            <p:nvPr/>
          </p:nvSpPr>
          <p:spPr>
            <a:xfrm>
              <a:off x="8041223" y="1346636"/>
              <a:ext cx="228600" cy="2286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F1D148A-EEAA-1898-2068-657B624B8039}"/>
                </a:ext>
              </a:extLst>
            </p:cNvPr>
            <p:cNvSpPr/>
            <p:nvPr/>
          </p:nvSpPr>
          <p:spPr>
            <a:xfrm>
              <a:off x="7335103" y="1938664"/>
              <a:ext cx="228600" cy="2286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EF216C3-B158-BFDA-1A3F-05DDCD45FA3C}"/>
                </a:ext>
              </a:extLst>
            </p:cNvPr>
            <p:cNvSpPr/>
            <p:nvPr/>
          </p:nvSpPr>
          <p:spPr>
            <a:xfrm>
              <a:off x="8173303" y="1938664"/>
              <a:ext cx="228600" cy="2286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94D55F16-64FF-5B16-577B-F49B9554D9F6}"/>
                </a:ext>
              </a:extLst>
            </p:cNvPr>
            <p:cNvSpPr/>
            <p:nvPr/>
          </p:nvSpPr>
          <p:spPr>
            <a:xfrm>
              <a:off x="8296493" y="2530692"/>
              <a:ext cx="228600" cy="2286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AutoShape 14">
              <a:extLst>
                <a:ext uri="{FF2B5EF4-FFF2-40B4-BE49-F238E27FC236}">
                  <a16:creationId xmlns:a16="http://schemas.microsoft.com/office/drawing/2014/main" id="{2FA63A78-E5BF-A177-CC7A-9451A607B558}"/>
                </a:ext>
              </a:extLst>
            </p:cNvPr>
            <p:cNvCxnSpPr>
              <a:cxnSpLocks noChangeShapeType="1"/>
              <a:stCxn id="23" idx="3"/>
              <a:endCxn id="24" idx="0"/>
            </p:cNvCxnSpPr>
            <p:nvPr/>
          </p:nvCxnSpPr>
          <p:spPr bwMode="auto">
            <a:xfrm rot="5400000">
              <a:off x="7563599" y="1427562"/>
              <a:ext cx="396906" cy="625298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AutoShape 14">
              <a:extLst>
                <a:ext uri="{FF2B5EF4-FFF2-40B4-BE49-F238E27FC236}">
                  <a16:creationId xmlns:a16="http://schemas.microsoft.com/office/drawing/2014/main" id="{99565FC9-8F81-8170-0566-6E832DD8F4A2}"/>
                </a:ext>
              </a:extLst>
            </p:cNvPr>
            <p:cNvCxnSpPr>
              <a:cxnSpLocks noChangeShapeType="1"/>
              <a:stCxn id="23" idx="5"/>
              <a:endCxn id="25" idx="0"/>
            </p:cNvCxnSpPr>
            <p:nvPr/>
          </p:nvCxnSpPr>
          <p:spPr bwMode="auto">
            <a:xfrm rot="16200000" flipH="1">
              <a:off x="8063521" y="1714582"/>
              <a:ext cx="396906" cy="51258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AutoShape 14">
              <a:extLst>
                <a:ext uri="{FF2B5EF4-FFF2-40B4-BE49-F238E27FC236}">
                  <a16:creationId xmlns:a16="http://schemas.microsoft.com/office/drawing/2014/main" id="{3F62BD9A-7A77-55AE-4900-CA8A2DFD75B0}"/>
                </a:ext>
              </a:extLst>
            </p:cNvPr>
            <p:cNvCxnSpPr>
              <a:cxnSpLocks noChangeShapeType="1"/>
              <a:stCxn id="25" idx="4"/>
              <a:endCxn id="26" idx="0"/>
            </p:cNvCxnSpPr>
            <p:nvPr/>
          </p:nvCxnSpPr>
          <p:spPr bwMode="auto">
            <a:xfrm rot="16200000" flipH="1">
              <a:off x="8167484" y="2287383"/>
              <a:ext cx="363428" cy="123190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3B619B2-5AEB-7710-EC91-A07D10A4948E}"/>
                </a:ext>
              </a:extLst>
            </p:cNvPr>
            <p:cNvSpPr txBox="1"/>
            <p:nvPr/>
          </p:nvSpPr>
          <p:spPr>
            <a:xfrm>
              <a:off x="8371046" y="1540433"/>
              <a:ext cx="564257" cy="2703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en-US"/>
              </a:defPPr>
              <a:lvl1pPr>
                <a:lnSpc>
                  <a:spcPct val="80000"/>
                </a:lnSpc>
                <a:defRPr sz="2000">
                  <a:solidFill>
                    <a:srgbClr val="646464"/>
                  </a:solidFill>
                  <a:latin typeface="Proxima Nova Rg" panose="02000506030000020004" pitchFamily="50" charset="0"/>
                </a:defRPr>
              </a:lvl1pPr>
            </a:lstStyle>
            <a:p>
              <a:pPr>
                <a:lnSpc>
                  <a:spcPct val="70000"/>
                </a:lnSpc>
              </a:pPr>
              <a:r>
                <a:rPr lang="en-US" sz="1400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B</a:t>
              </a:r>
            </a:p>
            <a:p>
              <a:pPr>
                <a:lnSpc>
                  <a:spcPct val="70000"/>
                </a:lnSpc>
              </a:pPr>
              <a:r>
                <a:rPr lang="en-US" sz="11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rPr>
                <a:t>weight=1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D131AC4-B854-AFB1-2F18-C5818122E20A}"/>
                </a:ext>
              </a:extLst>
            </p:cNvPr>
            <p:cNvSpPr txBox="1"/>
            <p:nvPr/>
          </p:nvSpPr>
          <p:spPr>
            <a:xfrm>
              <a:off x="7400207" y="1381562"/>
              <a:ext cx="564257" cy="2703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en-US"/>
              </a:defPPr>
              <a:lvl1pPr>
                <a:lnSpc>
                  <a:spcPct val="80000"/>
                </a:lnSpc>
                <a:defRPr sz="2000">
                  <a:solidFill>
                    <a:srgbClr val="646464"/>
                  </a:solidFill>
                  <a:latin typeface="Proxima Nova Rg" panose="02000506030000020004" pitchFamily="50" charset="0"/>
                </a:defRPr>
              </a:lvl1pPr>
            </a:lstStyle>
            <a:p>
              <a:pPr>
                <a:lnSpc>
                  <a:spcPct val="70000"/>
                </a:lnSpc>
              </a:pPr>
              <a:r>
                <a:rPr lang="en-US" sz="1400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P</a:t>
              </a:r>
            </a:p>
            <a:p>
              <a:pPr>
                <a:lnSpc>
                  <a:spcPct val="70000"/>
                </a:lnSpc>
              </a:pPr>
              <a:r>
                <a:rPr lang="en-US" sz="11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rPr>
                <a:t>weight=2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48865D7-7988-02B8-C588-7E5D0544E514}"/>
                </a:ext>
              </a:extLst>
            </p:cNvPr>
            <p:cNvSpPr/>
            <p:nvPr/>
          </p:nvSpPr>
          <p:spPr>
            <a:xfrm>
              <a:off x="7944703" y="3122721"/>
              <a:ext cx="228600" cy="2286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AutoShape 14">
              <a:extLst>
                <a:ext uri="{FF2B5EF4-FFF2-40B4-BE49-F238E27FC236}">
                  <a16:creationId xmlns:a16="http://schemas.microsoft.com/office/drawing/2014/main" id="{0F4DED2E-D25D-E1C1-59F4-70DD2FF73EB9}"/>
                </a:ext>
              </a:extLst>
            </p:cNvPr>
            <p:cNvCxnSpPr>
              <a:cxnSpLocks noChangeShapeType="1"/>
              <a:stCxn id="26" idx="4"/>
              <a:endCxn id="41" idx="7"/>
            </p:cNvCxnSpPr>
            <p:nvPr/>
          </p:nvCxnSpPr>
          <p:spPr bwMode="auto">
            <a:xfrm rot="5400000">
              <a:off x="8076856" y="2822261"/>
              <a:ext cx="396907" cy="270968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7" name="AutoShape 14">
              <a:extLst>
                <a:ext uri="{FF2B5EF4-FFF2-40B4-BE49-F238E27FC236}">
                  <a16:creationId xmlns:a16="http://schemas.microsoft.com/office/drawing/2014/main" id="{0C37D16C-9758-CF4F-E45D-9A7706D20D29}"/>
                </a:ext>
              </a:extLst>
            </p:cNvPr>
            <p:cNvCxnSpPr>
              <a:cxnSpLocks noChangeShapeType="1"/>
              <a:stCxn id="24" idx="5"/>
              <a:endCxn id="41" idx="1"/>
            </p:cNvCxnSpPr>
            <p:nvPr/>
          </p:nvCxnSpPr>
          <p:spPr bwMode="auto">
            <a:xfrm rot="16200000" flipH="1">
              <a:off x="7242997" y="2421014"/>
              <a:ext cx="1022413" cy="447956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984996F-1646-AA1F-17DF-EC92DDB683CD}"/>
                </a:ext>
              </a:extLst>
            </p:cNvPr>
            <p:cNvSpPr txBox="1"/>
            <p:nvPr/>
          </p:nvSpPr>
          <p:spPr>
            <a:xfrm>
              <a:off x="7609046" y="2192276"/>
              <a:ext cx="564257" cy="2703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en-US"/>
              </a:defPPr>
              <a:lvl1pPr>
                <a:lnSpc>
                  <a:spcPct val="80000"/>
                </a:lnSpc>
                <a:defRPr sz="2000">
                  <a:solidFill>
                    <a:srgbClr val="646464"/>
                  </a:solidFill>
                  <a:latin typeface="Proxima Nova Rg" panose="02000506030000020004" pitchFamily="50" charset="0"/>
                </a:defRPr>
              </a:lvl1pPr>
            </a:lstStyle>
            <a:p>
              <a:pPr>
                <a:lnSpc>
                  <a:spcPct val="70000"/>
                </a:lnSpc>
              </a:pPr>
              <a:r>
                <a:rPr lang="en-US" sz="1400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A</a:t>
              </a:r>
              <a:endParaRPr lang="en-US" sz="1100" b="1" i="1" dirty="0">
                <a:solidFill>
                  <a:schemeClr val="accent1"/>
                </a:solidFill>
                <a:latin typeface="Crimson Text" panose="02000503000000000000" pitchFamily="2" charset="0"/>
              </a:endParaRPr>
            </a:p>
            <a:p>
              <a:pPr>
                <a:lnSpc>
                  <a:spcPct val="70000"/>
                </a:lnSpc>
              </a:pPr>
              <a:r>
                <a:rPr lang="en-US" sz="11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rPr>
                <a:t>weight=1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DB7B677-7D12-CAB9-EF13-4B43B309B303}"/>
                </a:ext>
              </a:extLst>
            </p:cNvPr>
            <p:cNvSpPr txBox="1"/>
            <p:nvPr/>
          </p:nvSpPr>
          <p:spPr>
            <a:xfrm>
              <a:off x="8447246" y="2116076"/>
              <a:ext cx="564257" cy="2703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en-US"/>
              </a:defPPr>
              <a:lvl1pPr>
                <a:lnSpc>
                  <a:spcPct val="80000"/>
                </a:lnSpc>
                <a:defRPr sz="2000">
                  <a:solidFill>
                    <a:srgbClr val="646464"/>
                  </a:solidFill>
                  <a:latin typeface="Proxima Nova Rg" panose="02000506030000020004" pitchFamily="50" charset="0"/>
                </a:defRPr>
              </a:lvl1pPr>
            </a:lstStyle>
            <a:p>
              <a:pPr>
                <a:lnSpc>
                  <a:spcPct val="70000"/>
                </a:lnSpc>
              </a:pPr>
              <a:r>
                <a:rPr lang="en-US" sz="1400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R</a:t>
              </a:r>
              <a:endParaRPr lang="en-US" sz="1100" b="1" i="1" dirty="0">
                <a:solidFill>
                  <a:schemeClr val="accent1"/>
                </a:solidFill>
                <a:latin typeface="Crimson Text" panose="02000503000000000000" pitchFamily="2" charset="0"/>
              </a:endParaRPr>
            </a:p>
            <a:p>
              <a:pPr>
                <a:lnSpc>
                  <a:spcPct val="70000"/>
                </a:lnSpc>
              </a:pPr>
              <a:r>
                <a:rPr lang="en-US" sz="11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rPr>
                <a:t>weight=0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57E8320-7FDB-3684-13E7-AB3B3A44953C}"/>
                </a:ext>
              </a:extLst>
            </p:cNvPr>
            <p:cNvSpPr txBox="1"/>
            <p:nvPr/>
          </p:nvSpPr>
          <p:spPr>
            <a:xfrm>
              <a:off x="8379995" y="2906016"/>
              <a:ext cx="564257" cy="2703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en-US"/>
              </a:defPPr>
              <a:lvl1pPr>
                <a:lnSpc>
                  <a:spcPct val="80000"/>
                </a:lnSpc>
                <a:defRPr sz="2000">
                  <a:solidFill>
                    <a:srgbClr val="646464"/>
                  </a:solidFill>
                  <a:latin typeface="Proxima Nova Rg" panose="02000506030000020004" pitchFamily="50" charset="0"/>
                </a:defRPr>
              </a:lvl1pPr>
            </a:lstStyle>
            <a:p>
              <a:pPr>
                <a:lnSpc>
                  <a:spcPct val="70000"/>
                </a:lnSpc>
              </a:pPr>
              <a:r>
                <a:rPr lang="en-US" sz="1400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A</a:t>
              </a:r>
              <a:endParaRPr lang="en-US" sz="1100" b="1" i="1" dirty="0">
                <a:solidFill>
                  <a:schemeClr val="accent1"/>
                </a:solidFill>
                <a:latin typeface="Crimson Text" panose="02000503000000000000" pitchFamily="2" charset="0"/>
              </a:endParaRPr>
            </a:p>
            <a:p>
              <a:pPr>
                <a:lnSpc>
                  <a:spcPct val="70000"/>
                </a:lnSpc>
              </a:pPr>
              <a:r>
                <a:rPr lang="en-US" sz="11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rPr>
                <a:t>weight=1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267CEAE-53F1-D87B-C0B2-73B89500DE0A}"/>
                </a:ext>
              </a:extLst>
            </p:cNvPr>
            <p:cNvSpPr/>
            <p:nvPr/>
          </p:nvSpPr>
          <p:spPr>
            <a:xfrm>
              <a:off x="6954103" y="3122721"/>
              <a:ext cx="228600" cy="2286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14EA671-71A1-F07C-281E-F25973A14029}"/>
                </a:ext>
              </a:extLst>
            </p:cNvPr>
            <p:cNvSpPr/>
            <p:nvPr/>
          </p:nvSpPr>
          <p:spPr>
            <a:xfrm>
              <a:off x="8120598" y="3943350"/>
              <a:ext cx="228600" cy="22860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AutoShape 14">
              <a:extLst>
                <a:ext uri="{FF2B5EF4-FFF2-40B4-BE49-F238E27FC236}">
                  <a16:creationId xmlns:a16="http://schemas.microsoft.com/office/drawing/2014/main" id="{1F9F7F20-9FFA-E747-1860-F8C2B9942FC2}"/>
                </a:ext>
              </a:extLst>
            </p:cNvPr>
            <p:cNvCxnSpPr>
              <a:cxnSpLocks noChangeShapeType="1"/>
              <a:stCxn id="24" idx="3"/>
              <a:endCxn id="57" idx="0"/>
            </p:cNvCxnSpPr>
            <p:nvPr/>
          </p:nvCxnSpPr>
          <p:spPr bwMode="auto">
            <a:xfrm rot="5400000">
              <a:off x="6724025" y="2478164"/>
              <a:ext cx="988935" cy="300178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3" name="AutoShape 14">
              <a:extLst>
                <a:ext uri="{FF2B5EF4-FFF2-40B4-BE49-F238E27FC236}">
                  <a16:creationId xmlns:a16="http://schemas.microsoft.com/office/drawing/2014/main" id="{C7AEC294-8C88-91C5-8104-96D2F6B127A7}"/>
                </a:ext>
              </a:extLst>
            </p:cNvPr>
            <p:cNvCxnSpPr>
              <a:cxnSpLocks noChangeShapeType="1"/>
              <a:stCxn id="41" idx="4"/>
              <a:endCxn id="58" idx="0"/>
            </p:cNvCxnSpPr>
            <p:nvPr/>
          </p:nvCxnSpPr>
          <p:spPr bwMode="auto">
            <a:xfrm rot="16200000" flipH="1">
              <a:off x="7850936" y="3559387"/>
              <a:ext cx="592029" cy="175895"/>
            </a:xfrm>
            <a:prstGeom prst="curvedConnector3">
              <a:avLst>
                <a:gd name="adj1" fmla="val 50000"/>
              </a:avLst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AutoShape 14">
              <a:extLst>
                <a:ext uri="{FF2B5EF4-FFF2-40B4-BE49-F238E27FC236}">
                  <a16:creationId xmlns:a16="http://schemas.microsoft.com/office/drawing/2014/main" id="{838B8B6D-2806-FD8A-6D1E-1D106978E140}"/>
                </a:ext>
              </a:extLst>
            </p:cNvPr>
            <p:cNvCxnSpPr>
              <a:cxnSpLocks noChangeShapeType="1"/>
              <a:stCxn id="57" idx="4"/>
              <a:endCxn id="58" idx="2"/>
            </p:cNvCxnSpPr>
            <p:nvPr/>
          </p:nvCxnSpPr>
          <p:spPr bwMode="auto">
            <a:xfrm rot="16200000" flipH="1">
              <a:off x="7241336" y="3178387"/>
              <a:ext cx="706329" cy="1052195"/>
            </a:xfrm>
            <a:prstGeom prst="curvedConnector2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D5EE172-201E-7BC9-C9DA-6DCAA05B8574}"/>
                </a:ext>
              </a:extLst>
            </p:cNvPr>
            <p:cNvSpPr txBox="1"/>
            <p:nvPr/>
          </p:nvSpPr>
          <p:spPr>
            <a:xfrm>
              <a:off x="6733569" y="3708792"/>
              <a:ext cx="564257" cy="2703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en-US"/>
              </a:defPPr>
              <a:lvl1pPr>
                <a:lnSpc>
                  <a:spcPct val="80000"/>
                </a:lnSpc>
                <a:defRPr sz="2000">
                  <a:solidFill>
                    <a:srgbClr val="646464"/>
                  </a:solidFill>
                  <a:latin typeface="Proxima Nova Rg" panose="02000506030000020004" pitchFamily="50" charset="0"/>
                </a:defRPr>
              </a:lvl1pPr>
            </a:lstStyle>
            <a:p>
              <a:pPr>
                <a:lnSpc>
                  <a:spcPct val="70000"/>
                </a:lnSpc>
              </a:pPr>
              <a:r>
                <a:rPr lang="en-US" sz="1400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A</a:t>
              </a:r>
              <a:endParaRPr lang="en-US" sz="1100" b="1" i="1" dirty="0">
                <a:solidFill>
                  <a:schemeClr val="accent1"/>
                </a:solidFill>
                <a:latin typeface="Crimson Text" panose="02000503000000000000" pitchFamily="2" charset="0"/>
              </a:endParaRPr>
            </a:p>
            <a:p>
              <a:pPr>
                <a:lnSpc>
                  <a:spcPct val="70000"/>
                </a:lnSpc>
              </a:pPr>
              <a:r>
                <a:rPr lang="en-US" sz="11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rPr>
                <a:t>weight=0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10471E8-09B9-DA18-C02A-B1D37224910A}"/>
                </a:ext>
              </a:extLst>
            </p:cNvPr>
            <p:cNvSpPr txBox="1"/>
            <p:nvPr/>
          </p:nvSpPr>
          <p:spPr>
            <a:xfrm>
              <a:off x="6400800" y="2694077"/>
              <a:ext cx="564257" cy="2703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en-US"/>
              </a:defPPr>
              <a:lvl1pPr>
                <a:lnSpc>
                  <a:spcPct val="80000"/>
                </a:lnSpc>
                <a:defRPr sz="2000">
                  <a:solidFill>
                    <a:srgbClr val="646464"/>
                  </a:solidFill>
                  <a:latin typeface="Proxima Nova Rg" panose="02000506030000020004" pitchFamily="50" charset="0"/>
                </a:defRPr>
              </a:lvl1pPr>
            </a:lstStyle>
            <a:p>
              <a:pPr>
                <a:lnSpc>
                  <a:spcPct val="70000"/>
                </a:lnSpc>
              </a:pPr>
              <a:r>
                <a:rPr lang="en-US" sz="1400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L</a:t>
              </a:r>
              <a:endParaRPr lang="en-US" sz="1100" b="1" i="1" dirty="0">
                <a:solidFill>
                  <a:schemeClr val="accent1"/>
                </a:solidFill>
                <a:latin typeface="Crimson Text" panose="02000503000000000000" pitchFamily="2" charset="0"/>
              </a:endParaRPr>
            </a:p>
            <a:p>
              <a:pPr>
                <a:lnSpc>
                  <a:spcPct val="70000"/>
                </a:lnSpc>
              </a:pPr>
              <a:r>
                <a:rPr lang="en-US" sz="11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rPr>
                <a:t>weight=2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66F8EE7-8518-9E4B-8AA0-19A507AF9C43}"/>
                </a:ext>
              </a:extLst>
            </p:cNvPr>
            <p:cNvSpPr txBox="1"/>
            <p:nvPr/>
          </p:nvSpPr>
          <p:spPr>
            <a:xfrm>
              <a:off x="8153400" y="3358823"/>
              <a:ext cx="564257" cy="2703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spAutoFit/>
            </a:bodyPr>
            <a:lstStyle>
              <a:defPPr>
                <a:defRPr lang="en-US"/>
              </a:defPPr>
              <a:lvl1pPr>
                <a:lnSpc>
                  <a:spcPct val="80000"/>
                </a:lnSpc>
                <a:defRPr sz="2000">
                  <a:solidFill>
                    <a:srgbClr val="646464"/>
                  </a:solidFill>
                  <a:latin typeface="Proxima Nova Rg" panose="02000506030000020004" pitchFamily="50" charset="0"/>
                </a:defRPr>
              </a:lvl1pPr>
            </a:lstStyle>
            <a:p>
              <a:pPr>
                <a:lnSpc>
                  <a:spcPct val="70000"/>
                </a:lnSpc>
              </a:pPr>
              <a:r>
                <a:rPr lang="en-US" sz="1400" b="1" i="1" dirty="0">
                  <a:solidFill>
                    <a:schemeClr val="accent1"/>
                  </a:solidFill>
                  <a:latin typeface="Crimson Text" panose="02000503000000000000" pitchFamily="2" charset="0"/>
                </a:rPr>
                <a:t>V</a:t>
              </a:r>
            </a:p>
            <a:p>
              <a:pPr>
                <a:lnSpc>
                  <a:spcPct val="70000"/>
                </a:lnSpc>
              </a:pPr>
              <a:r>
                <a:rPr lang="en-US" sz="1100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rPr>
                <a:t>weight=0</a:t>
              </a:r>
            </a:p>
          </p:txBody>
        </p:sp>
      </p:grpSp>
      <p:sp>
        <p:nvSpPr>
          <p:cNvPr id="92" name="Content Placeholder 28">
            <a:extLst>
              <a:ext uri="{FF2B5EF4-FFF2-40B4-BE49-F238E27FC236}">
                <a16:creationId xmlns:a16="http://schemas.microsoft.com/office/drawing/2014/main" id="{7C15D618-5EE2-7948-7373-C3C50C2D2246}"/>
              </a:ext>
            </a:extLst>
          </p:cNvPr>
          <p:cNvSpPr txBox="1">
            <a:spLocks/>
          </p:cNvSpPr>
          <p:nvPr/>
        </p:nvSpPr>
        <p:spPr>
          <a:xfrm>
            <a:off x="7378329" y="679775"/>
            <a:ext cx="153724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 i="1">
                <a:solidFill>
                  <a:schemeClr val="bg1">
                    <a:lumMod val="50000"/>
                  </a:schemeClr>
                </a:solidFill>
                <a:latin typeface="Proxima Nova Rg" panose="02000506030000020004" pitchFamily="50" charset="0"/>
                <a:ea typeface="Crimson Text" pitchFamily="2" charset="0"/>
              </a:defRPr>
            </a:lvl1pPr>
            <a:lvl2pPr marL="0" indent="-342900">
              <a:spcBef>
                <a:spcPts val="0"/>
              </a:spcBef>
              <a:buFont typeface="Times New Roman" pitchFamily="18" charset="0"/>
              <a:buChar char="→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Find PAV</a:t>
            </a:r>
            <a:endParaRPr lang="en-US" b="1" baseline="-250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</a:endParaRPr>
          </a:p>
        </p:txBody>
      </p:sp>
      <p:sp>
        <p:nvSpPr>
          <p:cNvPr id="93" name="WEIGHT">
            <a:extLst>
              <a:ext uri="{FF2B5EF4-FFF2-40B4-BE49-F238E27FC236}">
                <a16:creationId xmlns:a16="http://schemas.microsoft.com/office/drawing/2014/main" id="{16D12B9A-4567-A512-CE12-610EE5D5C43A}"/>
              </a:ext>
            </a:extLst>
          </p:cNvPr>
          <p:cNvSpPr txBox="1">
            <a:spLocks/>
          </p:cNvSpPr>
          <p:nvPr/>
        </p:nvSpPr>
        <p:spPr>
          <a:xfrm>
            <a:off x="7620000" y="4336592"/>
            <a:ext cx="108883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2000" i="1">
                <a:solidFill>
                  <a:schemeClr val="bg1">
                    <a:lumMod val="50000"/>
                  </a:schemeClr>
                </a:solidFill>
                <a:latin typeface="Proxima Nova Rg" panose="02000506030000020004" pitchFamily="50" charset="0"/>
                <a:ea typeface="Crimson Text" pitchFamily="2" charset="0"/>
              </a:defRPr>
            </a:lvl1pPr>
            <a:lvl2pPr marL="0" indent="-342900">
              <a:spcBef>
                <a:spcPts val="0"/>
              </a:spcBef>
              <a:buFont typeface="Times New Roman" pitchFamily="18" charset="0"/>
              <a:buChar char="→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algn="l"/>
            <a:r>
              <a:rPr lang="en-US" b="1" dirty="0">
                <a:solidFill>
                  <a:schemeClr val="accent1"/>
                </a:solidFill>
                <a:latin typeface="+mn-lt"/>
              </a:rPr>
              <a:t>Offset=</a:t>
            </a:r>
            <a:endParaRPr lang="en-US" b="1" baseline="-250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94" name="weight=3">
            <a:extLst>
              <a:ext uri="{FF2B5EF4-FFF2-40B4-BE49-F238E27FC236}">
                <a16:creationId xmlns:a16="http://schemas.microsoft.com/office/drawing/2014/main" id="{7C5F0DC3-5F44-CB23-F5B7-2AF0AD5597AC}"/>
              </a:ext>
            </a:extLst>
          </p:cNvPr>
          <p:cNvSpPr txBox="1">
            <a:spLocks/>
          </p:cNvSpPr>
          <p:nvPr/>
        </p:nvSpPr>
        <p:spPr>
          <a:xfrm>
            <a:off x="8511991" y="4358430"/>
            <a:ext cx="26142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2000" i="1">
                <a:solidFill>
                  <a:schemeClr val="bg1">
                    <a:lumMod val="50000"/>
                  </a:schemeClr>
                </a:solidFill>
                <a:latin typeface="Proxima Nova Rg" panose="02000506030000020004" pitchFamily="50" charset="0"/>
                <a:ea typeface="Crimson Text" pitchFamily="2" charset="0"/>
              </a:defRPr>
            </a:lvl1pPr>
            <a:lvl2pPr marL="0" indent="-342900">
              <a:spcBef>
                <a:spcPts val="0"/>
              </a:spcBef>
              <a:buFont typeface="Times New Roman" pitchFamily="18" charset="0"/>
              <a:buChar char="→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algn="l"/>
            <a:r>
              <a:rPr lang="en-US" b="1" dirty="0">
                <a:solidFill>
                  <a:schemeClr val="accent1"/>
                </a:solidFill>
                <a:latin typeface="+mn-lt"/>
              </a:rPr>
              <a:t>3</a:t>
            </a:r>
            <a:endParaRPr lang="en-US" b="1" baseline="-250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95" name="weight=4">
            <a:extLst>
              <a:ext uri="{FF2B5EF4-FFF2-40B4-BE49-F238E27FC236}">
                <a16:creationId xmlns:a16="http://schemas.microsoft.com/office/drawing/2014/main" id="{52B51788-F7EB-8F44-C1B4-31DACBFF0C61}"/>
              </a:ext>
            </a:extLst>
          </p:cNvPr>
          <p:cNvSpPr txBox="1">
            <a:spLocks/>
          </p:cNvSpPr>
          <p:nvPr/>
        </p:nvSpPr>
        <p:spPr>
          <a:xfrm>
            <a:off x="8511991" y="4358430"/>
            <a:ext cx="26142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2000" i="1">
                <a:solidFill>
                  <a:schemeClr val="bg1">
                    <a:lumMod val="50000"/>
                  </a:schemeClr>
                </a:solidFill>
                <a:latin typeface="Proxima Nova Rg" panose="02000506030000020004" pitchFamily="50" charset="0"/>
                <a:ea typeface="Crimson Text" pitchFamily="2" charset="0"/>
              </a:defRPr>
            </a:lvl1pPr>
            <a:lvl2pPr marL="0" indent="-342900">
              <a:spcBef>
                <a:spcPts val="0"/>
              </a:spcBef>
              <a:buFont typeface="Times New Roman" pitchFamily="18" charset="0"/>
              <a:buChar char="→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algn="l"/>
            <a:r>
              <a:rPr lang="en-US" b="1" dirty="0">
                <a:solidFill>
                  <a:schemeClr val="accent1"/>
                </a:solidFill>
                <a:latin typeface="+mn-lt"/>
              </a:rPr>
              <a:t>4</a:t>
            </a:r>
            <a:endParaRPr lang="en-US" b="1" baseline="-25000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96" name="Cursor Arrow">
            <a:extLst>
              <a:ext uri="{FF2B5EF4-FFF2-40B4-BE49-F238E27FC236}">
                <a16:creationId xmlns:a16="http://schemas.microsoft.com/office/drawing/2014/main" id="{A0972E4F-235A-E0F6-8AB8-7F9ED9815856}"/>
              </a:ext>
            </a:extLst>
          </p:cNvPr>
          <p:cNvSpPr/>
          <p:nvPr/>
        </p:nvSpPr>
        <p:spPr>
          <a:xfrm rot="16200000">
            <a:off x="5386317" y="1667292"/>
            <a:ext cx="365760" cy="365760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Cursor Arrow">
            <a:extLst>
              <a:ext uri="{FF2B5EF4-FFF2-40B4-BE49-F238E27FC236}">
                <a16:creationId xmlns:a16="http://schemas.microsoft.com/office/drawing/2014/main" id="{FF50AE97-0ED7-2A8F-E0AF-46105E504C9B}"/>
              </a:ext>
            </a:extLst>
          </p:cNvPr>
          <p:cNvSpPr/>
          <p:nvPr/>
        </p:nvSpPr>
        <p:spPr>
          <a:xfrm>
            <a:off x="7964070" y="989459"/>
            <a:ext cx="365760" cy="365760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weight=0">
            <a:extLst>
              <a:ext uri="{FF2B5EF4-FFF2-40B4-BE49-F238E27FC236}">
                <a16:creationId xmlns:a16="http://schemas.microsoft.com/office/drawing/2014/main" id="{092644C9-4775-AAEB-5702-BBEEB7046217}"/>
              </a:ext>
            </a:extLst>
          </p:cNvPr>
          <p:cNvSpPr txBox="1">
            <a:spLocks/>
          </p:cNvSpPr>
          <p:nvPr/>
        </p:nvSpPr>
        <p:spPr>
          <a:xfrm>
            <a:off x="8511991" y="4358430"/>
            <a:ext cx="26142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ctr">
              <a:defRPr sz="2000" i="1">
                <a:solidFill>
                  <a:schemeClr val="bg1">
                    <a:lumMod val="50000"/>
                  </a:schemeClr>
                </a:solidFill>
                <a:latin typeface="Proxima Nova Rg" panose="02000506030000020004" pitchFamily="50" charset="0"/>
                <a:ea typeface="Crimson Text" pitchFamily="2" charset="0"/>
              </a:defRPr>
            </a:lvl1pPr>
            <a:lvl2pPr marL="0" indent="-342900">
              <a:spcBef>
                <a:spcPts val="0"/>
              </a:spcBef>
              <a:buFont typeface="Times New Roman" pitchFamily="18" charset="0"/>
              <a:buChar char="→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2pPr>
            <a:lvl3pPr indent="0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3pPr>
            <a:lvl4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4pPr>
            <a:lvl5pPr indent="0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</a:defRPr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algn="l"/>
            <a:r>
              <a:rPr lang="en-US" b="1" dirty="0">
                <a:solidFill>
                  <a:schemeClr val="accent1"/>
                </a:solidFill>
                <a:latin typeface="+mn-lt"/>
              </a:rPr>
              <a:t>0</a:t>
            </a:r>
            <a:endParaRPr lang="en-US" b="1" baseline="-25000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8778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22222E-6 L -0.07621 0.11111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19" y="5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621 0.11112 L -0.00937 0.34876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5" y="119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2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37 0.34876 L 0.01042 0.50864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7" y="81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/>
      <p:bldP spid="93" grpId="0"/>
      <p:bldP spid="94" grpId="0"/>
      <p:bldP spid="94" grpId="1"/>
      <p:bldP spid="95" grpId="0"/>
      <p:bldP spid="96" grpId="0" animBg="1"/>
      <p:bldP spid="89" grpId="0" animBg="1"/>
      <p:bldP spid="89" grpId="1" animBg="1"/>
      <p:bldP spid="89" grpId="2" animBg="1"/>
      <p:bldP spid="89" grpId="3" animBg="1"/>
      <p:bldP spid="98" grpId="0"/>
      <p:bldP spid="98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7192-69B2-0EDB-0C30-1B7CBCA29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Inverted Index: PostgreSQL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D1FA9-1CA1-45F3-374A-1A6CCE796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426" y="797069"/>
            <a:ext cx="4754880" cy="3657600"/>
          </a:xfrm>
        </p:spPr>
        <p:txBody>
          <a:bodyPr/>
          <a:lstStyle/>
          <a:p>
            <a:r>
              <a:rPr lang="en-US" dirty="0"/>
              <a:t>PostgreSQL's </a:t>
            </a:r>
            <a:r>
              <a:rPr lang="en-US" b="1" dirty="0">
                <a:hlinkClick r:id="rId2"/>
              </a:rPr>
              <a:t>Generalized Inverted Index</a:t>
            </a:r>
            <a:r>
              <a:rPr lang="en-US" dirty="0"/>
              <a:t> (GIN) uses a B+Tree for the term dictionary that map to a posting list data structure.</a:t>
            </a:r>
          </a:p>
          <a:p>
            <a:r>
              <a:rPr lang="en-US" dirty="0"/>
              <a:t>Posting list contents varies depending on number of records per term:</a:t>
            </a:r>
          </a:p>
          <a:p>
            <a:pPr lvl="1"/>
            <a:r>
              <a:rPr lang="en-US" b="1" dirty="0"/>
              <a:t>Few</a:t>
            </a:r>
            <a:r>
              <a:rPr lang="en-US" dirty="0"/>
              <a:t>: Sorted list of record ids.</a:t>
            </a:r>
          </a:p>
          <a:p>
            <a:pPr lvl="1"/>
            <a:r>
              <a:rPr lang="en-US" b="1" dirty="0"/>
              <a:t>Many</a:t>
            </a:r>
            <a:r>
              <a:rPr lang="en-US" dirty="0"/>
              <a:t>: Another B+Tree of record ids.</a:t>
            </a:r>
          </a:p>
          <a:p>
            <a:endParaRPr lang="en-US" sz="1200" dirty="0"/>
          </a:p>
          <a:p>
            <a:r>
              <a:rPr lang="en-US" dirty="0"/>
              <a:t>Uses a separate "pending list" log to avoid incremental updates.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1E6F-F53A-D118-AB7C-DC1E1EFB5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38</a:t>
            </a:fld>
            <a:endParaRPr lang="en-US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C49A9A6-30E3-0111-4903-A8948239F544}"/>
              </a:ext>
            </a:extLst>
          </p:cNvPr>
          <p:cNvGrpSpPr/>
          <p:nvPr/>
        </p:nvGrpSpPr>
        <p:grpSpPr>
          <a:xfrm>
            <a:off x="7079221" y="3095326"/>
            <a:ext cx="1419181" cy="1229024"/>
            <a:chOff x="7322850" y="2876862"/>
            <a:chExt cx="1419181" cy="122902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AEFBFA4-ADFC-4E7E-A6EB-0FFEBDF0928E}"/>
                </a:ext>
              </a:extLst>
            </p:cNvPr>
            <p:cNvGrpSpPr/>
            <p:nvPr/>
          </p:nvGrpSpPr>
          <p:grpSpPr>
            <a:xfrm>
              <a:off x="7322850" y="2876862"/>
              <a:ext cx="1419181" cy="908028"/>
              <a:chOff x="2142220" y="3142625"/>
              <a:chExt cx="1419181" cy="908028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F5AF531-B5A4-4FEE-BD5E-A449B5776A5F}"/>
                  </a:ext>
                </a:extLst>
              </p:cNvPr>
              <p:cNvSpPr/>
              <p:nvPr/>
            </p:nvSpPr>
            <p:spPr>
              <a:xfrm>
                <a:off x="2714650" y="3142625"/>
                <a:ext cx="274320" cy="182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endParaRPr lang="en-US" sz="2400" b="1" dirty="0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1B6E81F-8104-4199-93D5-731DC6C67651}"/>
                  </a:ext>
                </a:extLst>
              </p:cNvPr>
              <p:cNvSpPr/>
              <p:nvPr/>
            </p:nvSpPr>
            <p:spPr>
              <a:xfrm>
                <a:off x="2333030" y="3505199"/>
                <a:ext cx="274320" cy="182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endParaRPr lang="en-US" sz="2400" b="1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40C309A-D3D6-4917-B225-18478BF2E06E}"/>
                  </a:ext>
                </a:extLst>
              </p:cNvPr>
              <p:cNvSpPr/>
              <p:nvPr/>
            </p:nvSpPr>
            <p:spPr>
              <a:xfrm>
                <a:off x="3096270" y="3505199"/>
                <a:ext cx="274320" cy="182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endParaRPr lang="en-US" sz="2400" b="1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35482B3-261E-4504-B3B8-1EF98B16C2C6}"/>
                  </a:ext>
                </a:extLst>
              </p:cNvPr>
              <p:cNvSpPr/>
              <p:nvPr/>
            </p:nvSpPr>
            <p:spPr>
              <a:xfrm>
                <a:off x="2142220" y="3867773"/>
                <a:ext cx="274320" cy="182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endParaRPr lang="en-US" sz="2400" b="1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BE403CF-DE29-4AB7-B4B5-007AE59F6E07}"/>
                  </a:ext>
                </a:extLst>
              </p:cNvPr>
              <p:cNvSpPr/>
              <p:nvPr/>
            </p:nvSpPr>
            <p:spPr>
              <a:xfrm>
                <a:off x="2523840" y="3867773"/>
                <a:ext cx="274320" cy="182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endParaRPr lang="en-US" sz="2400" b="1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9431E2A-9808-409A-AADB-1F72AF9BFB3A}"/>
                  </a:ext>
                </a:extLst>
              </p:cNvPr>
              <p:cNvSpPr/>
              <p:nvPr/>
            </p:nvSpPr>
            <p:spPr>
              <a:xfrm>
                <a:off x="2905460" y="3867773"/>
                <a:ext cx="274320" cy="182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endParaRPr lang="en-US" sz="2400" b="1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6DA2305-1D08-416E-BE31-8720C9594FA9}"/>
                  </a:ext>
                </a:extLst>
              </p:cNvPr>
              <p:cNvSpPr/>
              <p:nvPr/>
            </p:nvSpPr>
            <p:spPr>
              <a:xfrm>
                <a:off x="3287081" y="3867773"/>
                <a:ext cx="274320" cy="182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endParaRPr lang="en-US" sz="2400" b="1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endParaRPr>
              </a:p>
            </p:txBody>
          </p:sp>
          <p:cxnSp>
            <p:nvCxnSpPr>
              <p:cNvPr id="28" name="Straight Arrow Connector 13">
                <a:extLst>
                  <a:ext uri="{FF2B5EF4-FFF2-40B4-BE49-F238E27FC236}">
                    <a16:creationId xmlns:a16="http://schemas.microsoft.com/office/drawing/2014/main" id="{C9340619-5AEC-4C25-B95E-76357717F504}"/>
                  </a:ext>
                </a:extLst>
              </p:cNvPr>
              <p:cNvCxnSpPr>
                <a:cxnSpLocks/>
                <a:stCxn id="21" idx="2"/>
                <a:endCxn id="22" idx="0"/>
              </p:cNvCxnSpPr>
              <p:nvPr/>
            </p:nvCxnSpPr>
            <p:spPr>
              <a:xfrm rot="5400000">
                <a:off x="2571153" y="3224542"/>
                <a:ext cx="179694" cy="381620"/>
              </a:xfrm>
              <a:prstGeom prst="bentConnector3">
                <a:avLst>
                  <a:gd name="adj1" fmla="val 50000"/>
                </a:avLst>
              </a:prstGeom>
              <a:solidFill>
                <a:srgbClr val="256389"/>
              </a:solidFill>
              <a:ln>
                <a:solidFill>
                  <a:srgbClr val="646464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13">
                <a:extLst>
                  <a:ext uri="{FF2B5EF4-FFF2-40B4-BE49-F238E27FC236}">
                    <a16:creationId xmlns:a16="http://schemas.microsoft.com/office/drawing/2014/main" id="{5602A968-C8D0-4063-9AEF-0EC7FBBD573F}"/>
                  </a:ext>
                </a:extLst>
              </p:cNvPr>
              <p:cNvCxnSpPr>
                <a:stCxn id="21" idx="2"/>
                <a:endCxn id="23" idx="0"/>
              </p:cNvCxnSpPr>
              <p:nvPr/>
            </p:nvCxnSpPr>
            <p:spPr>
              <a:xfrm rot="16200000" flipH="1">
                <a:off x="2952773" y="3224542"/>
                <a:ext cx="179694" cy="381620"/>
              </a:xfrm>
              <a:prstGeom prst="bentConnector3">
                <a:avLst>
                  <a:gd name="adj1" fmla="val 50000"/>
                </a:avLst>
              </a:prstGeom>
              <a:solidFill>
                <a:srgbClr val="256389"/>
              </a:solidFill>
              <a:ln>
                <a:solidFill>
                  <a:srgbClr val="646464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13">
                <a:extLst>
                  <a:ext uri="{FF2B5EF4-FFF2-40B4-BE49-F238E27FC236}">
                    <a16:creationId xmlns:a16="http://schemas.microsoft.com/office/drawing/2014/main" id="{42EA0D30-2491-4E88-BD68-E2C0624DC79D}"/>
                  </a:ext>
                </a:extLst>
              </p:cNvPr>
              <p:cNvCxnSpPr>
                <a:stCxn id="22" idx="2"/>
                <a:endCxn id="24" idx="0"/>
              </p:cNvCxnSpPr>
              <p:nvPr/>
            </p:nvCxnSpPr>
            <p:spPr>
              <a:xfrm rot="5400000">
                <a:off x="2284938" y="3682521"/>
                <a:ext cx="179694" cy="190810"/>
              </a:xfrm>
              <a:prstGeom prst="bentConnector3">
                <a:avLst>
                  <a:gd name="adj1" fmla="val 50000"/>
                </a:avLst>
              </a:prstGeom>
              <a:solidFill>
                <a:srgbClr val="256389"/>
              </a:solidFill>
              <a:ln>
                <a:solidFill>
                  <a:srgbClr val="646464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13">
                <a:extLst>
                  <a:ext uri="{FF2B5EF4-FFF2-40B4-BE49-F238E27FC236}">
                    <a16:creationId xmlns:a16="http://schemas.microsoft.com/office/drawing/2014/main" id="{E9173282-FC60-4D6C-BC5F-1E6188549A34}"/>
                  </a:ext>
                </a:extLst>
              </p:cNvPr>
              <p:cNvCxnSpPr>
                <a:stCxn id="22" idx="2"/>
                <a:endCxn id="25" idx="0"/>
              </p:cNvCxnSpPr>
              <p:nvPr/>
            </p:nvCxnSpPr>
            <p:spPr>
              <a:xfrm rot="16200000" flipH="1">
                <a:off x="2475748" y="3682521"/>
                <a:ext cx="179694" cy="190810"/>
              </a:xfrm>
              <a:prstGeom prst="bentConnector3">
                <a:avLst>
                  <a:gd name="adj1" fmla="val 50000"/>
                </a:avLst>
              </a:prstGeom>
              <a:solidFill>
                <a:srgbClr val="256389"/>
              </a:solidFill>
              <a:ln>
                <a:solidFill>
                  <a:srgbClr val="646464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13">
                <a:extLst>
                  <a:ext uri="{FF2B5EF4-FFF2-40B4-BE49-F238E27FC236}">
                    <a16:creationId xmlns:a16="http://schemas.microsoft.com/office/drawing/2014/main" id="{FCD6F4B8-AC9C-4C4A-9E61-EE7DA15F5A62}"/>
                  </a:ext>
                </a:extLst>
              </p:cNvPr>
              <p:cNvCxnSpPr>
                <a:stCxn id="23" idx="2"/>
                <a:endCxn id="27" idx="0"/>
              </p:cNvCxnSpPr>
              <p:nvPr/>
            </p:nvCxnSpPr>
            <p:spPr>
              <a:xfrm rot="16200000" flipH="1">
                <a:off x="3238988" y="3682520"/>
                <a:ext cx="179694" cy="190811"/>
              </a:xfrm>
              <a:prstGeom prst="bentConnector3">
                <a:avLst>
                  <a:gd name="adj1" fmla="val 50000"/>
                </a:avLst>
              </a:prstGeom>
              <a:solidFill>
                <a:srgbClr val="256389"/>
              </a:solidFill>
              <a:ln>
                <a:solidFill>
                  <a:srgbClr val="646464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Arrow Connector 13">
                <a:extLst>
                  <a:ext uri="{FF2B5EF4-FFF2-40B4-BE49-F238E27FC236}">
                    <a16:creationId xmlns:a16="http://schemas.microsoft.com/office/drawing/2014/main" id="{EF5A31E5-E442-445C-BC98-12F53400DDA3}"/>
                  </a:ext>
                </a:extLst>
              </p:cNvPr>
              <p:cNvCxnSpPr>
                <a:stCxn id="23" idx="2"/>
                <a:endCxn id="26" idx="0"/>
              </p:cNvCxnSpPr>
              <p:nvPr/>
            </p:nvCxnSpPr>
            <p:spPr>
              <a:xfrm rot="5400000">
                <a:off x="3048178" y="3682521"/>
                <a:ext cx="179694" cy="190810"/>
              </a:xfrm>
              <a:prstGeom prst="bentConnector3">
                <a:avLst>
                  <a:gd name="adj1" fmla="val 50000"/>
                </a:avLst>
              </a:prstGeom>
              <a:solidFill>
                <a:srgbClr val="256389"/>
              </a:solidFill>
              <a:ln>
                <a:solidFill>
                  <a:srgbClr val="646464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TextBox 15">
              <a:extLst>
                <a:ext uri="{FF2B5EF4-FFF2-40B4-BE49-F238E27FC236}">
                  <a16:creationId xmlns:a16="http://schemas.microsoft.com/office/drawing/2014/main" id="{4F7FFD21-69E5-470F-83E5-1F0A956902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8909" y="3798109"/>
              <a:ext cx="120706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000" b="1" i="1">
                  <a:solidFill>
                    <a:srgbClr val="646464"/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Posting Tree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FB1D33C-C8CF-32B1-7331-E686B9A89DF5}"/>
              </a:ext>
            </a:extLst>
          </p:cNvPr>
          <p:cNvGrpSpPr/>
          <p:nvPr/>
        </p:nvGrpSpPr>
        <p:grpSpPr>
          <a:xfrm>
            <a:off x="5569459" y="3187613"/>
            <a:ext cx="1115690" cy="509707"/>
            <a:chOff x="5569459" y="3187613"/>
            <a:chExt cx="1115690" cy="509707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AFC2F14F-806A-4210-B122-D0337DDA86BD}"/>
                </a:ext>
              </a:extLst>
            </p:cNvPr>
            <p:cNvGrpSpPr/>
            <p:nvPr/>
          </p:nvGrpSpPr>
          <p:grpSpPr>
            <a:xfrm>
              <a:off x="5569459" y="3187613"/>
              <a:ext cx="888370" cy="182880"/>
              <a:chOff x="3302630" y="2860998"/>
              <a:chExt cx="888370" cy="182880"/>
            </a:xfrm>
            <a:solidFill>
              <a:schemeClr val="bg1">
                <a:lumMod val="50000"/>
              </a:schemeClr>
            </a:solidFill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76CD61F-F06A-40A6-8EC6-4D9C9838F2C5}"/>
                  </a:ext>
                </a:extLst>
              </p:cNvPr>
              <p:cNvSpPr/>
              <p:nvPr/>
            </p:nvSpPr>
            <p:spPr>
              <a:xfrm>
                <a:off x="3302630" y="2860998"/>
                <a:ext cx="274320" cy="182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endParaRPr lang="en-US" sz="2400" b="1" dirty="0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CDFEF737-381B-4DCB-BD1E-5AB2496EAA6B}"/>
                  </a:ext>
                </a:extLst>
              </p:cNvPr>
              <p:cNvSpPr/>
              <p:nvPr/>
            </p:nvSpPr>
            <p:spPr>
              <a:xfrm>
                <a:off x="3609655" y="2860998"/>
                <a:ext cx="274320" cy="182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endParaRPr lang="en-US" sz="2400" b="1" dirty="0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F5552D96-F1CF-4FCC-88D0-540A4D90DBEB}"/>
                  </a:ext>
                </a:extLst>
              </p:cNvPr>
              <p:cNvSpPr/>
              <p:nvPr/>
            </p:nvSpPr>
            <p:spPr>
              <a:xfrm>
                <a:off x="3916680" y="2860998"/>
                <a:ext cx="274320" cy="182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endParaRPr lang="en-US" sz="2400" b="1" dirty="0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endParaRPr>
              </a:p>
            </p:txBody>
          </p:sp>
        </p:grpSp>
        <p:sp>
          <p:nvSpPr>
            <p:cNvPr id="69" name="TextBox 15">
              <a:extLst>
                <a:ext uri="{FF2B5EF4-FFF2-40B4-BE49-F238E27FC236}">
                  <a16:creationId xmlns:a16="http://schemas.microsoft.com/office/drawing/2014/main" id="{3110E33F-AEF6-4D23-8DB4-20F9B69C1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9459" y="3389543"/>
              <a:ext cx="111569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000" b="1" i="1">
                  <a:solidFill>
                    <a:srgbClr val="646464"/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Posting List</a:t>
              </a:r>
            </a:p>
          </p:txBody>
        </p:sp>
      </p:grpSp>
      <p:sp>
        <p:nvSpPr>
          <p:cNvPr id="5" name="TextBox 15">
            <a:extLst>
              <a:ext uri="{FF2B5EF4-FFF2-40B4-BE49-F238E27FC236}">
                <a16:creationId xmlns:a16="http://schemas.microsoft.com/office/drawing/2014/main" id="{57976C80-D57A-376A-895C-11FDFCF38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6849" y="1105023"/>
            <a:ext cx="10627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sp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sz="2000" dirty="0">
                <a:solidFill>
                  <a:srgbClr val="646464"/>
                </a:solidFill>
              </a:rPr>
              <a:t>Dictionary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DE94A94-5590-0B03-975D-FA243505B150}"/>
              </a:ext>
            </a:extLst>
          </p:cNvPr>
          <p:cNvGrpSpPr/>
          <p:nvPr/>
        </p:nvGrpSpPr>
        <p:grpSpPr>
          <a:xfrm>
            <a:off x="5562600" y="1452389"/>
            <a:ext cx="2705686" cy="1219200"/>
            <a:chOff x="5899185" y="1223789"/>
            <a:chExt cx="2705686" cy="12192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B41AEB4-C4FC-49A3-BB89-C1431B72A018}"/>
                </a:ext>
              </a:extLst>
            </p:cNvPr>
            <p:cNvSpPr/>
            <p:nvPr/>
          </p:nvSpPr>
          <p:spPr>
            <a:xfrm>
              <a:off x="6947228" y="1223789"/>
              <a:ext cx="6096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EB235E0-6BF3-4507-B46C-47F2036C9BEA}"/>
                </a:ext>
              </a:extLst>
            </p:cNvPr>
            <p:cNvSpPr/>
            <p:nvPr/>
          </p:nvSpPr>
          <p:spPr>
            <a:xfrm>
              <a:off x="6248532" y="1719089"/>
              <a:ext cx="6096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4A9966-4131-4D68-9670-B4581188886A}"/>
                </a:ext>
              </a:extLst>
            </p:cNvPr>
            <p:cNvSpPr/>
            <p:nvPr/>
          </p:nvSpPr>
          <p:spPr>
            <a:xfrm>
              <a:off x="7645923" y="1719089"/>
              <a:ext cx="6096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9FFDDCA-7A75-4CDC-BD7B-5C0E2B45C42C}"/>
                </a:ext>
              </a:extLst>
            </p:cNvPr>
            <p:cNvSpPr/>
            <p:nvPr/>
          </p:nvSpPr>
          <p:spPr>
            <a:xfrm>
              <a:off x="5899185" y="2214389"/>
              <a:ext cx="6096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C1FE86-2A57-43FE-A93E-8D4FE57F0D1B}"/>
                </a:ext>
              </a:extLst>
            </p:cNvPr>
            <p:cNvSpPr/>
            <p:nvPr/>
          </p:nvSpPr>
          <p:spPr>
            <a:xfrm>
              <a:off x="6597880" y="2214389"/>
              <a:ext cx="6096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C06BF99-0AE1-4313-A839-B3E6E5EC6B32}"/>
                </a:ext>
              </a:extLst>
            </p:cNvPr>
            <p:cNvSpPr/>
            <p:nvPr/>
          </p:nvSpPr>
          <p:spPr>
            <a:xfrm>
              <a:off x="7296575" y="2214389"/>
              <a:ext cx="6096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1F0D43-9D20-4FDF-ACD4-FA1934089386}"/>
                </a:ext>
              </a:extLst>
            </p:cNvPr>
            <p:cNvSpPr/>
            <p:nvPr/>
          </p:nvSpPr>
          <p:spPr>
            <a:xfrm>
              <a:off x="7995271" y="2214389"/>
              <a:ext cx="609600" cy="2286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rgbClr val="6464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1A8EC0D-6693-4542-8D44-2B9F93F7980F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 rot="5400000">
              <a:off x="6769330" y="1236391"/>
              <a:ext cx="266700" cy="698696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646464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3">
              <a:extLst>
                <a:ext uri="{FF2B5EF4-FFF2-40B4-BE49-F238E27FC236}">
                  <a16:creationId xmlns:a16="http://schemas.microsoft.com/office/drawing/2014/main" id="{B33F6865-3C21-426E-BFC8-BE026AA723DE}"/>
                </a:ext>
              </a:extLst>
            </p:cNvPr>
            <p:cNvCxnSpPr>
              <a:stCxn id="7" idx="2"/>
              <a:endCxn id="9" idx="0"/>
            </p:cNvCxnSpPr>
            <p:nvPr/>
          </p:nvCxnSpPr>
          <p:spPr>
            <a:xfrm rot="16200000" flipH="1">
              <a:off x="7468025" y="1236391"/>
              <a:ext cx="266700" cy="698695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646464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3">
              <a:extLst>
                <a:ext uri="{FF2B5EF4-FFF2-40B4-BE49-F238E27FC236}">
                  <a16:creationId xmlns:a16="http://schemas.microsoft.com/office/drawing/2014/main" id="{2D289940-61A9-45D2-8A3E-3E134265B205}"/>
                </a:ext>
              </a:extLst>
            </p:cNvPr>
            <p:cNvCxnSpPr>
              <a:stCxn id="8" idx="2"/>
              <a:endCxn id="10" idx="0"/>
            </p:cNvCxnSpPr>
            <p:nvPr/>
          </p:nvCxnSpPr>
          <p:spPr>
            <a:xfrm rot="5400000">
              <a:off x="6245309" y="1906366"/>
              <a:ext cx="266700" cy="349347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646464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3">
              <a:extLst>
                <a:ext uri="{FF2B5EF4-FFF2-40B4-BE49-F238E27FC236}">
                  <a16:creationId xmlns:a16="http://schemas.microsoft.com/office/drawing/2014/main" id="{16F99D17-9018-4FBA-B87B-E2D364DFAB39}"/>
                </a:ext>
              </a:extLst>
            </p:cNvPr>
            <p:cNvCxnSpPr>
              <a:stCxn id="8" idx="2"/>
              <a:endCxn id="11" idx="0"/>
            </p:cNvCxnSpPr>
            <p:nvPr/>
          </p:nvCxnSpPr>
          <p:spPr>
            <a:xfrm rot="16200000" flipH="1">
              <a:off x="6594656" y="1906365"/>
              <a:ext cx="266700" cy="34934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646464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3">
              <a:extLst>
                <a:ext uri="{FF2B5EF4-FFF2-40B4-BE49-F238E27FC236}">
                  <a16:creationId xmlns:a16="http://schemas.microsoft.com/office/drawing/2014/main" id="{FC44D46C-E2CC-44F3-8B84-1C1BD1F37BAF}"/>
                </a:ext>
              </a:extLst>
            </p:cNvPr>
            <p:cNvCxnSpPr>
              <a:stCxn id="9" idx="2"/>
              <a:endCxn id="13" idx="0"/>
            </p:cNvCxnSpPr>
            <p:nvPr/>
          </p:nvCxnSpPr>
          <p:spPr>
            <a:xfrm rot="16200000" flipH="1">
              <a:off x="7992047" y="1906365"/>
              <a:ext cx="266700" cy="34934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646464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3">
              <a:extLst>
                <a:ext uri="{FF2B5EF4-FFF2-40B4-BE49-F238E27FC236}">
                  <a16:creationId xmlns:a16="http://schemas.microsoft.com/office/drawing/2014/main" id="{7160E2F0-E659-4F7A-8DA3-CF7AB3E51360}"/>
                </a:ext>
              </a:extLst>
            </p:cNvPr>
            <p:cNvCxnSpPr>
              <a:stCxn id="9" idx="2"/>
              <a:endCxn id="12" idx="0"/>
            </p:cNvCxnSpPr>
            <p:nvPr/>
          </p:nvCxnSpPr>
          <p:spPr>
            <a:xfrm rot="5400000">
              <a:off x="7642699" y="1906365"/>
              <a:ext cx="266700" cy="349348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646464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 hidden="1">
              <a:extLst>
                <a:ext uri="{FF2B5EF4-FFF2-40B4-BE49-F238E27FC236}">
                  <a16:creationId xmlns:a16="http://schemas.microsoft.com/office/drawing/2014/main" id="{5CF4D58D-F4EC-847B-3924-0478FE71711F}"/>
                </a:ext>
              </a:extLst>
            </p:cNvPr>
            <p:cNvGrpSpPr/>
            <p:nvPr/>
          </p:nvGrpSpPr>
          <p:grpSpPr>
            <a:xfrm>
              <a:off x="6731577" y="2397269"/>
              <a:ext cx="342206" cy="45720"/>
              <a:chOff x="6637714" y="2397269"/>
              <a:chExt cx="342206" cy="45720"/>
            </a:xfrm>
          </p:grpSpPr>
          <p:sp>
            <p:nvSpPr>
              <p:cNvPr id="51" name="magnet">
                <a:extLst>
                  <a:ext uri="{FF2B5EF4-FFF2-40B4-BE49-F238E27FC236}">
                    <a16:creationId xmlns:a16="http://schemas.microsoft.com/office/drawing/2014/main" id="{D2AC0739-1B3D-60E1-5EB8-01FE942FB9C1}"/>
                  </a:ext>
                </a:extLst>
              </p:cNvPr>
              <p:cNvSpPr/>
              <p:nvPr/>
            </p:nvSpPr>
            <p:spPr>
              <a:xfrm>
                <a:off x="6637714" y="2397269"/>
                <a:ext cx="45720" cy="457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endParaRPr lang="en-US" sz="14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52" name="magnet">
                <a:extLst>
                  <a:ext uri="{FF2B5EF4-FFF2-40B4-BE49-F238E27FC236}">
                    <a16:creationId xmlns:a16="http://schemas.microsoft.com/office/drawing/2014/main" id="{1D3CD0AB-090D-4319-8906-A48A6A125FF1}"/>
                  </a:ext>
                </a:extLst>
              </p:cNvPr>
              <p:cNvSpPr/>
              <p:nvPr/>
            </p:nvSpPr>
            <p:spPr>
              <a:xfrm>
                <a:off x="6934200" y="2397269"/>
                <a:ext cx="45720" cy="457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endParaRPr lang="en-US" sz="14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</p:grpSp>
      </p:grpSp>
      <p:cxnSp>
        <p:nvCxnSpPr>
          <p:cNvPr id="20" name="Straight Arrow Connector 6">
            <a:extLst>
              <a:ext uri="{FF2B5EF4-FFF2-40B4-BE49-F238E27FC236}">
                <a16:creationId xmlns:a16="http://schemas.microsoft.com/office/drawing/2014/main" id="{D566FED3-3472-CF39-9A00-183862D3B47B}"/>
              </a:ext>
            </a:extLst>
          </p:cNvPr>
          <p:cNvCxnSpPr>
            <a:cxnSpLocks/>
            <a:stCxn id="10" idx="2"/>
            <a:endCxn id="64" idx="1"/>
          </p:cNvCxnSpPr>
          <p:nvPr/>
        </p:nvCxnSpPr>
        <p:spPr bwMode="auto">
          <a:xfrm rot="5400000">
            <a:off x="5414698" y="2826351"/>
            <a:ext cx="607464" cy="297941"/>
          </a:xfrm>
          <a:prstGeom prst="curvedConnector4">
            <a:avLst>
              <a:gd name="adj1" fmla="val 42474"/>
              <a:gd name="adj2" fmla="val 176727"/>
            </a:avLst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38" name="Straight Arrow Connector 6">
            <a:extLst>
              <a:ext uri="{FF2B5EF4-FFF2-40B4-BE49-F238E27FC236}">
                <a16:creationId xmlns:a16="http://schemas.microsoft.com/office/drawing/2014/main" id="{18484621-D67A-A2C1-20A4-31F41CAEF38F}"/>
              </a:ext>
            </a:extLst>
          </p:cNvPr>
          <p:cNvCxnSpPr>
            <a:cxnSpLocks/>
            <a:stCxn id="52" idx="2"/>
            <a:endCxn id="21" idx="0"/>
          </p:cNvCxnSpPr>
          <p:nvPr/>
        </p:nvCxnSpPr>
        <p:spPr bwMode="auto">
          <a:xfrm rot="16200000" flipH="1">
            <a:off x="7039706" y="2346220"/>
            <a:ext cx="423737" cy="1074473"/>
          </a:xfrm>
          <a:prstGeom prst="curvedConnector3">
            <a:avLst>
              <a:gd name="adj1" fmla="val 50000"/>
            </a:avLst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cxnSp>
        <p:nvCxnSpPr>
          <p:cNvPr id="47" name="Straight Arrow Connector 6">
            <a:extLst>
              <a:ext uri="{FF2B5EF4-FFF2-40B4-BE49-F238E27FC236}">
                <a16:creationId xmlns:a16="http://schemas.microsoft.com/office/drawing/2014/main" id="{47286F61-76FA-C291-EE95-68DD5C934832}"/>
              </a:ext>
            </a:extLst>
          </p:cNvPr>
          <p:cNvCxnSpPr>
            <a:cxnSpLocks/>
            <a:stCxn id="51" idx="2"/>
            <a:endCxn id="44" idx="1"/>
          </p:cNvCxnSpPr>
          <p:nvPr/>
        </p:nvCxnSpPr>
        <p:spPr bwMode="auto">
          <a:xfrm rot="5400000">
            <a:off x="5376409" y="2864640"/>
            <a:ext cx="1234494" cy="848393"/>
          </a:xfrm>
          <a:prstGeom prst="curvedConnector4">
            <a:avLst>
              <a:gd name="adj1" fmla="val 46296"/>
              <a:gd name="adj2" fmla="val 126945"/>
            </a:avLst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oval" w="sm" len="sm"/>
            <a:tailEnd type="triangle" w="med" len="med"/>
          </a:ln>
          <a:effectLst/>
        </p:spPr>
      </p:cxnSp>
      <p:sp>
        <p:nvSpPr>
          <p:cNvPr id="58" name="node modlog">
            <a:extLst>
              <a:ext uri="{FF2B5EF4-FFF2-40B4-BE49-F238E27FC236}">
                <a16:creationId xmlns:a16="http://schemas.microsoft.com/office/drawing/2014/main" id="{FC4F6621-084C-F0B3-2C8D-CF004FDA869B}"/>
              </a:ext>
            </a:extLst>
          </p:cNvPr>
          <p:cNvSpPr/>
          <p:nvPr/>
        </p:nvSpPr>
        <p:spPr bwMode="auto">
          <a:xfrm>
            <a:off x="7992526" y="1409143"/>
            <a:ext cx="914400" cy="548640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 cap="flat" cmpd="sng" algn="ctr">
            <a:solidFill>
              <a:srgbClr val="64646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>
                <a:solidFill>
                  <a:schemeClr val="bg1"/>
                </a:solidFill>
                <a:latin typeface="Inconsolata" panose="00000509000000000000" pitchFamily="49" charset="0"/>
              </a:rPr>
              <a:t>m</a:t>
            </a:r>
            <a:r>
              <a:rPr lang="en-US" sz="1600" b="1">
                <a:solidFill>
                  <a:schemeClr val="bg1"/>
                </a:solidFill>
                <a:latin typeface="Inconsolata" panose="00000509000000000000" pitchFamily="49" charset="0"/>
              </a:rPr>
              <a:t>od </a:t>
            </a:r>
            <a:r>
              <a:rPr lang="en-US" sz="1600" b="1" dirty="0">
                <a:solidFill>
                  <a:schemeClr val="bg1"/>
                </a:solidFill>
                <a:latin typeface="Inconsolata" panose="00000509000000000000" pitchFamily="49" charset="0"/>
              </a:rPr>
              <a:t>log</a:t>
            </a:r>
          </a:p>
        </p:txBody>
      </p:sp>
      <p:sp>
        <p:nvSpPr>
          <p:cNvPr id="59" name="TextBox 15">
            <a:extLst>
              <a:ext uri="{FF2B5EF4-FFF2-40B4-BE49-F238E27FC236}">
                <a16:creationId xmlns:a16="http://schemas.microsoft.com/office/drawing/2014/main" id="{7654BAA1-2387-B023-A36F-A4B76F05E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1105023"/>
            <a:ext cx="120225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sp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sz="2000" dirty="0">
                <a:solidFill>
                  <a:srgbClr val="646464"/>
                </a:solidFill>
              </a:rPr>
              <a:t>Pending List</a:t>
            </a:r>
          </a:p>
        </p:txBody>
      </p:sp>
      <p:sp>
        <p:nvSpPr>
          <p:cNvPr id="60" name="Cursor Arrow">
            <a:extLst>
              <a:ext uri="{FF2B5EF4-FFF2-40B4-BE49-F238E27FC236}">
                <a16:creationId xmlns:a16="http://schemas.microsoft.com/office/drawing/2014/main" id="{10D1E300-33A0-DC66-7743-FACC6B3E112D}"/>
              </a:ext>
            </a:extLst>
          </p:cNvPr>
          <p:cNvSpPr/>
          <p:nvPr/>
        </p:nvSpPr>
        <p:spPr>
          <a:xfrm>
            <a:off x="8305983" y="758190"/>
            <a:ext cx="365760" cy="365760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1616CD4-9F1A-6D00-F3CE-415C7E9D94B6}"/>
              </a:ext>
            </a:extLst>
          </p:cNvPr>
          <p:cNvGrpSpPr/>
          <p:nvPr/>
        </p:nvGrpSpPr>
        <p:grpSpPr>
          <a:xfrm>
            <a:off x="5569459" y="3814643"/>
            <a:ext cx="1195395" cy="509707"/>
            <a:chOff x="5569459" y="3814643"/>
            <a:chExt cx="1195395" cy="509707"/>
          </a:xfrm>
        </p:grpSpPr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5831B49C-7498-EE37-8CAD-34093897D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9459" y="4016573"/>
              <a:ext cx="111569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000" b="1" i="1">
                  <a:solidFill>
                    <a:srgbClr val="646464"/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r>
                <a:rPr lang="en-US" dirty="0"/>
                <a:t>Posting List</a:t>
              </a:r>
            </a:p>
          </p:txBody>
        </p: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9390B3F7-7871-3042-29ED-CE0C6E169A52}"/>
                </a:ext>
              </a:extLst>
            </p:cNvPr>
            <p:cNvGrpSpPr/>
            <p:nvPr/>
          </p:nvGrpSpPr>
          <p:grpSpPr>
            <a:xfrm>
              <a:off x="5569459" y="3814643"/>
              <a:ext cx="1195395" cy="182880"/>
              <a:chOff x="5670930" y="3814643"/>
              <a:chExt cx="1195395" cy="18288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A1C423B-0D3C-49CF-F0E2-3282AE27AF28}"/>
                  </a:ext>
                </a:extLst>
              </p:cNvPr>
              <p:cNvSpPr/>
              <p:nvPr/>
            </p:nvSpPr>
            <p:spPr>
              <a:xfrm>
                <a:off x="5670930" y="3814643"/>
                <a:ext cx="274320" cy="182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endParaRPr lang="en-US" sz="2400" b="1" dirty="0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3812A02-BFFE-AF08-C38E-5AA68936197E}"/>
                  </a:ext>
                </a:extLst>
              </p:cNvPr>
              <p:cNvSpPr/>
              <p:nvPr/>
            </p:nvSpPr>
            <p:spPr>
              <a:xfrm>
                <a:off x="5977955" y="3814643"/>
                <a:ext cx="274320" cy="182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endParaRPr lang="en-US" sz="2400" b="1" dirty="0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4FECF55-9B8F-04A3-79F1-E68FCEF6D26A}"/>
                  </a:ext>
                </a:extLst>
              </p:cNvPr>
              <p:cNvSpPr/>
              <p:nvPr/>
            </p:nvSpPr>
            <p:spPr>
              <a:xfrm>
                <a:off x="6284980" y="3814643"/>
                <a:ext cx="274320" cy="182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endParaRPr lang="en-US" sz="2400" b="1" dirty="0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53A64390-0048-2D5F-AC2C-3F9CBDBD86FB}"/>
                  </a:ext>
                </a:extLst>
              </p:cNvPr>
              <p:cNvSpPr/>
              <p:nvPr/>
            </p:nvSpPr>
            <p:spPr>
              <a:xfrm>
                <a:off x="6592005" y="3814643"/>
                <a:ext cx="274320" cy="18288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rgbClr val="64646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endParaRPr lang="en-US" sz="2400" b="1" dirty="0">
                  <a:solidFill>
                    <a:srgbClr val="4B4B4B"/>
                  </a:solidFill>
                  <a:latin typeface="Open Sans" pitchFamily="34" charset="0"/>
                  <a:ea typeface="Open Sans" pitchFamily="34" charset="0"/>
                  <a:cs typeface="Open Sans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9224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4.69136E-6 L -0.17691 -4.69136E-6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5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0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7A5D4-BCE0-EF03-89E7-FF97DA31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86EF5-7105-C9CC-9A07-8E9AE16F4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971550"/>
            <a:ext cx="6553200" cy="3657600"/>
          </a:xfrm>
        </p:spPr>
        <p:txBody>
          <a:bodyPr/>
          <a:lstStyle/>
          <a:p>
            <a:r>
              <a:rPr lang="en-US" dirty="0"/>
              <a:t>Inverted indexes search data based on its contents.</a:t>
            </a:r>
          </a:p>
          <a:p>
            <a:pPr lvl="1"/>
            <a:r>
              <a:rPr lang="en-US" dirty="0"/>
              <a:t>There is a little magic to tweak terms based on linguistic models.</a:t>
            </a:r>
          </a:p>
          <a:p>
            <a:pPr lvl="1"/>
            <a:r>
              <a:rPr lang="en-US" dirty="0"/>
              <a:t>Example: Normalization ("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Wu-Tang</a:t>
            </a:r>
            <a:r>
              <a:rPr lang="en-US" dirty="0"/>
              <a:t>" matches "</a:t>
            </a:r>
            <a:r>
              <a:rPr lang="en-US" b="1" dirty="0">
                <a:solidFill>
                  <a:schemeClr val="accent1"/>
                </a:solidFill>
                <a:latin typeface="Inconsolata" panose="00000509000000000000" pitchFamily="49" charset="0"/>
              </a:rPr>
              <a:t>Wu Tang</a:t>
            </a:r>
            <a:r>
              <a:rPr lang="en-US" dirty="0"/>
              <a:t>").</a:t>
            </a:r>
          </a:p>
          <a:p>
            <a:pPr lvl="1"/>
            <a:endParaRPr lang="en-US" dirty="0"/>
          </a:p>
          <a:p>
            <a:r>
              <a:rPr lang="en-US" dirty="0"/>
              <a:t>Instead of searching for records containing exact keywords (e.g., "Wu-Tang"), an application may want search for records that are related to topics (e.g., "hip-hop groups whose lyrics reference kung-fu cinema").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89C955-552F-02B6-12DA-01A0388547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0832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A9147-C198-B701-7FE7-7BEE2D605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Search</a:t>
            </a:r>
          </a:p>
        </p:txBody>
      </p:sp>
      <p:sp>
        <p:nvSpPr>
          <p:cNvPr id="7" name="Arrow">
            <a:extLst>
              <a:ext uri="{FF2B5EF4-FFF2-40B4-BE49-F238E27FC236}">
                <a16:creationId xmlns:a16="http://schemas.microsoft.com/office/drawing/2014/main" id="{6650C296-7ED6-BBB9-B7AD-3CC1F938D6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82441" y="1750510"/>
            <a:ext cx="457200" cy="457200"/>
          </a:xfrm>
          <a:prstGeom prst="rightArrow">
            <a:avLst>
              <a:gd name="adj1" fmla="val 50000"/>
              <a:gd name="adj2" fmla="val 49673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000" dirty="0">
              <a:solidFill>
                <a:srgbClr val="C30037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814C4B5-93BE-ADC5-2C06-149B64C1FDC8}"/>
              </a:ext>
            </a:extLst>
          </p:cNvPr>
          <p:cNvGraphicFramePr>
            <a:graphicFrameLocks noGrp="1"/>
          </p:cNvGraphicFramePr>
          <p:nvPr/>
        </p:nvGraphicFramePr>
        <p:xfrm>
          <a:off x="176359" y="1324791"/>
          <a:ext cx="2856411" cy="12801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19988">
                  <a:extLst>
                    <a:ext uri="{9D8B030D-6E8A-4147-A177-3AD203B41FA5}">
                      <a16:colId xmlns:a16="http://schemas.microsoft.com/office/drawing/2014/main" val="3606947816"/>
                    </a:ext>
                  </a:extLst>
                </a:gridCol>
                <a:gridCol w="2003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21441413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id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name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year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11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  <a:hlinkClick r:id="rId3"/>
                        </a:rPr>
                        <a:t>Enter the Wu-Tang</a:t>
                      </a:r>
                      <a:endParaRPr lang="en-US" sz="1500" dirty="0">
                        <a:latin typeface="Inconsolata" panose="00000509000000000000" pitchFamily="49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1993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22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  <a:hlinkClick r:id="rId4"/>
                        </a:rPr>
                        <a:t>St.Ides Mix Tape</a:t>
                      </a:r>
                      <a:endParaRPr lang="en-US" sz="1500" dirty="0">
                        <a:latin typeface="Inconsolata" panose="00000509000000000000" pitchFamily="49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1994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33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  <a:hlinkClick r:id="rId5"/>
                        </a:rPr>
                        <a:t>Liquid Swords</a:t>
                      </a:r>
                      <a:endParaRPr lang="en-US" sz="1500" dirty="0">
                        <a:latin typeface="Inconsolata" panose="00000509000000000000" pitchFamily="49" charset="0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Inconsolata" panose="00000509000000000000" pitchFamily="49" charset="0"/>
                        </a:rPr>
                        <a:t>1995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247700"/>
                  </a:ext>
                </a:extLst>
              </a:tr>
            </a:tbl>
          </a:graphicData>
        </a:graphic>
      </p:graphicFrame>
      <p:sp>
        <p:nvSpPr>
          <p:cNvPr id="10" name="Arrow">
            <a:extLst>
              <a:ext uri="{FF2B5EF4-FFF2-40B4-BE49-F238E27FC236}">
                <a16:creationId xmlns:a16="http://schemas.microsoft.com/office/drawing/2014/main" id="{3B433E7A-F514-9881-0C6B-45D92479C9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67785" y="1750510"/>
            <a:ext cx="457200" cy="457200"/>
          </a:xfrm>
          <a:prstGeom prst="rightArrow">
            <a:avLst>
              <a:gd name="adj1" fmla="val 50000"/>
              <a:gd name="adj2" fmla="val 49673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000" dirty="0">
              <a:solidFill>
                <a:srgbClr val="C30037"/>
              </a:solidFill>
            </a:endParaRP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68F29C5-8919-08B1-C3C2-726CB839163C}"/>
              </a:ext>
            </a:extLst>
          </p:cNvPr>
          <p:cNvGrpSpPr/>
          <p:nvPr/>
        </p:nvGrpSpPr>
        <p:grpSpPr>
          <a:xfrm>
            <a:off x="6374657" y="1018774"/>
            <a:ext cx="2563595" cy="1651243"/>
            <a:chOff x="6374656" y="1018773"/>
            <a:chExt cx="2563595" cy="1651242"/>
          </a:xfrm>
        </p:grpSpPr>
        <p:sp>
          <p:nvSpPr>
            <p:cNvPr id="15" name="Text Box 4">
              <a:extLst>
                <a:ext uri="{FF2B5EF4-FFF2-40B4-BE49-F238E27FC236}">
                  <a16:creationId xmlns:a16="http://schemas.microsoft.com/office/drawing/2014/main" id="{51E0149C-CF14-234B-2FF7-7F9D21162D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7931" y="1389855"/>
              <a:ext cx="2560320" cy="128016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DE7406B-D931-FD86-BA15-CACD6124B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4656" y="1018773"/>
              <a:ext cx="1690736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Embeddings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F94BDE0-2027-02D3-7B3A-DA91B30D2042}"/>
                </a:ext>
              </a:extLst>
            </p:cNvPr>
            <p:cNvGrpSpPr/>
            <p:nvPr/>
          </p:nvGrpSpPr>
          <p:grpSpPr>
            <a:xfrm>
              <a:off x="6423154" y="1407271"/>
              <a:ext cx="2369559" cy="849294"/>
              <a:chOff x="6858000" y="1651737"/>
              <a:chExt cx="2369559" cy="849294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2D0AA45-54E3-6887-E3D8-672ED5179B0B}"/>
                  </a:ext>
                </a:extLst>
              </p:cNvPr>
              <p:cNvSpPr txBox="1"/>
              <p:nvPr/>
            </p:nvSpPr>
            <p:spPr>
              <a:xfrm>
                <a:off x="6858000" y="1651737"/>
                <a:ext cx="236955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Id1 → [0.32, 0.78, 0.30, ...]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DD3D378-17E5-FF4B-01BB-6C4F94119EC2}"/>
                  </a:ext>
                </a:extLst>
              </p:cNvPr>
              <p:cNvSpPr txBox="1"/>
              <p:nvPr/>
            </p:nvSpPr>
            <p:spPr>
              <a:xfrm>
                <a:off x="6858000" y="1937884"/>
                <a:ext cx="236955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Id2 → [0.99, 0.19, 0.81, ...]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CADB7DF-1542-61E1-4E31-A48036E7E23F}"/>
                  </a:ext>
                </a:extLst>
              </p:cNvPr>
              <p:cNvSpPr txBox="1"/>
              <p:nvPr/>
            </p:nvSpPr>
            <p:spPr>
              <a:xfrm>
                <a:off x="6858000" y="2224032"/>
                <a:ext cx="236955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accent1"/>
                    </a:solidFill>
                    <a:latin typeface="Inconsolata" panose="00000509000000000000" pitchFamily="49" charset="0"/>
                  </a:rPr>
                  <a:t>Id3 → [0.01, 0.18, 0.85, ...]</a:t>
                </a: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AE2C3A6-0FAE-C92C-6751-7FB91C8B164F}"/>
                </a:ext>
              </a:extLst>
            </p:cNvPr>
            <p:cNvSpPr txBox="1"/>
            <p:nvPr/>
          </p:nvSpPr>
          <p:spPr>
            <a:xfrm>
              <a:off x="7563388" y="2198608"/>
              <a:ext cx="28084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⋮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41A6E87-6AF1-75FB-2AEE-9B25D875CC4E}"/>
              </a:ext>
            </a:extLst>
          </p:cNvPr>
          <p:cNvGrpSpPr/>
          <p:nvPr/>
        </p:nvGrpSpPr>
        <p:grpSpPr>
          <a:xfrm>
            <a:off x="3514993" y="1330234"/>
            <a:ext cx="2377440" cy="297567"/>
            <a:chOff x="4023360" y="2274183"/>
            <a:chExt cx="2377440" cy="297567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81FA4B7-D99D-1707-77E0-9B98195938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303520" y="2277118"/>
              <a:ext cx="1097280" cy="291697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C11A031-5EEC-9572-0008-D49E922487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023360" y="2274183"/>
              <a:ext cx="1097280" cy="297567"/>
            </a:xfrm>
            <a:prstGeom prst="rect">
              <a:avLst/>
            </a:prstGeom>
          </p:spPr>
        </p:pic>
      </p:grpSp>
      <p:sp>
        <p:nvSpPr>
          <p:cNvPr id="26" name="Arrow">
            <a:extLst>
              <a:ext uri="{FF2B5EF4-FFF2-40B4-BE49-F238E27FC236}">
                <a16:creationId xmlns:a16="http://schemas.microsoft.com/office/drawing/2014/main" id="{B9E94F00-5158-9FA1-F8B0-44C4E18C528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7473574" y="2774050"/>
            <a:ext cx="457200" cy="457200"/>
          </a:xfrm>
          <a:prstGeom prst="rightArrow">
            <a:avLst>
              <a:gd name="adj1" fmla="val 50000"/>
              <a:gd name="adj2" fmla="val 49673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000" dirty="0">
              <a:solidFill>
                <a:srgbClr val="C30037"/>
              </a:solidFill>
            </a:endParaRPr>
          </a:p>
        </p:txBody>
      </p:sp>
      <p:sp>
        <p:nvSpPr>
          <p:cNvPr id="31" name="Cloud 30">
            <a:extLst>
              <a:ext uri="{FF2B5EF4-FFF2-40B4-BE49-F238E27FC236}">
                <a16:creationId xmlns:a16="http://schemas.microsoft.com/office/drawing/2014/main" id="{6798AEB3-455A-3064-2718-F9D0C90E0220}"/>
              </a:ext>
            </a:extLst>
          </p:cNvPr>
          <p:cNvSpPr/>
          <p:nvPr/>
        </p:nvSpPr>
        <p:spPr>
          <a:xfrm>
            <a:off x="6825874" y="3335286"/>
            <a:ext cx="1752600" cy="944842"/>
          </a:xfrm>
          <a:prstGeom prst="cloud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+mj-lt"/>
              </a:rPr>
              <a:t>Vector</a:t>
            </a:r>
          </a:p>
          <a:p>
            <a:pPr algn="ctr"/>
            <a:r>
              <a:rPr lang="en-US" b="1" dirty="0">
                <a:latin typeface="+mj-lt"/>
              </a:rPr>
              <a:t>Index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63C6BC-CABD-A290-BA40-7EAC34B068AF}"/>
              </a:ext>
            </a:extLst>
          </p:cNvPr>
          <p:cNvSpPr txBox="1"/>
          <p:nvPr/>
        </p:nvSpPr>
        <p:spPr>
          <a:xfrm>
            <a:off x="6670482" y="4326826"/>
            <a:ext cx="2063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hlinkClick r:id="rId8"/>
              </a:rPr>
              <a:t>HNSW</a:t>
            </a:r>
            <a:r>
              <a:rPr lang="en-US" sz="1400" dirty="0"/>
              <a:t>, </a:t>
            </a:r>
            <a:r>
              <a:rPr lang="en-US" sz="1400" dirty="0" err="1"/>
              <a:t>IVFFlat</a:t>
            </a:r>
            <a:br>
              <a:rPr lang="en-US" sz="1400" dirty="0"/>
            </a:br>
            <a:r>
              <a:rPr lang="en-US" sz="1400" dirty="0">
                <a:hlinkClick r:id="rId9"/>
              </a:rPr>
              <a:t>Meta </a:t>
            </a:r>
            <a:r>
              <a:rPr lang="en-US" sz="1400" dirty="0" err="1">
                <a:hlinkClick r:id="rId9"/>
              </a:rPr>
              <a:t>Faiss</a:t>
            </a:r>
            <a:r>
              <a:rPr lang="en-US" sz="1400" dirty="0"/>
              <a:t>, </a:t>
            </a:r>
            <a:r>
              <a:rPr lang="en-US" sz="1400" dirty="0">
                <a:hlinkClick r:id="rId10"/>
              </a:rPr>
              <a:t>Spotify Annoy</a:t>
            </a: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347736-099A-C797-97F7-701EEC5FB07C}"/>
              </a:ext>
            </a:extLst>
          </p:cNvPr>
          <p:cNvSpPr txBox="1"/>
          <p:nvPr/>
        </p:nvSpPr>
        <p:spPr>
          <a:xfrm>
            <a:off x="4737903" y="2876979"/>
            <a:ext cx="19175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[0.02, 0.10, 0.24, ...]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80F93EA-D963-0042-1366-2664BAAD5B94}"/>
              </a:ext>
            </a:extLst>
          </p:cNvPr>
          <p:cNvGrpSpPr/>
          <p:nvPr/>
        </p:nvGrpSpPr>
        <p:grpSpPr>
          <a:xfrm>
            <a:off x="3789313" y="1794444"/>
            <a:ext cx="1828800" cy="369332"/>
            <a:chOff x="3789313" y="1774849"/>
            <a:chExt cx="1828800" cy="3693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C8E0C9C-C6FB-D108-A229-3B6916DF5C8B}"/>
                </a:ext>
              </a:extLst>
            </p:cNvPr>
            <p:cNvSpPr/>
            <p:nvPr/>
          </p:nvSpPr>
          <p:spPr>
            <a:xfrm>
              <a:off x="3789313" y="1774849"/>
              <a:ext cx="1828800" cy="36933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rgbClr val="646464"/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square" lIns="45720" rIns="45720" rtlCol="0" anchor="ctr">
              <a:spAutoFit/>
            </a:bodyPr>
            <a:lstStyle/>
            <a:p>
              <a:pPr algn="ctr"/>
              <a:r>
                <a:rPr lang="en-US" dirty="0">
                  <a:latin typeface="Lato" panose="020F0502020204030203" pitchFamily="34" charset="0"/>
                </a:rPr>
                <a:t>Transformer</a:t>
              </a:r>
            </a:p>
          </p:txBody>
        </p:sp>
        <p:grpSp>
          <p:nvGrpSpPr>
            <p:cNvPr id="43" name="Group 42" hidden="1">
              <a:extLst>
                <a:ext uri="{FF2B5EF4-FFF2-40B4-BE49-F238E27FC236}">
                  <a16:creationId xmlns:a16="http://schemas.microsoft.com/office/drawing/2014/main" id="{F57379F0-9096-125D-D4AC-D83550D1A24F}"/>
                </a:ext>
              </a:extLst>
            </p:cNvPr>
            <p:cNvGrpSpPr/>
            <p:nvPr/>
          </p:nvGrpSpPr>
          <p:grpSpPr>
            <a:xfrm>
              <a:off x="4161280" y="2098460"/>
              <a:ext cx="1084866" cy="45720"/>
              <a:chOff x="4526280" y="2291228"/>
              <a:chExt cx="1084866" cy="45720"/>
            </a:xfrm>
          </p:grpSpPr>
          <p:sp>
            <p:nvSpPr>
              <p:cNvPr id="41" name="magnet">
                <a:extLst>
                  <a:ext uri="{FF2B5EF4-FFF2-40B4-BE49-F238E27FC236}">
                    <a16:creationId xmlns:a16="http://schemas.microsoft.com/office/drawing/2014/main" id="{CA71BE0F-2232-17FF-15FE-4540BBBD09CD}"/>
                  </a:ext>
                </a:extLst>
              </p:cNvPr>
              <p:cNvSpPr/>
              <p:nvPr/>
            </p:nvSpPr>
            <p:spPr>
              <a:xfrm>
                <a:off x="4526280" y="2291228"/>
                <a:ext cx="45720" cy="457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itchFamily="49" charset="0"/>
                  <a:ea typeface="Open Sans Light" pitchFamily="34" charset="0"/>
                  <a:cs typeface="Consolas" pitchFamily="49" charset="0"/>
                </a:endParaRPr>
              </a:p>
            </p:txBody>
          </p:sp>
          <p:sp>
            <p:nvSpPr>
              <p:cNvPr id="42" name="magnet">
                <a:extLst>
                  <a:ext uri="{FF2B5EF4-FFF2-40B4-BE49-F238E27FC236}">
                    <a16:creationId xmlns:a16="http://schemas.microsoft.com/office/drawing/2014/main" id="{2962943A-BA84-976E-34CE-B58A6B73206C}"/>
                  </a:ext>
                </a:extLst>
              </p:cNvPr>
              <p:cNvSpPr/>
              <p:nvPr/>
            </p:nvSpPr>
            <p:spPr>
              <a:xfrm>
                <a:off x="5565426" y="2291228"/>
                <a:ext cx="45720" cy="4572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288" tIns="18288" rIns="18288" bIns="18288" rtlCol="0" anchor="ctr"/>
              <a:lstStyle/>
              <a:p>
                <a:pPr algn="ctr"/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itchFamily="49" charset="0"/>
                  <a:ea typeface="Open Sans Light" pitchFamily="34" charset="0"/>
                  <a:cs typeface="Consolas" pitchFamily="49" charset="0"/>
                </a:endParaRPr>
              </a:p>
            </p:txBody>
          </p:sp>
        </p:grpSp>
      </p:grp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4D8A8229-CF04-A27B-CF3C-2B485900318F}"/>
              </a:ext>
            </a:extLst>
          </p:cNvPr>
          <p:cNvCxnSpPr>
            <a:cxnSpLocks/>
            <a:stCxn id="42" idx="2"/>
            <a:endCxn id="48" idx="0"/>
          </p:cNvCxnSpPr>
          <p:nvPr/>
        </p:nvCxnSpPr>
        <p:spPr>
          <a:xfrm rot="16200000" flipH="1">
            <a:off x="5535580" y="1851483"/>
            <a:ext cx="1273005" cy="1897591"/>
          </a:xfrm>
          <a:prstGeom prst="curvedConnector3">
            <a:avLst>
              <a:gd name="adj1" fmla="val 50000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agnet" hidden="1">
            <a:extLst>
              <a:ext uri="{FF2B5EF4-FFF2-40B4-BE49-F238E27FC236}">
                <a16:creationId xmlns:a16="http://schemas.microsoft.com/office/drawing/2014/main" id="{2B807B66-256B-E9D0-AB91-F10897736FA9}"/>
              </a:ext>
            </a:extLst>
          </p:cNvPr>
          <p:cNvSpPr/>
          <p:nvPr/>
        </p:nvSpPr>
        <p:spPr>
          <a:xfrm>
            <a:off x="7098017" y="3436781"/>
            <a:ext cx="45720" cy="457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onsolas" pitchFamily="49" charset="0"/>
              <a:ea typeface="Open Sans Light" pitchFamily="34" charset="0"/>
              <a:cs typeface="Consolas" pitchFamily="49" charset="0"/>
            </a:endParaRPr>
          </a:p>
        </p:txBody>
      </p: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2DF1E49B-C55F-CCC4-ED9D-6260A00566EC}"/>
              </a:ext>
            </a:extLst>
          </p:cNvPr>
          <p:cNvCxnSpPr>
            <a:cxnSpLocks/>
          </p:cNvCxnSpPr>
          <p:nvPr/>
        </p:nvCxnSpPr>
        <p:spPr>
          <a:xfrm flipH="1">
            <a:off x="6140220" y="3790950"/>
            <a:ext cx="64008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6A31393-2A40-AF83-9E5D-3F5A4F78D189}"/>
              </a:ext>
            </a:extLst>
          </p:cNvPr>
          <p:cNvSpPr txBox="1"/>
          <p:nvPr/>
        </p:nvSpPr>
        <p:spPr>
          <a:xfrm>
            <a:off x="4114801" y="3613504"/>
            <a:ext cx="20024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Ranked List of Ids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951772C-871A-6000-C2A6-DC0A2A4BAE16}"/>
              </a:ext>
            </a:extLst>
          </p:cNvPr>
          <p:cNvGrpSpPr/>
          <p:nvPr/>
        </p:nvGrpSpPr>
        <p:grpSpPr>
          <a:xfrm>
            <a:off x="565526" y="2944419"/>
            <a:ext cx="2473312" cy="1073847"/>
            <a:chOff x="565525" y="2944421"/>
            <a:chExt cx="2473312" cy="107384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BCDACE4-0058-62E5-16C9-AB9CA057A896}"/>
                </a:ext>
              </a:extLst>
            </p:cNvPr>
            <p:cNvSpPr txBox="1"/>
            <p:nvPr/>
          </p:nvSpPr>
          <p:spPr>
            <a:xfrm>
              <a:off x="565525" y="3331798"/>
              <a:ext cx="2473312" cy="68647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646464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45720" rIns="45720">
              <a:spAutoFit/>
            </a:bodyPr>
            <a:lstStyle>
              <a:defPPr>
                <a:defRPr lang="en-US"/>
              </a:defPPr>
              <a:lvl1pPr>
                <a:lnSpc>
                  <a:spcPct val="110000"/>
                </a:lnSpc>
                <a:defRPr u="none">
                  <a:solidFill>
                    <a:schemeClr val="tx1">
                      <a:lumMod val="90000"/>
                      <a:lumOff val="10000"/>
                    </a:schemeClr>
                  </a:solidFill>
                  <a:latin typeface="Inconsolata" panose="00000509000000000000" pitchFamily="49" charset="0"/>
                  <a:ea typeface="ＭＳ Ｐゴシック" pitchFamily="-112" charset="-128"/>
                  <a:cs typeface="DejaVu Sans Mono" pitchFamily="49" charset="0"/>
                </a:defRPr>
              </a:lvl1pPr>
              <a:lvl2pPr marL="742950" indent="-285750">
                <a:defRPr sz="2800" u="sng">
                  <a:latin typeface="Times New Roman" pitchFamily="-112" charset="0"/>
                  <a:ea typeface="ＭＳ Ｐゴシック" pitchFamily="-112" charset="-128"/>
                </a:defRPr>
              </a:lvl2pPr>
              <a:lvl3pPr marL="1143000" indent="-228600">
                <a:defRPr sz="2800" u="sng">
                  <a:latin typeface="Times New Roman" pitchFamily="-112" charset="0"/>
                  <a:ea typeface="ＭＳ Ｐゴシック" pitchFamily="-112" charset="-128"/>
                </a:defRPr>
              </a:lvl3pPr>
              <a:lvl4pPr marL="1600200" indent="-228600">
                <a:defRPr sz="2800" u="sng">
                  <a:latin typeface="Times New Roman" pitchFamily="-112" charset="0"/>
                  <a:ea typeface="ＭＳ Ｐゴシック" pitchFamily="-112" charset="-128"/>
                </a:defRPr>
              </a:lvl4pPr>
              <a:lvl5pPr marL="2057400" indent="-228600">
                <a:defRPr sz="2800" u="sng">
                  <a:latin typeface="Times New Roman" pitchFamily="-112" charset="0"/>
                  <a:ea typeface="ＭＳ Ｐゴシック" pitchFamily="-112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-112" charset="0"/>
                  <a:ea typeface="ＭＳ Ｐゴシック" pitchFamily="-112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-112" charset="0"/>
                  <a:ea typeface="ＭＳ Ｐゴシック" pitchFamily="-112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-112" charset="0"/>
                  <a:ea typeface="ＭＳ Ｐゴシック" pitchFamily="-112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latin typeface="Times New Roman" pitchFamily="-112" charset="0"/>
                  <a:ea typeface="ＭＳ Ｐゴシック" pitchFamily="-112" charset="-128"/>
                </a:defRPr>
              </a:lvl9pPr>
            </a:lstStyle>
            <a:p>
              <a:pPr algn="ctr"/>
              <a:r>
                <a:rPr lang="en-US" dirty="0">
                  <a:latin typeface="+mn-lt"/>
                </a:rPr>
                <a:t>Find albums that reference kung-fu cinema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C722BE9-8824-8363-A96F-558C8766F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263" y="2944421"/>
              <a:ext cx="1538160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Query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1BD3170-9391-4229-D158-3C1E66157574}"/>
              </a:ext>
            </a:extLst>
          </p:cNvPr>
          <p:cNvSpPr txBox="1"/>
          <p:nvPr/>
        </p:nvSpPr>
        <p:spPr>
          <a:xfrm>
            <a:off x="169716" y="893191"/>
            <a:ext cx="28696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  <a:latin typeface="Inconsolata" panose="00000509000000000000" pitchFamily="49" charset="0"/>
              </a:rPr>
              <a:t>Album</a:t>
            </a:r>
            <a:r>
              <a:rPr lang="en-US" sz="2000" dirty="0">
                <a:solidFill>
                  <a:schemeClr val="accent1"/>
                </a:solidFill>
                <a:latin typeface="Inconsolata" panose="00000509000000000000" pitchFamily="49" charset="0"/>
              </a:rPr>
              <a:t>(</a:t>
            </a:r>
            <a:r>
              <a:rPr lang="en-US" sz="2000" u="sng" dirty="0">
                <a:solidFill>
                  <a:schemeClr val="accent1"/>
                </a:solidFill>
                <a:latin typeface="Inconsolata" panose="00000509000000000000" pitchFamily="49" charset="0"/>
              </a:rPr>
              <a:t>id</a:t>
            </a:r>
            <a:r>
              <a:rPr lang="en-US" sz="2000" dirty="0">
                <a:solidFill>
                  <a:schemeClr val="accent1"/>
                </a:solidFill>
                <a:latin typeface="Inconsolata" panose="00000509000000000000" pitchFamily="49" charset="0"/>
              </a:rPr>
              <a:t>, name, year)</a:t>
            </a:r>
          </a:p>
        </p:txBody>
      </p:sp>
      <p:sp>
        <p:nvSpPr>
          <p:cNvPr id="62" name="Highlight Box">
            <a:extLst>
              <a:ext uri="{FF2B5EF4-FFF2-40B4-BE49-F238E27FC236}">
                <a16:creationId xmlns:a16="http://schemas.microsoft.com/office/drawing/2014/main" id="{A5CA458C-3383-E3F1-174A-1D948FBC7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2230" y="970022"/>
            <a:ext cx="2782508" cy="4040127"/>
          </a:xfrm>
          <a:prstGeom prst="roundRect">
            <a:avLst>
              <a:gd name="adj" fmla="val 2271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sp>
        <p:nvSpPr>
          <p:cNvPr id="64" name="Highlight Box">
            <a:extLst>
              <a:ext uri="{FF2B5EF4-FFF2-40B4-BE49-F238E27FC236}">
                <a16:creationId xmlns:a16="http://schemas.microsoft.com/office/drawing/2014/main" id="{43BB38D6-A7EB-7A61-BBCB-C9C71D5D7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78" y="3331796"/>
            <a:ext cx="2496834" cy="686470"/>
          </a:xfrm>
          <a:prstGeom prst="roundRect">
            <a:avLst>
              <a:gd name="adj" fmla="val 0"/>
            </a:avLst>
          </a:prstGeom>
          <a:noFill/>
          <a:ln w="38100" algn="ctr">
            <a:solidFill>
              <a:schemeClr val="accent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 eaLnBrk="0" hangingPunct="0"/>
            <a:endParaRPr lang="en-US" sz="1350"/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A6749F58-B758-BD20-5F8F-8D0D24285533}"/>
              </a:ext>
            </a:extLst>
          </p:cNvPr>
          <p:cNvCxnSpPr>
            <a:cxnSpLocks/>
            <a:stCxn id="64" idx="3"/>
            <a:endCxn id="41" idx="2"/>
          </p:cNvCxnSpPr>
          <p:nvPr/>
        </p:nvCxnSpPr>
        <p:spPr>
          <a:xfrm flipV="1">
            <a:off x="3039412" y="2163775"/>
            <a:ext cx="1144728" cy="1511256"/>
          </a:xfrm>
          <a:prstGeom prst="curvedConnector2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EB35039-4718-CF80-0B14-9C82391F6A4B}"/>
              </a:ext>
            </a:extLst>
          </p:cNvPr>
          <p:cNvSpPr txBox="1">
            <a:spLocks/>
          </p:cNvSpPr>
          <p:nvPr/>
        </p:nvSpPr>
        <p:spPr>
          <a:xfrm>
            <a:off x="8778240" y="0"/>
            <a:ext cx="365760" cy="273844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wrap="square" lIns="0" tIns="45720" rIns="45720" bIns="45720" rtlCol="0" anchor="ctr"/>
          <a:lstStyle>
            <a:defPPr>
              <a:defRPr lang="en-US"/>
            </a:defPPr>
            <a:lvl1pPr algn="r">
              <a:defRPr sz="120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66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26" grpId="0" animBg="1"/>
      <p:bldP spid="31" grpId="0" animBg="1"/>
      <p:bldP spid="32" grpId="0"/>
      <p:bldP spid="33" grpId="0"/>
      <p:bldP spid="55" grpId="0"/>
      <p:bldP spid="62" grpId="0" animBg="1"/>
      <p:bldP spid="6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D960-6035-6208-588E-27CF14C17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Indexes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D4C9F0-C1D0-4C53-3D33-8B6A820D9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Specialized data structures to perform nearest-neighbor searches on </a:t>
            </a:r>
            <a:r>
              <a:rPr lang="en-US" b="1" u="sng" dirty="0"/>
              <a:t>embeddings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An embedding is an array of floating point numbers.</a:t>
            </a:r>
          </a:p>
          <a:p>
            <a:pPr lvl="1"/>
            <a:r>
              <a:rPr lang="en-US" dirty="0"/>
              <a:t>May also need to filter data before / after vector searches.</a:t>
            </a:r>
          </a:p>
          <a:p>
            <a:pPr lvl="1"/>
            <a:endParaRPr lang="en-US" dirty="0"/>
          </a:p>
          <a:p>
            <a:r>
              <a:rPr lang="en-US" dirty="0"/>
              <a:t>The correctness of a query depends on whether the result "feels right".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CABEB-FCBC-9FC1-5B48-23C7A02C5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solidFill>
            <a:schemeClr val="bg1">
              <a:lumMod val="50000"/>
            </a:schemeClr>
          </a:solidFill>
        </p:spPr>
        <p:txBody>
          <a:bodyPr vert="horz" lIns="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>
                    <a:lumMod val="95000"/>
                  </a:schemeClr>
                </a:solidFill>
                <a:latin typeface="Pragmat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 smtClean="0"/>
              <a:pPr/>
              <a:t>41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AA0C13F-9787-BC43-E8FB-7B7A9C6EEE93}"/>
              </a:ext>
            </a:extLst>
          </p:cNvPr>
          <p:cNvGrpSpPr/>
          <p:nvPr/>
        </p:nvGrpSpPr>
        <p:grpSpPr>
          <a:xfrm>
            <a:off x="1034716" y="4069508"/>
            <a:ext cx="7074568" cy="457200"/>
            <a:chOff x="609600" y="4069508"/>
            <a:chExt cx="7074568" cy="457200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AD57404B-52B8-ADFC-FC9A-8BE8E6A0A6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09600" y="4115228"/>
              <a:ext cx="1731264" cy="365760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764DF48-E57C-FE24-5F09-9F58F91ED9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2692129" y="4115228"/>
              <a:ext cx="1520241" cy="36576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3C71EC02-9B1D-194E-A521-BD3381F13B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63635" y="4131421"/>
              <a:ext cx="1409700" cy="333375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370883BB-A04C-6417-7B97-709BA84428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24600" y="4069508"/>
              <a:ext cx="1359568" cy="457200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F6393182-A9C1-8A76-5E35-C048D11BCC4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14564" y="4644800"/>
            <a:ext cx="1280160" cy="38018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8230522-AF77-4FDA-BEC1-29F8BF5413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800" y="4652010"/>
            <a:ext cx="1651195" cy="36576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F66A38B-9AF9-7FB1-0143-D6C1513791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003326" y="4697730"/>
            <a:ext cx="1425907" cy="274320"/>
          </a:xfrm>
          <a:prstGeom prst="rect">
            <a:avLst/>
          </a:prstGeom>
        </p:spPr>
      </p:pic>
      <p:pic>
        <p:nvPicPr>
          <p:cNvPr id="25" name="Picture 24" descr="Text&#10;&#10;Description automatically generated" hidden="1">
            <a:extLst>
              <a:ext uri="{FF2B5EF4-FFF2-40B4-BE49-F238E27FC236}">
                <a16:creationId xmlns:a16="http://schemas.microsoft.com/office/drawing/2014/main" id="{BFDACE3E-63FA-7C05-332A-66C3F77060C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15277">
            <a:off x="3591534" y="533002"/>
            <a:ext cx="5056008" cy="2874150"/>
          </a:xfrm>
          <a:prstGeom prst="rect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36992FB-E3C0-7104-5D73-AC63272C12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280054" y="4760309"/>
            <a:ext cx="1645920" cy="14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35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62A4-8FA6-5457-6C54-194AF4C6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Indexes: Inverted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FADFF-18E8-DB3C-D7C4-D2096D5AF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Partition vectors into smaller groups using a clustering algorithm. </a:t>
            </a:r>
          </a:p>
          <a:p>
            <a:r>
              <a:rPr lang="en-US" dirty="0"/>
              <a:t>To find a match, use same clustering algorithm to map into a group, then scan that group's vectors.</a:t>
            </a:r>
          </a:p>
          <a:p>
            <a:pPr lvl="1"/>
            <a:r>
              <a:rPr lang="en-US" dirty="0"/>
              <a:t>Also check nearby groups to improve accuracy.</a:t>
            </a:r>
          </a:p>
          <a:p>
            <a:r>
              <a:rPr lang="en-US" dirty="0"/>
              <a:t>Preprocess / quantize vectors to reduce dimensionality.</a:t>
            </a:r>
          </a:p>
          <a:p>
            <a:r>
              <a:rPr lang="en-US" b="1" dirty="0"/>
              <a:t>Example: </a:t>
            </a:r>
            <a:r>
              <a:rPr lang="en-US" b="1" dirty="0">
                <a:hlinkClick r:id="rId2"/>
              </a:rPr>
              <a:t>IVFFlat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8B4C8-C512-421D-E7CD-6D7169DD4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42</a:t>
            </a:fld>
            <a:endParaRPr lang="en-US" dirty="0"/>
          </a:p>
        </p:txBody>
      </p:sp>
      <p:pic>
        <p:nvPicPr>
          <p:cNvPr id="12" name="step1">
            <a:extLst>
              <a:ext uri="{FF2B5EF4-FFF2-40B4-BE49-F238E27FC236}">
                <a16:creationId xmlns:a16="http://schemas.microsoft.com/office/drawing/2014/main" id="{3E7DFB7C-3754-88CD-4A0D-8A974938C5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3520" y="1295403"/>
            <a:ext cx="3657600" cy="1820837"/>
          </a:xfrm>
          <a:prstGeom prst="rect">
            <a:avLst/>
          </a:prstGeom>
        </p:spPr>
      </p:pic>
      <p:pic>
        <p:nvPicPr>
          <p:cNvPr id="10" name="step2">
            <a:extLst>
              <a:ext uri="{FF2B5EF4-FFF2-40B4-BE49-F238E27FC236}">
                <a16:creationId xmlns:a16="http://schemas.microsoft.com/office/drawing/2014/main" id="{3F1D423C-DE6B-0236-943C-A9CA260A9C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3520" y="1249767"/>
            <a:ext cx="3657600" cy="1912108"/>
          </a:xfrm>
          <a:prstGeom prst="rect">
            <a:avLst/>
          </a:prstGeom>
        </p:spPr>
      </p:pic>
      <p:pic>
        <p:nvPicPr>
          <p:cNvPr id="8" name="step3">
            <a:extLst>
              <a:ext uri="{FF2B5EF4-FFF2-40B4-BE49-F238E27FC236}">
                <a16:creationId xmlns:a16="http://schemas.microsoft.com/office/drawing/2014/main" id="{9BA2C745-8AAD-C3A4-1E72-DCCDB9DF99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3520" y="1249767"/>
            <a:ext cx="3657600" cy="19121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2AC2E0-C603-6A58-27A0-4893E2F36E38}"/>
              </a:ext>
            </a:extLst>
          </p:cNvPr>
          <p:cNvSpPr txBox="1"/>
          <p:nvPr/>
        </p:nvSpPr>
        <p:spPr>
          <a:xfrm>
            <a:off x="0" y="4705350"/>
            <a:ext cx="1122230" cy="338554"/>
          </a:xfrm>
          <a:prstGeom prst="rect">
            <a:avLst/>
          </a:prstGeom>
          <a:noFill/>
        </p:spPr>
        <p:txBody>
          <a:bodyPr wrap="none" lIns="0" tIns="0" rIns="73152" bIns="182880" rtlCol="0">
            <a:spAutoFit/>
          </a:bodyPr>
          <a:lstStyle>
            <a:defPPr>
              <a:defRPr lang="en-US"/>
            </a:defPPr>
            <a:lvl1pPr lvl="0" algn="r">
              <a:defRPr kumimoji="0" sz="1000" b="0" i="0" u="none" strike="noStrike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Lato" panose="020F0502020204030203" pitchFamily="34" charset="0"/>
              </a:defRPr>
            </a:lvl1pPr>
          </a:lstStyle>
          <a:p>
            <a:r>
              <a:rPr lang="en-US" dirty="0">
                <a:latin typeface="+mj-lt"/>
              </a:rPr>
              <a:t>Source: </a:t>
            </a:r>
            <a:r>
              <a:rPr lang="en-US" dirty="0">
                <a:latin typeface="+mj-lt"/>
                <a:hlinkClick r:id="rId6"/>
              </a:rPr>
              <a:t>Chi Zhang</a:t>
            </a:r>
            <a:endParaRPr lang="en-US" dirty="0">
              <a:latin typeface="+mj-lt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3AF1560-6AA6-AC7C-BDCC-A4E057B00B6B}"/>
              </a:ext>
            </a:extLst>
          </p:cNvPr>
          <p:cNvGrpSpPr/>
          <p:nvPr/>
        </p:nvGrpSpPr>
        <p:grpSpPr>
          <a:xfrm>
            <a:off x="5303520" y="1249767"/>
            <a:ext cx="3657600" cy="1912108"/>
            <a:chOff x="5303520" y="1249767"/>
            <a:chExt cx="3657600" cy="1912108"/>
          </a:xfrm>
        </p:grpSpPr>
        <p:pic>
          <p:nvPicPr>
            <p:cNvPr id="6" name="step4">
              <a:extLst>
                <a:ext uri="{FF2B5EF4-FFF2-40B4-BE49-F238E27FC236}">
                  <a16:creationId xmlns:a16="http://schemas.microsoft.com/office/drawing/2014/main" id="{68741710-AF2C-402A-E54B-18A0D47010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303520" y="1249767"/>
              <a:ext cx="3657600" cy="1912108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CFD3360-C267-E8C5-6764-B82D4600803F}"/>
                </a:ext>
              </a:extLst>
            </p:cNvPr>
            <p:cNvSpPr/>
            <p:nvPr/>
          </p:nvSpPr>
          <p:spPr>
            <a:xfrm>
              <a:off x="6643820" y="2224355"/>
              <a:ext cx="137160" cy="13716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Cursor Arrow">
            <a:extLst>
              <a:ext uri="{FF2B5EF4-FFF2-40B4-BE49-F238E27FC236}">
                <a16:creationId xmlns:a16="http://schemas.microsoft.com/office/drawing/2014/main" id="{A00D1D3F-1161-8844-BFD5-FB106AB1323D}"/>
              </a:ext>
            </a:extLst>
          </p:cNvPr>
          <p:cNvSpPr/>
          <p:nvPr/>
        </p:nvSpPr>
        <p:spPr>
          <a:xfrm rot="16200000">
            <a:off x="6119270" y="2151553"/>
            <a:ext cx="365760" cy="365760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rsor Arrow">
            <a:extLst>
              <a:ext uri="{FF2B5EF4-FFF2-40B4-BE49-F238E27FC236}">
                <a16:creationId xmlns:a16="http://schemas.microsoft.com/office/drawing/2014/main" id="{3C15AB78-EE02-545F-3444-7A45065798F7}"/>
              </a:ext>
            </a:extLst>
          </p:cNvPr>
          <p:cNvSpPr/>
          <p:nvPr/>
        </p:nvSpPr>
        <p:spPr>
          <a:xfrm rot="1800000">
            <a:off x="6847919" y="1677356"/>
            <a:ext cx="365760" cy="365760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08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54288C0-F0A3-A955-1422-90918E865136}"/>
              </a:ext>
            </a:extLst>
          </p:cNvPr>
          <p:cNvGrpSpPr/>
          <p:nvPr/>
        </p:nvGrpSpPr>
        <p:grpSpPr>
          <a:xfrm>
            <a:off x="5867400" y="1067425"/>
            <a:ext cx="2746474" cy="1988025"/>
            <a:chOff x="5864126" y="742950"/>
            <a:chExt cx="2746474" cy="1988025"/>
          </a:xfrm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1A0360D2-38DE-73A2-F0F9-3F5E35BE6C5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867400" y="1085055"/>
              <a:ext cx="2743200" cy="16459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16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FD8E6B-533C-3466-2230-FFCCE2DF84BF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864126" y="742950"/>
              <a:ext cx="2022044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Vector Graph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CB62A4-8FA6-5457-6C54-194AF4C6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SEARCH: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FADFF-18E8-DB3C-D7C4-D2096D5AF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graph where each node represents a vector and it has edges to (at most) its 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dirty="0"/>
              <a:t> nearest neighbors.</a:t>
            </a:r>
          </a:p>
          <a:p>
            <a:pPr lvl="1"/>
            <a:r>
              <a:rPr lang="en-US" dirty="0"/>
              <a:t>Can use multiple levels of graphs (</a:t>
            </a:r>
            <a:r>
              <a:rPr lang="en-US" dirty="0">
                <a:hlinkClick r:id="rId3"/>
              </a:rPr>
              <a:t>HNSW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Examples: </a:t>
            </a:r>
            <a:r>
              <a:rPr lang="en-US" dirty="0" err="1">
                <a:hlinkClick r:id="rId4"/>
              </a:rPr>
              <a:t>Faiss</a:t>
            </a:r>
            <a:r>
              <a:rPr lang="en-US" dirty="0"/>
              <a:t>, </a:t>
            </a:r>
            <a:r>
              <a:rPr lang="en-US" dirty="0" err="1">
                <a:hlinkClick r:id="rId5"/>
              </a:rPr>
              <a:t>hnswlib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DiskANN</a:t>
            </a:r>
            <a:endParaRPr lang="en-US" dirty="0"/>
          </a:p>
          <a:p>
            <a:endParaRPr lang="en-US" sz="1200" dirty="0"/>
          </a:p>
          <a:p>
            <a:r>
              <a:rPr lang="en-US" dirty="0"/>
              <a:t>To find a match for a given vector, enter the graph and then greedily choose the next edge that moves closer to that vector.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57196-472D-8492-F9E7-C4E0C0D3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0"/>
            <a:ext cx="365760" cy="273844"/>
          </a:xfrm>
          <a:prstGeom prst="rect">
            <a:avLst/>
          </a:prstGeom>
          <a:noFill/>
        </p:spPr>
        <p:txBody>
          <a:bodyPr vert="horz" lIns="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Nunito" panose="020003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2AC2E0-C603-6A58-27A0-4893E2F36E38}"/>
              </a:ext>
            </a:extLst>
          </p:cNvPr>
          <p:cNvSpPr txBox="1"/>
          <p:nvPr/>
        </p:nvSpPr>
        <p:spPr>
          <a:xfrm>
            <a:off x="0" y="4835723"/>
            <a:ext cx="914994" cy="307777"/>
          </a:xfrm>
          <a:prstGeom prst="rect">
            <a:avLst/>
          </a:prstGeom>
          <a:noFill/>
        </p:spPr>
        <p:txBody>
          <a:bodyPr wrap="none" lIns="45720" tIns="0" rIns="0" bIns="182880" rtlCol="0">
            <a:spAutoFit/>
          </a:bodyPr>
          <a:lstStyle>
            <a:defPPr>
              <a:defRPr lang="en-US"/>
            </a:defPPr>
            <a:lvl1pPr lvl="0">
              <a:defRPr kumimoji="0" sz="800" b="0" i="0" u="none" strike="noStrike" cap="none" spc="0" normalizeH="0" baseline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useo Sans 300" panose="02000000000000000000" pitchFamily="50" charset="0"/>
              </a:defRPr>
            </a:lvl1pPr>
          </a:lstStyle>
          <a:p>
            <a:r>
              <a:rPr lang="en-US" dirty="0"/>
              <a:t>Source: </a:t>
            </a:r>
            <a:r>
              <a:rPr lang="en-US" dirty="0">
                <a:hlinkClick r:id="rId7"/>
              </a:rPr>
              <a:t>Chi Zhang</a:t>
            </a:r>
            <a:endParaRPr lang="en-US" dirty="0"/>
          </a:p>
        </p:txBody>
      </p:sp>
      <p:sp>
        <p:nvSpPr>
          <p:cNvPr id="4" name="node">
            <a:extLst>
              <a:ext uri="{FF2B5EF4-FFF2-40B4-BE49-F238E27FC236}">
                <a16:creationId xmlns:a16="http://schemas.microsoft.com/office/drawing/2014/main" id="{10728642-D36E-474C-D351-8E89B8B1196D}"/>
              </a:ext>
            </a:extLst>
          </p:cNvPr>
          <p:cNvSpPr/>
          <p:nvPr/>
        </p:nvSpPr>
        <p:spPr>
          <a:xfrm>
            <a:off x="6110547" y="1969998"/>
            <a:ext cx="91440" cy="9144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node">
            <a:extLst>
              <a:ext uri="{FF2B5EF4-FFF2-40B4-BE49-F238E27FC236}">
                <a16:creationId xmlns:a16="http://schemas.microsoft.com/office/drawing/2014/main" id="{B1FA471F-5107-B3D1-35EC-2DD9B067F8FC}"/>
              </a:ext>
            </a:extLst>
          </p:cNvPr>
          <p:cNvSpPr/>
          <p:nvPr/>
        </p:nvSpPr>
        <p:spPr>
          <a:xfrm>
            <a:off x="6542232" y="2839757"/>
            <a:ext cx="91440" cy="9144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node">
            <a:extLst>
              <a:ext uri="{FF2B5EF4-FFF2-40B4-BE49-F238E27FC236}">
                <a16:creationId xmlns:a16="http://schemas.microsoft.com/office/drawing/2014/main" id="{B1BDB9F2-8AF1-F727-5BBC-BAC6533B36A2}"/>
              </a:ext>
            </a:extLst>
          </p:cNvPr>
          <p:cNvSpPr/>
          <p:nvPr/>
        </p:nvSpPr>
        <p:spPr>
          <a:xfrm>
            <a:off x="7555692" y="1917246"/>
            <a:ext cx="91440" cy="9144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node">
            <a:extLst>
              <a:ext uri="{FF2B5EF4-FFF2-40B4-BE49-F238E27FC236}">
                <a16:creationId xmlns:a16="http://schemas.microsoft.com/office/drawing/2014/main" id="{DF99C582-D169-F4D0-71DB-C753CE6377BC}"/>
              </a:ext>
            </a:extLst>
          </p:cNvPr>
          <p:cNvSpPr/>
          <p:nvPr/>
        </p:nvSpPr>
        <p:spPr>
          <a:xfrm>
            <a:off x="7001337" y="1531270"/>
            <a:ext cx="91440" cy="9144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node">
            <a:extLst>
              <a:ext uri="{FF2B5EF4-FFF2-40B4-BE49-F238E27FC236}">
                <a16:creationId xmlns:a16="http://schemas.microsoft.com/office/drawing/2014/main" id="{5C255530-08D6-DD2F-93C0-3083C149D992}"/>
              </a:ext>
            </a:extLst>
          </p:cNvPr>
          <p:cNvSpPr/>
          <p:nvPr/>
        </p:nvSpPr>
        <p:spPr>
          <a:xfrm>
            <a:off x="8310072" y="2337991"/>
            <a:ext cx="91440" cy="9144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node">
            <a:extLst>
              <a:ext uri="{FF2B5EF4-FFF2-40B4-BE49-F238E27FC236}">
                <a16:creationId xmlns:a16="http://schemas.microsoft.com/office/drawing/2014/main" id="{0CA40D3F-9721-D5BC-3053-A1A5FA981CA4}"/>
              </a:ext>
            </a:extLst>
          </p:cNvPr>
          <p:cNvSpPr/>
          <p:nvPr/>
        </p:nvSpPr>
        <p:spPr>
          <a:xfrm>
            <a:off x="6698438" y="2070697"/>
            <a:ext cx="91440" cy="9144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node">
            <a:extLst>
              <a:ext uri="{FF2B5EF4-FFF2-40B4-BE49-F238E27FC236}">
                <a16:creationId xmlns:a16="http://schemas.microsoft.com/office/drawing/2014/main" id="{EC613FB8-64F3-F5E3-D262-80B730F64033}"/>
              </a:ext>
            </a:extLst>
          </p:cNvPr>
          <p:cNvSpPr/>
          <p:nvPr/>
        </p:nvSpPr>
        <p:spPr>
          <a:xfrm>
            <a:off x="7876053" y="2522393"/>
            <a:ext cx="91440" cy="9144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node">
            <a:extLst>
              <a:ext uri="{FF2B5EF4-FFF2-40B4-BE49-F238E27FC236}">
                <a16:creationId xmlns:a16="http://schemas.microsoft.com/office/drawing/2014/main" id="{C65417A3-68B8-C086-A0E5-5A625343EF81}"/>
              </a:ext>
            </a:extLst>
          </p:cNvPr>
          <p:cNvSpPr/>
          <p:nvPr/>
        </p:nvSpPr>
        <p:spPr>
          <a:xfrm>
            <a:off x="8252922" y="1582461"/>
            <a:ext cx="91440" cy="9144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edge">
            <a:extLst>
              <a:ext uri="{FF2B5EF4-FFF2-40B4-BE49-F238E27FC236}">
                <a16:creationId xmlns:a16="http://schemas.microsoft.com/office/drawing/2014/main" id="{433A4D94-4E59-E487-CE74-5AC05D30128C}"/>
              </a:ext>
            </a:extLst>
          </p:cNvPr>
          <p:cNvCxnSpPr>
            <a:cxnSpLocks/>
            <a:stCxn id="23" idx="2"/>
            <a:endCxn id="18" idx="7"/>
          </p:cNvCxnSpPr>
          <p:nvPr/>
        </p:nvCxnSpPr>
        <p:spPr>
          <a:xfrm flipH="1">
            <a:off x="7633741" y="1628181"/>
            <a:ext cx="619181" cy="302456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dge">
            <a:extLst>
              <a:ext uri="{FF2B5EF4-FFF2-40B4-BE49-F238E27FC236}">
                <a16:creationId xmlns:a16="http://schemas.microsoft.com/office/drawing/2014/main" id="{8D381193-A84F-D7B7-6B30-998C9C30AC8B}"/>
              </a:ext>
            </a:extLst>
          </p:cNvPr>
          <p:cNvCxnSpPr>
            <a:cxnSpLocks/>
            <a:stCxn id="23" idx="5"/>
            <a:endCxn id="20" idx="0"/>
          </p:cNvCxnSpPr>
          <p:nvPr/>
        </p:nvCxnSpPr>
        <p:spPr>
          <a:xfrm>
            <a:off x="8330971" y="1660510"/>
            <a:ext cx="24821" cy="677481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dge">
            <a:extLst>
              <a:ext uri="{FF2B5EF4-FFF2-40B4-BE49-F238E27FC236}">
                <a16:creationId xmlns:a16="http://schemas.microsoft.com/office/drawing/2014/main" id="{F7E12E94-A626-6E4F-1320-34016EF396E2}"/>
              </a:ext>
            </a:extLst>
          </p:cNvPr>
          <p:cNvCxnSpPr>
            <a:cxnSpLocks/>
            <a:stCxn id="20" idx="3"/>
            <a:endCxn id="22" idx="7"/>
          </p:cNvCxnSpPr>
          <p:nvPr/>
        </p:nvCxnSpPr>
        <p:spPr>
          <a:xfrm flipH="1">
            <a:off x="7954102" y="2416040"/>
            <a:ext cx="369361" cy="119744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dge">
            <a:extLst>
              <a:ext uri="{FF2B5EF4-FFF2-40B4-BE49-F238E27FC236}">
                <a16:creationId xmlns:a16="http://schemas.microsoft.com/office/drawing/2014/main" id="{A3DB7E60-3366-3190-5213-F997968DC153}"/>
              </a:ext>
            </a:extLst>
          </p:cNvPr>
          <p:cNvCxnSpPr>
            <a:cxnSpLocks/>
            <a:stCxn id="23" idx="4"/>
            <a:endCxn id="22" idx="0"/>
          </p:cNvCxnSpPr>
          <p:nvPr/>
        </p:nvCxnSpPr>
        <p:spPr>
          <a:xfrm flipH="1">
            <a:off x="7921773" y="1673901"/>
            <a:ext cx="376869" cy="848492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dge">
            <a:extLst>
              <a:ext uri="{FF2B5EF4-FFF2-40B4-BE49-F238E27FC236}">
                <a16:creationId xmlns:a16="http://schemas.microsoft.com/office/drawing/2014/main" id="{BF382686-8BA0-68AA-8AD9-25169EB48B13}"/>
              </a:ext>
            </a:extLst>
          </p:cNvPr>
          <p:cNvCxnSpPr>
            <a:cxnSpLocks/>
            <a:stCxn id="18" idx="4"/>
            <a:endCxn id="22" idx="1"/>
          </p:cNvCxnSpPr>
          <p:nvPr/>
        </p:nvCxnSpPr>
        <p:spPr>
          <a:xfrm>
            <a:off x="7601412" y="2008686"/>
            <a:ext cx="288032" cy="527098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edge">
            <a:extLst>
              <a:ext uri="{FF2B5EF4-FFF2-40B4-BE49-F238E27FC236}">
                <a16:creationId xmlns:a16="http://schemas.microsoft.com/office/drawing/2014/main" id="{E43DE82C-AF20-DACC-461F-722BFAAD022A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>
          <a:xfrm>
            <a:off x="7633741" y="1995295"/>
            <a:ext cx="689722" cy="356087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dge">
            <a:extLst>
              <a:ext uri="{FF2B5EF4-FFF2-40B4-BE49-F238E27FC236}">
                <a16:creationId xmlns:a16="http://schemas.microsoft.com/office/drawing/2014/main" id="{BA11E8EE-F321-4269-D399-50DE151482D8}"/>
              </a:ext>
            </a:extLst>
          </p:cNvPr>
          <p:cNvCxnSpPr>
            <a:cxnSpLocks/>
            <a:stCxn id="19" idx="6"/>
            <a:endCxn id="18" idx="1"/>
          </p:cNvCxnSpPr>
          <p:nvPr/>
        </p:nvCxnSpPr>
        <p:spPr>
          <a:xfrm>
            <a:off x="7092777" y="1576990"/>
            <a:ext cx="476306" cy="353647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dge">
            <a:extLst>
              <a:ext uri="{FF2B5EF4-FFF2-40B4-BE49-F238E27FC236}">
                <a16:creationId xmlns:a16="http://schemas.microsoft.com/office/drawing/2014/main" id="{F6331301-40AB-8638-4A0D-1B2A855D57DC}"/>
              </a:ext>
            </a:extLst>
          </p:cNvPr>
          <p:cNvCxnSpPr>
            <a:cxnSpLocks/>
            <a:stCxn id="18" idx="2"/>
            <a:endCxn id="21" idx="6"/>
          </p:cNvCxnSpPr>
          <p:nvPr/>
        </p:nvCxnSpPr>
        <p:spPr>
          <a:xfrm flipH="1">
            <a:off x="6789878" y="1962966"/>
            <a:ext cx="765814" cy="153451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node">
            <a:extLst>
              <a:ext uri="{FF2B5EF4-FFF2-40B4-BE49-F238E27FC236}">
                <a16:creationId xmlns:a16="http://schemas.microsoft.com/office/drawing/2014/main" id="{4A2E47E1-4969-53D8-02CC-8F2769572613}"/>
              </a:ext>
            </a:extLst>
          </p:cNvPr>
          <p:cNvSpPr/>
          <p:nvPr/>
        </p:nvSpPr>
        <p:spPr>
          <a:xfrm>
            <a:off x="6237432" y="2522393"/>
            <a:ext cx="91440" cy="9144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edge">
            <a:extLst>
              <a:ext uri="{FF2B5EF4-FFF2-40B4-BE49-F238E27FC236}">
                <a16:creationId xmlns:a16="http://schemas.microsoft.com/office/drawing/2014/main" id="{11D5C3B2-68BE-C5F3-A95D-E38EBE21FEB3}"/>
              </a:ext>
            </a:extLst>
          </p:cNvPr>
          <p:cNvCxnSpPr>
            <a:cxnSpLocks/>
            <a:stCxn id="4" idx="6"/>
            <a:endCxn id="19" idx="2"/>
          </p:cNvCxnSpPr>
          <p:nvPr/>
        </p:nvCxnSpPr>
        <p:spPr>
          <a:xfrm flipV="1">
            <a:off x="6201987" y="1576990"/>
            <a:ext cx="799350" cy="438728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dge">
            <a:extLst>
              <a:ext uri="{FF2B5EF4-FFF2-40B4-BE49-F238E27FC236}">
                <a16:creationId xmlns:a16="http://schemas.microsoft.com/office/drawing/2014/main" id="{53823B7A-7609-AA49-A329-D5669D75F343}"/>
              </a:ext>
            </a:extLst>
          </p:cNvPr>
          <p:cNvCxnSpPr>
            <a:cxnSpLocks/>
            <a:stCxn id="19" idx="4"/>
            <a:endCxn id="21" idx="7"/>
          </p:cNvCxnSpPr>
          <p:nvPr/>
        </p:nvCxnSpPr>
        <p:spPr>
          <a:xfrm flipH="1">
            <a:off x="6776487" y="1622710"/>
            <a:ext cx="270570" cy="461378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dge">
            <a:extLst>
              <a:ext uri="{FF2B5EF4-FFF2-40B4-BE49-F238E27FC236}">
                <a16:creationId xmlns:a16="http://schemas.microsoft.com/office/drawing/2014/main" id="{3070886E-F72B-3290-47B0-90CCB5E1A7B6}"/>
              </a:ext>
            </a:extLst>
          </p:cNvPr>
          <p:cNvCxnSpPr>
            <a:cxnSpLocks/>
            <a:stCxn id="4" idx="4"/>
            <a:endCxn id="65" idx="0"/>
          </p:cNvCxnSpPr>
          <p:nvPr/>
        </p:nvCxnSpPr>
        <p:spPr>
          <a:xfrm>
            <a:off x="6156267" y="2061438"/>
            <a:ext cx="126885" cy="460955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dge">
            <a:extLst>
              <a:ext uri="{FF2B5EF4-FFF2-40B4-BE49-F238E27FC236}">
                <a16:creationId xmlns:a16="http://schemas.microsoft.com/office/drawing/2014/main" id="{F1304D85-43E6-4AF2-AB0D-046B4E03810C}"/>
              </a:ext>
            </a:extLst>
          </p:cNvPr>
          <p:cNvCxnSpPr>
            <a:cxnSpLocks/>
            <a:stCxn id="65" idx="5"/>
            <a:endCxn id="17" idx="1"/>
          </p:cNvCxnSpPr>
          <p:nvPr/>
        </p:nvCxnSpPr>
        <p:spPr>
          <a:xfrm>
            <a:off x="6315481" y="2600442"/>
            <a:ext cx="240142" cy="252706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edge">
            <a:extLst>
              <a:ext uri="{FF2B5EF4-FFF2-40B4-BE49-F238E27FC236}">
                <a16:creationId xmlns:a16="http://schemas.microsoft.com/office/drawing/2014/main" id="{0DC1C293-D8E7-C026-EA03-5DFB9A049A48}"/>
              </a:ext>
            </a:extLst>
          </p:cNvPr>
          <p:cNvCxnSpPr>
            <a:cxnSpLocks/>
            <a:stCxn id="21" idx="3"/>
            <a:endCxn id="65" idx="7"/>
          </p:cNvCxnSpPr>
          <p:nvPr/>
        </p:nvCxnSpPr>
        <p:spPr>
          <a:xfrm flipH="1">
            <a:off x="6315481" y="2148746"/>
            <a:ext cx="396348" cy="387038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dge">
            <a:extLst>
              <a:ext uri="{FF2B5EF4-FFF2-40B4-BE49-F238E27FC236}">
                <a16:creationId xmlns:a16="http://schemas.microsoft.com/office/drawing/2014/main" id="{3CAA39FD-0592-C8B3-DD26-1E1796CA1888}"/>
              </a:ext>
            </a:extLst>
          </p:cNvPr>
          <p:cNvCxnSpPr>
            <a:cxnSpLocks/>
            <a:stCxn id="21" idx="4"/>
            <a:endCxn id="17" idx="7"/>
          </p:cNvCxnSpPr>
          <p:nvPr/>
        </p:nvCxnSpPr>
        <p:spPr>
          <a:xfrm flipH="1">
            <a:off x="6620281" y="2162137"/>
            <a:ext cx="123877" cy="691011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Arrow">
            <a:extLst>
              <a:ext uri="{FF2B5EF4-FFF2-40B4-BE49-F238E27FC236}">
                <a16:creationId xmlns:a16="http://schemas.microsoft.com/office/drawing/2014/main" id="{75B0C4A7-C0F0-9CBE-2681-6B8E756990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>
            <a:off x="8129474" y="2493135"/>
            <a:ext cx="457200" cy="457200"/>
          </a:xfrm>
          <a:prstGeom prst="rightArrow">
            <a:avLst>
              <a:gd name="adj1" fmla="val 50000"/>
              <a:gd name="adj2" fmla="val 49673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000" dirty="0">
              <a:solidFill>
                <a:srgbClr val="C30037"/>
              </a:solidFill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A123EA3C-FEB8-3C61-4EA2-23249EA69B1E}"/>
              </a:ext>
            </a:extLst>
          </p:cNvPr>
          <p:cNvGrpSpPr/>
          <p:nvPr/>
        </p:nvGrpSpPr>
        <p:grpSpPr>
          <a:xfrm>
            <a:off x="6805515" y="2284518"/>
            <a:ext cx="357470" cy="378500"/>
            <a:chOff x="6805515" y="1961300"/>
            <a:chExt cx="357470" cy="378500"/>
          </a:xfrm>
        </p:grpSpPr>
        <p:sp>
          <p:nvSpPr>
            <p:cNvPr id="106" name="node">
              <a:extLst>
                <a:ext uri="{FF2B5EF4-FFF2-40B4-BE49-F238E27FC236}">
                  <a16:creationId xmlns:a16="http://schemas.microsoft.com/office/drawing/2014/main" id="{76064429-109B-046E-DC02-8B5ED55F7999}"/>
                </a:ext>
              </a:extLst>
            </p:cNvPr>
            <p:cNvSpPr/>
            <p:nvPr/>
          </p:nvSpPr>
          <p:spPr>
            <a:xfrm>
              <a:off x="6938530" y="1961300"/>
              <a:ext cx="91440" cy="91440"/>
            </a:xfrm>
            <a:prstGeom prst="ellipse">
              <a:avLst/>
            </a:prstGeom>
            <a:solidFill>
              <a:srgbClr val="2563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07" name="TextBox 15">
              <a:extLst>
                <a:ext uri="{FF2B5EF4-FFF2-40B4-BE49-F238E27FC236}">
                  <a16:creationId xmlns:a16="http://schemas.microsoft.com/office/drawing/2014/main" id="{E93BE714-816D-6230-B4DA-803C4BBC4F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5515" y="2060493"/>
              <a:ext cx="357470" cy="279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pPr algn="ctr">
                <a:lnSpc>
                  <a:spcPct val="80000"/>
                </a:lnSpc>
              </a:pPr>
              <a:r>
                <a:rPr lang="en-US" sz="1100" dirty="0">
                  <a:solidFill>
                    <a:srgbClr val="256389"/>
                  </a:solidFill>
                </a:rPr>
                <a:t>Search</a:t>
              </a:r>
              <a:br>
                <a:rPr lang="en-US" sz="1100" dirty="0">
                  <a:solidFill>
                    <a:srgbClr val="256389"/>
                  </a:solidFill>
                </a:rPr>
              </a:br>
              <a:r>
                <a:rPr lang="en-US" sz="1100" dirty="0">
                  <a:solidFill>
                    <a:srgbClr val="256389"/>
                  </a:solidFill>
                </a:rPr>
                <a:t>Vector</a:t>
              </a:r>
            </a:p>
          </p:txBody>
        </p:sp>
      </p:grpSp>
      <p:cxnSp>
        <p:nvCxnSpPr>
          <p:cNvPr id="108" name="search-edge1">
            <a:extLst>
              <a:ext uri="{FF2B5EF4-FFF2-40B4-BE49-F238E27FC236}">
                <a16:creationId xmlns:a16="http://schemas.microsoft.com/office/drawing/2014/main" id="{2B785827-B990-6E9A-4AAC-2555163F998C}"/>
              </a:ext>
            </a:extLst>
          </p:cNvPr>
          <p:cNvCxnSpPr>
            <a:cxnSpLocks/>
            <a:stCxn id="18" idx="5"/>
            <a:endCxn id="20" idx="1"/>
          </p:cNvCxnSpPr>
          <p:nvPr/>
        </p:nvCxnSpPr>
        <p:spPr>
          <a:xfrm>
            <a:off x="7633741" y="1995295"/>
            <a:ext cx="689722" cy="356087"/>
          </a:xfrm>
          <a:prstGeom prst="line">
            <a:avLst/>
          </a:prstGeom>
          <a:ln w="19050" cap="rnd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earch-edge1">
            <a:extLst>
              <a:ext uri="{FF2B5EF4-FFF2-40B4-BE49-F238E27FC236}">
                <a16:creationId xmlns:a16="http://schemas.microsoft.com/office/drawing/2014/main" id="{180FD35C-72FF-1A6A-37CD-63AEE3AA6FD2}"/>
              </a:ext>
            </a:extLst>
          </p:cNvPr>
          <p:cNvCxnSpPr>
            <a:cxnSpLocks/>
            <a:stCxn id="21" idx="6"/>
            <a:endCxn id="18" idx="2"/>
          </p:cNvCxnSpPr>
          <p:nvPr/>
        </p:nvCxnSpPr>
        <p:spPr>
          <a:xfrm flipV="1">
            <a:off x="6789878" y="1962966"/>
            <a:ext cx="765814" cy="153451"/>
          </a:xfrm>
          <a:prstGeom prst="line">
            <a:avLst/>
          </a:prstGeom>
          <a:ln w="19050" cap="rnd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5">
            <a:extLst>
              <a:ext uri="{FF2B5EF4-FFF2-40B4-BE49-F238E27FC236}">
                <a16:creationId xmlns:a16="http://schemas.microsoft.com/office/drawing/2014/main" id="{092B419E-D84F-C570-B9B6-E1A8387E0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7094" y="2978243"/>
            <a:ext cx="317395" cy="279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sp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n-US" sz="1100" dirty="0">
                <a:solidFill>
                  <a:schemeClr val="accent1"/>
                </a:solidFill>
              </a:rPr>
              <a:t>Entry</a:t>
            </a:r>
          </a:p>
          <a:p>
            <a:pPr algn="ctr">
              <a:lnSpc>
                <a:spcPct val="80000"/>
              </a:lnSpc>
            </a:pPr>
            <a:r>
              <a:rPr lang="en-US" sz="1100" dirty="0">
                <a:solidFill>
                  <a:schemeClr val="accent1"/>
                </a:solidFill>
              </a:rPr>
              <a:t>Point</a:t>
            </a:r>
          </a:p>
        </p:txBody>
      </p:sp>
      <p:cxnSp>
        <p:nvCxnSpPr>
          <p:cNvPr id="117" name="Straight Connector 36">
            <a:extLst>
              <a:ext uri="{FF2B5EF4-FFF2-40B4-BE49-F238E27FC236}">
                <a16:creationId xmlns:a16="http://schemas.microsoft.com/office/drawing/2014/main" id="{2A89A465-35E7-A53F-4ED6-7E5B76AB6D3A}"/>
              </a:ext>
            </a:extLst>
          </p:cNvPr>
          <p:cNvCxnSpPr>
            <a:cxnSpLocks noChangeShapeType="1"/>
            <a:stCxn id="133" idx="2"/>
            <a:endCxn id="106" idx="0"/>
          </p:cNvCxnSpPr>
          <p:nvPr/>
        </p:nvCxnSpPr>
        <p:spPr bwMode="auto">
          <a:xfrm rot="5400000">
            <a:off x="7163401" y="1849534"/>
            <a:ext cx="255834" cy="614135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0" name="Straight Connector 36">
            <a:extLst>
              <a:ext uri="{FF2B5EF4-FFF2-40B4-BE49-F238E27FC236}">
                <a16:creationId xmlns:a16="http://schemas.microsoft.com/office/drawing/2014/main" id="{AC947AFF-AE3B-0EEE-0F2C-EEA8AFFB7C04}"/>
              </a:ext>
            </a:extLst>
          </p:cNvPr>
          <p:cNvCxnSpPr>
            <a:cxnSpLocks noChangeShapeType="1"/>
            <a:stCxn id="22" idx="2"/>
            <a:endCxn id="106" idx="6"/>
          </p:cNvCxnSpPr>
          <p:nvPr/>
        </p:nvCxnSpPr>
        <p:spPr bwMode="auto">
          <a:xfrm rot="10800000">
            <a:off x="7029971" y="2330239"/>
            <a:ext cx="846083" cy="237875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4" name="Straight Connector 36">
            <a:extLst>
              <a:ext uri="{FF2B5EF4-FFF2-40B4-BE49-F238E27FC236}">
                <a16:creationId xmlns:a16="http://schemas.microsoft.com/office/drawing/2014/main" id="{35A74194-729C-1DCB-D024-AE646D656058}"/>
              </a:ext>
            </a:extLst>
          </p:cNvPr>
          <p:cNvCxnSpPr>
            <a:cxnSpLocks noChangeShapeType="1"/>
            <a:stCxn id="23" idx="3"/>
            <a:endCxn id="106" idx="7"/>
          </p:cNvCxnSpPr>
          <p:nvPr/>
        </p:nvCxnSpPr>
        <p:spPr bwMode="auto">
          <a:xfrm rot="5400000">
            <a:off x="7322747" y="1354342"/>
            <a:ext cx="637399" cy="1249734"/>
          </a:xfrm>
          <a:prstGeom prst="curvedConnector3">
            <a:avLst>
              <a:gd name="adj1" fmla="val 85224"/>
            </a:avLst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35" name="Boxes1">
            <a:extLst>
              <a:ext uri="{FF2B5EF4-FFF2-40B4-BE49-F238E27FC236}">
                <a16:creationId xmlns:a16="http://schemas.microsoft.com/office/drawing/2014/main" id="{46A3A6F4-9EC6-AE2F-3760-3A7BC7999B48}"/>
              </a:ext>
            </a:extLst>
          </p:cNvPr>
          <p:cNvGrpSpPr/>
          <p:nvPr/>
        </p:nvGrpSpPr>
        <p:grpSpPr>
          <a:xfrm>
            <a:off x="7529805" y="1560440"/>
            <a:ext cx="833146" cy="1073312"/>
            <a:chOff x="7529805" y="1237222"/>
            <a:chExt cx="833146" cy="1073312"/>
          </a:xfrm>
        </p:grpSpPr>
        <p:sp>
          <p:nvSpPr>
            <p:cNvPr id="132" name="Highlight Box">
              <a:extLst>
                <a:ext uri="{FF2B5EF4-FFF2-40B4-BE49-F238E27FC236}">
                  <a16:creationId xmlns:a16="http://schemas.microsoft.com/office/drawing/2014/main" id="{58C1A140-7D94-6275-16A3-C851099488B5}"/>
                </a:ext>
              </a:extLst>
            </p:cNvPr>
            <p:cNvSpPr/>
            <p:nvPr/>
          </p:nvSpPr>
          <p:spPr>
            <a:xfrm>
              <a:off x="8225791" y="1237222"/>
              <a:ext cx="137160" cy="137160"/>
            </a:xfrm>
            <a:prstGeom prst="roundRect">
              <a:avLst>
                <a:gd name="adj" fmla="val 1342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Highlight Box">
              <a:extLst>
                <a:ext uri="{FF2B5EF4-FFF2-40B4-BE49-F238E27FC236}">
                  <a16:creationId xmlns:a16="http://schemas.microsoft.com/office/drawing/2014/main" id="{1F37B595-ECBA-96A8-4307-1C9AAB9BD333}"/>
                </a:ext>
              </a:extLst>
            </p:cNvPr>
            <p:cNvSpPr/>
            <p:nvPr/>
          </p:nvSpPr>
          <p:spPr>
            <a:xfrm>
              <a:off x="7529805" y="1568306"/>
              <a:ext cx="137160" cy="137160"/>
            </a:xfrm>
            <a:prstGeom prst="roundRect">
              <a:avLst>
                <a:gd name="adj" fmla="val 1342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Highlight Box">
              <a:extLst>
                <a:ext uri="{FF2B5EF4-FFF2-40B4-BE49-F238E27FC236}">
                  <a16:creationId xmlns:a16="http://schemas.microsoft.com/office/drawing/2014/main" id="{1E02ADC4-ED60-D84A-EEE9-0382A3379D90}"/>
                </a:ext>
              </a:extLst>
            </p:cNvPr>
            <p:cNvSpPr/>
            <p:nvPr/>
          </p:nvSpPr>
          <p:spPr>
            <a:xfrm>
              <a:off x="7850812" y="2173374"/>
              <a:ext cx="137160" cy="137160"/>
            </a:xfrm>
            <a:prstGeom prst="roundRect">
              <a:avLst>
                <a:gd name="adj" fmla="val 1342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4" name="Straight Connector 36">
            <a:extLst>
              <a:ext uri="{FF2B5EF4-FFF2-40B4-BE49-F238E27FC236}">
                <a16:creationId xmlns:a16="http://schemas.microsoft.com/office/drawing/2014/main" id="{EB2CD0AE-61AC-87BE-AC0B-D929BEBD60F2}"/>
              </a:ext>
            </a:extLst>
          </p:cNvPr>
          <p:cNvCxnSpPr>
            <a:cxnSpLocks noChangeShapeType="1"/>
            <a:stCxn id="21" idx="5"/>
            <a:endCxn id="106" idx="1"/>
          </p:cNvCxnSpPr>
          <p:nvPr/>
        </p:nvCxnSpPr>
        <p:spPr bwMode="auto">
          <a:xfrm rot="16200000" flipH="1">
            <a:off x="6789623" y="2135610"/>
            <a:ext cx="149163" cy="175434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7" name="Straight Connector 36">
            <a:extLst>
              <a:ext uri="{FF2B5EF4-FFF2-40B4-BE49-F238E27FC236}">
                <a16:creationId xmlns:a16="http://schemas.microsoft.com/office/drawing/2014/main" id="{E0FB38E3-C1F8-7D42-45F6-6A2C35B4E06C}"/>
              </a:ext>
            </a:extLst>
          </p:cNvPr>
          <p:cNvCxnSpPr>
            <a:cxnSpLocks noChangeShapeType="1"/>
            <a:stCxn id="19" idx="4"/>
            <a:endCxn id="106" idx="0"/>
          </p:cNvCxnSpPr>
          <p:nvPr/>
        </p:nvCxnSpPr>
        <p:spPr bwMode="auto">
          <a:xfrm rot="5400000">
            <a:off x="6684750" y="1922211"/>
            <a:ext cx="661808" cy="62807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2" name="edge">
            <a:extLst>
              <a:ext uri="{FF2B5EF4-FFF2-40B4-BE49-F238E27FC236}">
                <a16:creationId xmlns:a16="http://schemas.microsoft.com/office/drawing/2014/main" id="{3C6EBC3D-FD40-65CE-EFA1-F85B96898A2E}"/>
              </a:ext>
            </a:extLst>
          </p:cNvPr>
          <p:cNvCxnSpPr>
            <a:cxnSpLocks/>
            <a:stCxn id="17" idx="0"/>
            <a:endCxn id="4" idx="5"/>
          </p:cNvCxnSpPr>
          <p:nvPr/>
        </p:nvCxnSpPr>
        <p:spPr>
          <a:xfrm flipH="1" flipV="1">
            <a:off x="6188596" y="2048047"/>
            <a:ext cx="399356" cy="791710"/>
          </a:xfrm>
          <a:prstGeom prst="line">
            <a:avLst/>
          </a:prstGeom>
          <a:ln w="63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9" name="Boxes2">
            <a:extLst>
              <a:ext uri="{FF2B5EF4-FFF2-40B4-BE49-F238E27FC236}">
                <a16:creationId xmlns:a16="http://schemas.microsoft.com/office/drawing/2014/main" id="{84FEA0C3-DD82-107B-988B-147CFC86E2A9}"/>
              </a:ext>
            </a:extLst>
          </p:cNvPr>
          <p:cNvGrpSpPr/>
          <p:nvPr/>
        </p:nvGrpSpPr>
        <p:grpSpPr>
          <a:xfrm>
            <a:off x="6672985" y="1518318"/>
            <a:ext cx="1689966" cy="1113669"/>
            <a:chOff x="6672985" y="1195100"/>
            <a:chExt cx="1689966" cy="1113669"/>
          </a:xfrm>
        </p:grpSpPr>
        <p:sp>
          <p:nvSpPr>
            <p:cNvPr id="141" name="Highlight Box">
              <a:extLst>
                <a:ext uri="{FF2B5EF4-FFF2-40B4-BE49-F238E27FC236}">
                  <a16:creationId xmlns:a16="http://schemas.microsoft.com/office/drawing/2014/main" id="{C7D12112-3EB2-2FC1-3582-2B0E4A6C0FD7}"/>
                </a:ext>
              </a:extLst>
            </p:cNvPr>
            <p:cNvSpPr/>
            <p:nvPr/>
          </p:nvSpPr>
          <p:spPr>
            <a:xfrm>
              <a:off x="8225791" y="1237222"/>
              <a:ext cx="137160" cy="137160"/>
            </a:xfrm>
            <a:prstGeom prst="roundRect">
              <a:avLst>
                <a:gd name="adj" fmla="val 1342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Highlight Box">
              <a:extLst>
                <a:ext uri="{FF2B5EF4-FFF2-40B4-BE49-F238E27FC236}">
                  <a16:creationId xmlns:a16="http://schemas.microsoft.com/office/drawing/2014/main" id="{1A95E60B-C740-9747-4949-36685646459F}"/>
                </a:ext>
              </a:extLst>
            </p:cNvPr>
            <p:cNvSpPr/>
            <p:nvPr/>
          </p:nvSpPr>
          <p:spPr>
            <a:xfrm>
              <a:off x="6672985" y="1724619"/>
              <a:ext cx="137160" cy="137160"/>
            </a:xfrm>
            <a:prstGeom prst="roundRect">
              <a:avLst>
                <a:gd name="adj" fmla="val 1342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Highlight Box">
              <a:extLst>
                <a:ext uri="{FF2B5EF4-FFF2-40B4-BE49-F238E27FC236}">
                  <a16:creationId xmlns:a16="http://schemas.microsoft.com/office/drawing/2014/main" id="{556676DB-C9B8-D88A-4EA0-9618145DB703}"/>
                </a:ext>
              </a:extLst>
            </p:cNvPr>
            <p:cNvSpPr/>
            <p:nvPr/>
          </p:nvSpPr>
          <p:spPr>
            <a:xfrm>
              <a:off x="6974555" y="1195100"/>
              <a:ext cx="137160" cy="137160"/>
            </a:xfrm>
            <a:prstGeom prst="roundRect">
              <a:avLst>
                <a:gd name="adj" fmla="val 1342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Highlight Box">
              <a:extLst>
                <a:ext uri="{FF2B5EF4-FFF2-40B4-BE49-F238E27FC236}">
                  <a16:creationId xmlns:a16="http://schemas.microsoft.com/office/drawing/2014/main" id="{F0E7C3DB-D340-81FB-5C1D-99B42642B784}"/>
                </a:ext>
              </a:extLst>
            </p:cNvPr>
            <p:cNvSpPr/>
            <p:nvPr/>
          </p:nvSpPr>
          <p:spPr>
            <a:xfrm>
              <a:off x="7850812" y="2171609"/>
              <a:ext cx="137160" cy="137160"/>
            </a:xfrm>
            <a:prstGeom prst="roundRect">
              <a:avLst>
                <a:gd name="adj" fmla="val 1342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Boxes3">
            <a:extLst>
              <a:ext uri="{FF2B5EF4-FFF2-40B4-BE49-F238E27FC236}">
                <a16:creationId xmlns:a16="http://schemas.microsoft.com/office/drawing/2014/main" id="{C1934BE1-F34F-A2EA-2EBF-D7C9153152A8}"/>
              </a:ext>
            </a:extLst>
          </p:cNvPr>
          <p:cNvGrpSpPr/>
          <p:nvPr/>
        </p:nvGrpSpPr>
        <p:grpSpPr>
          <a:xfrm>
            <a:off x="6212654" y="1518318"/>
            <a:ext cx="1457467" cy="1429082"/>
            <a:chOff x="6212654" y="1195100"/>
            <a:chExt cx="1457467" cy="1429082"/>
          </a:xfrm>
        </p:grpSpPr>
        <p:sp>
          <p:nvSpPr>
            <p:cNvPr id="9" name="Highlight Box">
              <a:extLst>
                <a:ext uri="{FF2B5EF4-FFF2-40B4-BE49-F238E27FC236}">
                  <a16:creationId xmlns:a16="http://schemas.microsoft.com/office/drawing/2014/main" id="{02EAC2A4-91E1-B384-2F2E-8AE65CD86939}"/>
                </a:ext>
              </a:extLst>
            </p:cNvPr>
            <p:cNvSpPr/>
            <p:nvPr/>
          </p:nvSpPr>
          <p:spPr>
            <a:xfrm>
              <a:off x="6212654" y="2170585"/>
              <a:ext cx="137160" cy="137160"/>
            </a:xfrm>
            <a:prstGeom prst="roundRect">
              <a:avLst>
                <a:gd name="adj" fmla="val 1342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Highlight Box">
              <a:extLst>
                <a:ext uri="{FF2B5EF4-FFF2-40B4-BE49-F238E27FC236}">
                  <a16:creationId xmlns:a16="http://schemas.microsoft.com/office/drawing/2014/main" id="{62B4808F-2907-1C95-966D-CD9B6F394915}"/>
                </a:ext>
              </a:extLst>
            </p:cNvPr>
            <p:cNvSpPr/>
            <p:nvPr/>
          </p:nvSpPr>
          <p:spPr>
            <a:xfrm>
              <a:off x="7532961" y="1568306"/>
              <a:ext cx="137160" cy="137160"/>
            </a:xfrm>
            <a:prstGeom prst="roundRect">
              <a:avLst>
                <a:gd name="adj" fmla="val 1342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Highlight Box">
              <a:extLst>
                <a:ext uri="{FF2B5EF4-FFF2-40B4-BE49-F238E27FC236}">
                  <a16:creationId xmlns:a16="http://schemas.microsoft.com/office/drawing/2014/main" id="{13BD9347-FAA1-B390-3BCA-6DAFF14229CB}"/>
                </a:ext>
              </a:extLst>
            </p:cNvPr>
            <p:cNvSpPr/>
            <p:nvPr/>
          </p:nvSpPr>
          <p:spPr>
            <a:xfrm>
              <a:off x="6974555" y="1195100"/>
              <a:ext cx="137160" cy="137160"/>
            </a:xfrm>
            <a:prstGeom prst="roundRect">
              <a:avLst>
                <a:gd name="adj" fmla="val 1342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Highlight Box">
              <a:extLst>
                <a:ext uri="{FF2B5EF4-FFF2-40B4-BE49-F238E27FC236}">
                  <a16:creationId xmlns:a16="http://schemas.microsoft.com/office/drawing/2014/main" id="{01BE15A5-3792-BEE5-8376-17EA2CE3DE82}"/>
                </a:ext>
              </a:extLst>
            </p:cNvPr>
            <p:cNvSpPr/>
            <p:nvPr/>
          </p:nvSpPr>
          <p:spPr>
            <a:xfrm>
              <a:off x="6517399" y="2487022"/>
              <a:ext cx="137160" cy="137160"/>
            </a:xfrm>
            <a:prstGeom prst="roundRect">
              <a:avLst>
                <a:gd name="adj" fmla="val 1342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4" name="Straight Connector 36">
            <a:extLst>
              <a:ext uri="{FF2B5EF4-FFF2-40B4-BE49-F238E27FC236}">
                <a16:creationId xmlns:a16="http://schemas.microsoft.com/office/drawing/2014/main" id="{E19A7A37-C2F7-6427-447B-E998F86810B5}"/>
              </a:ext>
            </a:extLst>
          </p:cNvPr>
          <p:cNvCxnSpPr>
            <a:cxnSpLocks noChangeShapeType="1"/>
            <a:stCxn id="65" idx="6"/>
            <a:endCxn id="106" idx="2"/>
          </p:cNvCxnSpPr>
          <p:nvPr/>
        </p:nvCxnSpPr>
        <p:spPr bwMode="auto">
          <a:xfrm flipV="1">
            <a:off x="6328872" y="2330238"/>
            <a:ext cx="609658" cy="237875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36">
            <a:extLst>
              <a:ext uri="{FF2B5EF4-FFF2-40B4-BE49-F238E27FC236}">
                <a16:creationId xmlns:a16="http://schemas.microsoft.com/office/drawing/2014/main" id="{0A2EF337-4B2C-1197-5D22-AB66139F637C}"/>
              </a:ext>
            </a:extLst>
          </p:cNvPr>
          <p:cNvCxnSpPr>
            <a:cxnSpLocks noChangeShapeType="1"/>
            <a:stCxn id="17" idx="0"/>
            <a:endCxn id="106" idx="3"/>
          </p:cNvCxnSpPr>
          <p:nvPr/>
        </p:nvCxnSpPr>
        <p:spPr bwMode="auto">
          <a:xfrm rot="5400000" flipH="1" flipV="1">
            <a:off x="6531341" y="2419178"/>
            <a:ext cx="477190" cy="363969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accent1"/>
            </a:solidFill>
            <a:prstDash val="sysDot"/>
            <a:round/>
            <a:headEnd type="none" w="med" len="med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81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5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2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9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25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2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50"/>
                            </p:stCondLst>
                            <p:childTnLst>
                              <p:par>
                                <p:cTn id="9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2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3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2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2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2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/>
      <p:bldP spid="1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A1970-F3AC-890F-A851-70CD7D89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715CDB2-E93D-D9A4-0F45-8BC3F8C38F7B}"/>
              </a:ext>
            </a:extLst>
          </p:cNvPr>
          <p:cNvSpPr txBox="1">
            <a:spLocks/>
          </p:cNvSpPr>
          <p:nvPr/>
        </p:nvSpPr>
        <p:spPr bwMode="auto">
          <a:xfrm>
            <a:off x="5583815" y="742950"/>
            <a:ext cx="2577529" cy="3693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50000"/>
                    <a:lumOff val="50000"/>
                  </a:schemeClr>
                </a:solidFill>
                <a:ea typeface="ＭＳ Ｐゴシック" charset="-128"/>
              </a:defRPr>
            </a:lvl1pPr>
          </a:lstStyle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</a:rPr>
              <a:t>Hierarchical Graph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E7E22-1D33-F1C8-57DF-08CE81779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 SEARCH: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9ABED-B65C-5713-B49C-9093DF9CA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graph where each node represents a vector and it has edges to (at most) its </a:t>
            </a:r>
            <a:r>
              <a:rPr lang="en-US" b="1" i="1" dirty="0">
                <a:solidFill>
                  <a:schemeClr val="accent1"/>
                </a:solidFill>
              </a:rPr>
              <a:t>n</a:t>
            </a:r>
            <a:r>
              <a:rPr lang="en-US" dirty="0"/>
              <a:t> nearest neighbors.</a:t>
            </a:r>
          </a:p>
          <a:p>
            <a:pPr lvl="1"/>
            <a:r>
              <a:rPr lang="en-US" dirty="0"/>
              <a:t>Can use multiple levels of graphs (</a:t>
            </a:r>
            <a:r>
              <a:rPr lang="en-US" dirty="0">
                <a:hlinkClick r:id="rId3"/>
              </a:rPr>
              <a:t>HNSW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Examples: </a:t>
            </a:r>
            <a:r>
              <a:rPr lang="en-US" dirty="0" err="1">
                <a:hlinkClick r:id="rId4"/>
              </a:rPr>
              <a:t>Faiss</a:t>
            </a:r>
            <a:r>
              <a:rPr lang="en-US" dirty="0"/>
              <a:t>, </a:t>
            </a:r>
            <a:r>
              <a:rPr lang="en-US" dirty="0" err="1">
                <a:hlinkClick r:id="rId5"/>
              </a:rPr>
              <a:t>hnswlib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DiskANN</a:t>
            </a:r>
            <a:endParaRPr lang="en-US" dirty="0"/>
          </a:p>
          <a:p>
            <a:endParaRPr lang="en-US" sz="1200" dirty="0"/>
          </a:p>
          <a:p>
            <a:r>
              <a:rPr lang="en-US" dirty="0"/>
              <a:t>To find a match for a given vector, enter the graph and then greedily choose the next edge that moves closer to that vector.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BE3E1-39B3-7738-C8F7-961956B2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0"/>
            <a:ext cx="365760" cy="273844"/>
          </a:xfrm>
          <a:prstGeom prst="rect">
            <a:avLst/>
          </a:prstGeom>
          <a:noFill/>
        </p:spPr>
        <p:txBody>
          <a:bodyPr vert="horz" lIns="0" tIns="45720" rIns="4572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Nunito" panose="02000303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DD1AB5-42BA-4E8A-BFEE-435884E16AAB}" type="slidenum">
              <a:rPr lang="en-US" smtClean="0"/>
              <a:pPr/>
              <a:t>44</a:t>
            </a:fld>
            <a:endParaRPr lang="en-US" dirty="0"/>
          </a:p>
        </p:txBody>
      </p:sp>
      <p:grpSp>
        <p:nvGrpSpPr>
          <p:cNvPr id="48" name="layer3">
            <a:extLst>
              <a:ext uri="{FF2B5EF4-FFF2-40B4-BE49-F238E27FC236}">
                <a16:creationId xmlns:a16="http://schemas.microsoft.com/office/drawing/2014/main" id="{984211BD-93F8-BA06-4510-1637A5185D68}"/>
              </a:ext>
            </a:extLst>
          </p:cNvPr>
          <p:cNvGrpSpPr/>
          <p:nvPr/>
        </p:nvGrpSpPr>
        <p:grpSpPr>
          <a:xfrm>
            <a:off x="5867400" y="3105150"/>
            <a:ext cx="2743200" cy="1645920"/>
            <a:chOff x="5867400" y="1085055"/>
            <a:chExt cx="2743200" cy="1645920"/>
          </a:xfrm>
          <a:scene3d>
            <a:camera prst="isometricTopUp">
              <a:rot lat="19200000" lon="18000000" rev="3600000"/>
            </a:camera>
            <a:lightRig rig="threePt" dir="t"/>
          </a:scene3d>
        </p:grpSpPr>
        <p:sp>
          <p:nvSpPr>
            <p:cNvPr id="49" name="Text Box 4">
              <a:extLst>
                <a:ext uri="{FF2B5EF4-FFF2-40B4-BE49-F238E27FC236}">
                  <a16:creationId xmlns:a16="http://schemas.microsoft.com/office/drawing/2014/main" id="{C20296D2-89BC-475E-5C26-53EE0D03B92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867400" y="1085055"/>
              <a:ext cx="2743200" cy="16459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  <a:headEnd/>
              <a:tailEnd/>
            </a:ln>
            <a:effectLst/>
            <a:sp3d/>
          </p:spPr>
          <p:txBody>
            <a:bodyPr/>
            <a:lstStyle/>
            <a:p>
              <a:pPr eaLnBrk="0" hangingPunct="0">
                <a:defRPr/>
              </a:pPr>
              <a:endParaRPr lang="en-US" sz="16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</p:txBody>
        </p:sp>
        <p:sp>
          <p:nvSpPr>
            <p:cNvPr id="50" name="node">
              <a:extLst>
                <a:ext uri="{FF2B5EF4-FFF2-40B4-BE49-F238E27FC236}">
                  <a16:creationId xmlns:a16="http://schemas.microsoft.com/office/drawing/2014/main" id="{2D4448FC-DED4-AAA3-8DEE-423D0CE6F87F}"/>
                </a:ext>
              </a:extLst>
            </p:cNvPr>
            <p:cNvSpPr/>
            <p:nvPr/>
          </p:nvSpPr>
          <p:spPr>
            <a:xfrm>
              <a:off x="6110547" y="1646780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node">
              <a:extLst>
                <a:ext uri="{FF2B5EF4-FFF2-40B4-BE49-F238E27FC236}">
                  <a16:creationId xmlns:a16="http://schemas.microsoft.com/office/drawing/2014/main" id="{9075BDC4-2826-D039-BB12-7042CB1E6692}"/>
                </a:ext>
              </a:extLst>
            </p:cNvPr>
            <p:cNvSpPr/>
            <p:nvPr/>
          </p:nvSpPr>
          <p:spPr>
            <a:xfrm>
              <a:off x="6542232" y="2516539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node">
              <a:extLst>
                <a:ext uri="{FF2B5EF4-FFF2-40B4-BE49-F238E27FC236}">
                  <a16:creationId xmlns:a16="http://schemas.microsoft.com/office/drawing/2014/main" id="{2655A580-C8F9-51EE-68D6-82F1C0FCB10D}"/>
                </a:ext>
              </a:extLst>
            </p:cNvPr>
            <p:cNvSpPr/>
            <p:nvPr/>
          </p:nvSpPr>
          <p:spPr>
            <a:xfrm>
              <a:off x="7555692" y="1594028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node">
              <a:extLst>
                <a:ext uri="{FF2B5EF4-FFF2-40B4-BE49-F238E27FC236}">
                  <a16:creationId xmlns:a16="http://schemas.microsoft.com/office/drawing/2014/main" id="{CE3E8EDC-08AC-7EC2-A4B6-84039D577792}"/>
                </a:ext>
              </a:extLst>
            </p:cNvPr>
            <p:cNvSpPr/>
            <p:nvPr/>
          </p:nvSpPr>
          <p:spPr>
            <a:xfrm>
              <a:off x="7001337" y="1208052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node">
              <a:extLst>
                <a:ext uri="{FF2B5EF4-FFF2-40B4-BE49-F238E27FC236}">
                  <a16:creationId xmlns:a16="http://schemas.microsoft.com/office/drawing/2014/main" id="{8F79ED0B-24F9-B046-C2C7-1A7164F89126}"/>
                </a:ext>
              </a:extLst>
            </p:cNvPr>
            <p:cNvSpPr/>
            <p:nvPr/>
          </p:nvSpPr>
          <p:spPr>
            <a:xfrm>
              <a:off x="8310072" y="2014773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node">
              <a:extLst>
                <a:ext uri="{FF2B5EF4-FFF2-40B4-BE49-F238E27FC236}">
                  <a16:creationId xmlns:a16="http://schemas.microsoft.com/office/drawing/2014/main" id="{6BB863E1-82C8-BCD2-97D1-9B26DDB5F1EF}"/>
                </a:ext>
              </a:extLst>
            </p:cNvPr>
            <p:cNvSpPr/>
            <p:nvPr/>
          </p:nvSpPr>
          <p:spPr>
            <a:xfrm>
              <a:off x="6698438" y="1747479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node">
              <a:extLst>
                <a:ext uri="{FF2B5EF4-FFF2-40B4-BE49-F238E27FC236}">
                  <a16:creationId xmlns:a16="http://schemas.microsoft.com/office/drawing/2014/main" id="{2DD67551-0CF0-F666-991C-FEE8FB05BBE8}"/>
                </a:ext>
              </a:extLst>
            </p:cNvPr>
            <p:cNvSpPr/>
            <p:nvPr/>
          </p:nvSpPr>
          <p:spPr>
            <a:xfrm>
              <a:off x="7876053" y="2199175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node">
              <a:extLst>
                <a:ext uri="{FF2B5EF4-FFF2-40B4-BE49-F238E27FC236}">
                  <a16:creationId xmlns:a16="http://schemas.microsoft.com/office/drawing/2014/main" id="{17DDDFD8-EA77-3401-7E66-3B89956A873E}"/>
                </a:ext>
              </a:extLst>
            </p:cNvPr>
            <p:cNvSpPr/>
            <p:nvPr/>
          </p:nvSpPr>
          <p:spPr>
            <a:xfrm>
              <a:off x="8252922" y="1259243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0" name="edge">
              <a:extLst>
                <a:ext uri="{FF2B5EF4-FFF2-40B4-BE49-F238E27FC236}">
                  <a16:creationId xmlns:a16="http://schemas.microsoft.com/office/drawing/2014/main" id="{90143229-3D21-0596-59E4-CF4027172423}"/>
                </a:ext>
              </a:extLst>
            </p:cNvPr>
            <p:cNvCxnSpPr>
              <a:cxnSpLocks/>
              <a:stCxn id="59" idx="2"/>
              <a:endCxn id="52" idx="7"/>
            </p:cNvCxnSpPr>
            <p:nvPr/>
          </p:nvCxnSpPr>
          <p:spPr>
            <a:xfrm flipH="1">
              <a:off x="7633741" y="1304963"/>
              <a:ext cx="619181" cy="302456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edge">
              <a:extLst>
                <a:ext uri="{FF2B5EF4-FFF2-40B4-BE49-F238E27FC236}">
                  <a16:creationId xmlns:a16="http://schemas.microsoft.com/office/drawing/2014/main" id="{D36B0A01-EE42-4C90-DA38-93C11FDCF810}"/>
                </a:ext>
              </a:extLst>
            </p:cNvPr>
            <p:cNvCxnSpPr>
              <a:cxnSpLocks/>
              <a:stCxn id="59" idx="5"/>
              <a:endCxn id="54" idx="0"/>
            </p:cNvCxnSpPr>
            <p:nvPr/>
          </p:nvCxnSpPr>
          <p:spPr>
            <a:xfrm>
              <a:off x="8330971" y="1337292"/>
              <a:ext cx="24821" cy="677481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edge">
              <a:extLst>
                <a:ext uri="{FF2B5EF4-FFF2-40B4-BE49-F238E27FC236}">
                  <a16:creationId xmlns:a16="http://schemas.microsoft.com/office/drawing/2014/main" id="{071099CE-4ACB-C295-2AA9-678C88E14BC5}"/>
                </a:ext>
              </a:extLst>
            </p:cNvPr>
            <p:cNvCxnSpPr>
              <a:cxnSpLocks/>
              <a:stCxn id="54" idx="3"/>
              <a:endCxn id="57" idx="7"/>
            </p:cNvCxnSpPr>
            <p:nvPr/>
          </p:nvCxnSpPr>
          <p:spPr>
            <a:xfrm flipH="1">
              <a:off x="7954102" y="2092822"/>
              <a:ext cx="369361" cy="119744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edge">
              <a:extLst>
                <a:ext uri="{FF2B5EF4-FFF2-40B4-BE49-F238E27FC236}">
                  <a16:creationId xmlns:a16="http://schemas.microsoft.com/office/drawing/2014/main" id="{6C3F6E1E-0ED3-03A5-B365-DAF7F159BFD7}"/>
                </a:ext>
              </a:extLst>
            </p:cNvPr>
            <p:cNvCxnSpPr>
              <a:cxnSpLocks/>
              <a:stCxn id="59" idx="4"/>
              <a:endCxn id="57" idx="0"/>
            </p:cNvCxnSpPr>
            <p:nvPr/>
          </p:nvCxnSpPr>
          <p:spPr>
            <a:xfrm flipH="1">
              <a:off x="7921773" y="1350683"/>
              <a:ext cx="376869" cy="848492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edge">
              <a:extLst>
                <a:ext uri="{FF2B5EF4-FFF2-40B4-BE49-F238E27FC236}">
                  <a16:creationId xmlns:a16="http://schemas.microsoft.com/office/drawing/2014/main" id="{63DB5A10-AF1D-883E-2323-FFDDD35350EC}"/>
                </a:ext>
              </a:extLst>
            </p:cNvPr>
            <p:cNvCxnSpPr>
              <a:cxnSpLocks/>
              <a:stCxn id="52" idx="4"/>
              <a:endCxn id="57" idx="1"/>
            </p:cNvCxnSpPr>
            <p:nvPr/>
          </p:nvCxnSpPr>
          <p:spPr>
            <a:xfrm>
              <a:off x="7601412" y="1685468"/>
              <a:ext cx="288032" cy="527098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edge">
              <a:extLst>
                <a:ext uri="{FF2B5EF4-FFF2-40B4-BE49-F238E27FC236}">
                  <a16:creationId xmlns:a16="http://schemas.microsoft.com/office/drawing/2014/main" id="{2396080B-25B0-4F5E-D9A5-367645C285B7}"/>
                </a:ext>
              </a:extLst>
            </p:cNvPr>
            <p:cNvCxnSpPr>
              <a:cxnSpLocks/>
              <a:stCxn id="52" idx="5"/>
              <a:endCxn id="54" idx="1"/>
            </p:cNvCxnSpPr>
            <p:nvPr/>
          </p:nvCxnSpPr>
          <p:spPr>
            <a:xfrm>
              <a:off x="7633741" y="1672077"/>
              <a:ext cx="689722" cy="356087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edge">
              <a:extLst>
                <a:ext uri="{FF2B5EF4-FFF2-40B4-BE49-F238E27FC236}">
                  <a16:creationId xmlns:a16="http://schemas.microsoft.com/office/drawing/2014/main" id="{5789DC9B-1132-0DB5-5B61-9526C86AC17E}"/>
                </a:ext>
              </a:extLst>
            </p:cNvPr>
            <p:cNvCxnSpPr>
              <a:cxnSpLocks/>
              <a:stCxn id="53" idx="6"/>
              <a:endCxn id="52" idx="1"/>
            </p:cNvCxnSpPr>
            <p:nvPr/>
          </p:nvCxnSpPr>
          <p:spPr>
            <a:xfrm>
              <a:off x="7092777" y="1253772"/>
              <a:ext cx="476306" cy="353647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edge">
              <a:extLst>
                <a:ext uri="{FF2B5EF4-FFF2-40B4-BE49-F238E27FC236}">
                  <a16:creationId xmlns:a16="http://schemas.microsoft.com/office/drawing/2014/main" id="{FA5CB34D-01C5-E291-1312-3E9344EAB422}"/>
                </a:ext>
              </a:extLst>
            </p:cNvPr>
            <p:cNvCxnSpPr>
              <a:cxnSpLocks/>
              <a:stCxn id="52" idx="2"/>
              <a:endCxn id="56" idx="6"/>
            </p:cNvCxnSpPr>
            <p:nvPr/>
          </p:nvCxnSpPr>
          <p:spPr>
            <a:xfrm flipH="1">
              <a:off x="6789878" y="1639748"/>
              <a:ext cx="765814" cy="153451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node">
              <a:extLst>
                <a:ext uri="{FF2B5EF4-FFF2-40B4-BE49-F238E27FC236}">
                  <a16:creationId xmlns:a16="http://schemas.microsoft.com/office/drawing/2014/main" id="{7096E29B-A3D1-C094-F971-F601775FF54A}"/>
                </a:ext>
              </a:extLst>
            </p:cNvPr>
            <p:cNvSpPr/>
            <p:nvPr/>
          </p:nvSpPr>
          <p:spPr>
            <a:xfrm>
              <a:off x="6237432" y="2199175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4" name="edge">
              <a:extLst>
                <a:ext uri="{FF2B5EF4-FFF2-40B4-BE49-F238E27FC236}">
                  <a16:creationId xmlns:a16="http://schemas.microsoft.com/office/drawing/2014/main" id="{549A7B75-5465-D4DC-BB96-1FE53C3B59EB}"/>
                </a:ext>
              </a:extLst>
            </p:cNvPr>
            <p:cNvCxnSpPr>
              <a:cxnSpLocks/>
              <a:stCxn id="50" idx="6"/>
              <a:endCxn id="53" idx="2"/>
            </p:cNvCxnSpPr>
            <p:nvPr/>
          </p:nvCxnSpPr>
          <p:spPr>
            <a:xfrm flipV="1">
              <a:off x="6201987" y="1253772"/>
              <a:ext cx="799350" cy="438728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dge">
              <a:extLst>
                <a:ext uri="{FF2B5EF4-FFF2-40B4-BE49-F238E27FC236}">
                  <a16:creationId xmlns:a16="http://schemas.microsoft.com/office/drawing/2014/main" id="{91CE3401-531D-567C-56D9-2FBA8D21F5E7}"/>
                </a:ext>
              </a:extLst>
            </p:cNvPr>
            <p:cNvCxnSpPr>
              <a:cxnSpLocks/>
              <a:stCxn id="53" idx="4"/>
              <a:endCxn id="56" idx="7"/>
            </p:cNvCxnSpPr>
            <p:nvPr/>
          </p:nvCxnSpPr>
          <p:spPr>
            <a:xfrm flipH="1">
              <a:off x="6776487" y="1299492"/>
              <a:ext cx="270570" cy="461378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dge">
              <a:extLst>
                <a:ext uri="{FF2B5EF4-FFF2-40B4-BE49-F238E27FC236}">
                  <a16:creationId xmlns:a16="http://schemas.microsoft.com/office/drawing/2014/main" id="{78BAABF5-E4D5-F447-5051-7788E7EB870D}"/>
                </a:ext>
              </a:extLst>
            </p:cNvPr>
            <p:cNvCxnSpPr>
              <a:cxnSpLocks/>
              <a:stCxn id="50" idx="4"/>
              <a:endCxn id="73" idx="0"/>
            </p:cNvCxnSpPr>
            <p:nvPr/>
          </p:nvCxnSpPr>
          <p:spPr>
            <a:xfrm>
              <a:off x="6156267" y="1738220"/>
              <a:ext cx="126885" cy="460955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edge">
              <a:extLst>
                <a:ext uri="{FF2B5EF4-FFF2-40B4-BE49-F238E27FC236}">
                  <a16:creationId xmlns:a16="http://schemas.microsoft.com/office/drawing/2014/main" id="{1FAF5175-7B29-758D-8287-50D0B5624A59}"/>
                </a:ext>
              </a:extLst>
            </p:cNvPr>
            <p:cNvCxnSpPr>
              <a:cxnSpLocks/>
              <a:stCxn id="73" idx="5"/>
              <a:endCxn id="51" idx="1"/>
            </p:cNvCxnSpPr>
            <p:nvPr/>
          </p:nvCxnSpPr>
          <p:spPr>
            <a:xfrm>
              <a:off x="6315481" y="2277224"/>
              <a:ext cx="240142" cy="252706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edge">
              <a:extLst>
                <a:ext uri="{FF2B5EF4-FFF2-40B4-BE49-F238E27FC236}">
                  <a16:creationId xmlns:a16="http://schemas.microsoft.com/office/drawing/2014/main" id="{06BE3D17-DA7B-AEDB-B7F5-4B6542EBD06B}"/>
                </a:ext>
              </a:extLst>
            </p:cNvPr>
            <p:cNvCxnSpPr>
              <a:cxnSpLocks/>
              <a:stCxn id="56" idx="3"/>
              <a:endCxn id="73" idx="7"/>
            </p:cNvCxnSpPr>
            <p:nvPr/>
          </p:nvCxnSpPr>
          <p:spPr>
            <a:xfrm flipH="1">
              <a:off x="6315481" y="1825528"/>
              <a:ext cx="396348" cy="387038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edge">
              <a:extLst>
                <a:ext uri="{FF2B5EF4-FFF2-40B4-BE49-F238E27FC236}">
                  <a16:creationId xmlns:a16="http://schemas.microsoft.com/office/drawing/2014/main" id="{EE623B3F-0D8F-2E8F-242E-C9AFECC88676}"/>
                </a:ext>
              </a:extLst>
            </p:cNvPr>
            <p:cNvCxnSpPr>
              <a:cxnSpLocks/>
              <a:stCxn id="56" idx="4"/>
              <a:endCxn id="51" idx="7"/>
            </p:cNvCxnSpPr>
            <p:nvPr/>
          </p:nvCxnSpPr>
          <p:spPr>
            <a:xfrm flipH="1">
              <a:off x="6620281" y="1838919"/>
              <a:ext cx="123877" cy="691011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edge">
              <a:extLst>
                <a:ext uri="{FF2B5EF4-FFF2-40B4-BE49-F238E27FC236}">
                  <a16:creationId xmlns:a16="http://schemas.microsoft.com/office/drawing/2014/main" id="{37A14CCC-543E-7175-E531-28276CF63BD0}"/>
                </a:ext>
              </a:extLst>
            </p:cNvPr>
            <p:cNvCxnSpPr>
              <a:cxnSpLocks/>
              <a:stCxn id="51" idx="0"/>
              <a:endCxn id="50" idx="5"/>
            </p:cNvCxnSpPr>
            <p:nvPr/>
          </p:nvCxnSpPr>
          <p:spPr>
            <a:xfrm flipH="1" flipV="1">
              <a:off x="6188596" y="1724829"/>
              <a:ext cx="399356" cy="791710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984ADA74-9382-F230-D22A-8D9AA5978414}"/>
              </a:ext>
            </a:extLst>
          </p:cNvPr>
          <p:cNvGrpSpPr/>
          <p:nvPr/>
        </p:nvGrpSpPr>
        <p:grpSpPr>
          <a:xfrm>
            <a:off x="6303982" y="2445376"/>
            <a:ext cx="1857363" cy="1829320"/>
            <a:chOff x="6303982" y="2445376"/>
            <a:chExt cx="1857363" cy="1829320"/>
          </a:xfrm>
        </p:grpSpPr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9C49BF7F-AF89-6632-BB58-C3AD9E24D798}"/>
                </a:ext>
              </a:extLst>
            </p:cNvPr>
            <p:cNvCxnSpPr>
              <a:cxnSpLocks/>
            </p:cNvCxnSpPr>
            <p:nvPr/>
          </p:nvCxnSpPr>
          <p:spPr>
            <a:xfrm>
              <a:off x="8161345" y="2734371"/>
              <a:ext cx="0" cy="1078992"/>
            </a:xfrm>
            <a:prstGeom prst="straightConnector1">
              <a:avLst/>
            </a:prstGeom>
            <a:ln w="31750" cap="rnd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3428C313-B47B-89F0-021E-C77FFF2BA883}"/>
                </a:ext>
              </a:extLst>
            </p:cNvPr>
            <p:cNvGrpSpPr/>
            <p:nvPr/>
          </p:nvGrpSpPr>
          <p:grpSpPr>
            <a:xfrm>
              <a:off x="6303982" y="2445376"/>
              <a:ext cx="1311719" cy="1829320"/>
              <a:chOff x="6303982" y="2445376"/>
              <a:chExt cx="1311719" cy="1829320"/>
            </a:xfrm>
          </p:grpSpPr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7AA087BE-937A-C025-04F2-AFF44CEFDC90}"/>
                  </a:ext>
                </a:extLst>
              </p:cNvPr>
              <p:cNvCxnSpPr/>
              <p:nvPr/>
            </p:nvCxnSpPr>
            <p:spPr>
              <a:xfrm>
                <a:off x="6303982" y="2936790"/>
                <a:ext cx="0" cy="1078992"/>
              </a:xfrm>
              <a:prstGeom prst="straightConnector1">
                <a:avLst/>
              </a:prstGeom>
              <a:ln w="31750" cap="rnd"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912903B4-687E-8704-567F-619FE60B7BC2}"/>
                  </a:ext>
                </a:extLst>
              </p:cNvPr>
              <p:cNvCxnSpPr/>
              <p:nvPr/>
            </p:nvCxnSpPr>
            <p:spPr>
              <a:xfrm>
                <a:off x="6666363" y="2613180"/>
                <a:ext cx="0" cy="1078992"/>
              </a:xfrm>
              <a:prstGeom prst="straightConnector1">
                <a:avLst/>
              </a:prstGeom>
              <a:ln w="31750" cap="rnd"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EDCB581F-740D-31EE-8A45-47889FF031DC}"/>
                  </a:ext>
                </a:extLst>
              </p:cNvPr>
              <p:cNvCxnSpPr/>
              <p:nvPr/>
            </p:nvCxnSpPr>
            <p:spPr>
              <a:xfrm>
                <a:off x="6789878" y="2849118"/>
                <a:ext cx="0" cy="1078992"/>
              </a:xfrm>
              <a:prstGeom prst="straightConnector1">
                <a:avLst/>
              </a:prstGeom>
              <a:ln w="31750" cap="rnd"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BEEED5CC-0536-6D44-9444-327EE2556B61}"/>
                  </a:ext>
                </a:extLst>
              </p:cNvPr>
              <p:cNvCxnSpPr/>
              <p:nvPr/>
            </p:nvCxnSpPr>
            <p:spPr>
              <a:xfrm>
                <a:off x="7204213" y="3195704"/>
                <a:ext cx="0" cy="1078992"/>
              </a:xfrm>
              <a:prstGeom prst="straightConnector1">
                <a:avLst/>
              </a:prstGeom>
              <a:ln w="31750" cap="rnd"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9DA27F24-1B2D-8BCA-19C5-CF1571E08B73}"/>
                  </a:ext>
                </a:extLst>
              </p:cNvPr>
              <p:cNvCxnSpPr/>
              <p:nvPr/>
            </p:nvCxnSpPr>
            <p:spPr>
              <a:xfrm>
                <a:off x="7615701" y="2445376"/>
                <a:ext cx="0" cy="1078992"/>
              </a:xfrm>
              <a:prstGeom prst="straightConnector1">
                <a:avLst/>
              </a:prstGeom>
              <a:ln w="31750" cap="rnd"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layer2">
            <a:extLst>
              <a:ext uri="{FF2B5EF4-FFF2-40B4-BE49-F238E27FC236}">
                <a16:creationId xmlns:a16="http://schemas.microsoft.com/office/drawing/2014/main" id="{F500902E-D4DC-3241-5C6E-BDCF39302CD4}"/>
              </a:ext>
            </a:extLst>
          </p:cNvPr>
          <p:cNvGrpSpPr/>
          <p:nvPr/>
        </p:nvGrpSpPr>
        <p:grpSpPr>
          <a:xfrm>
            <a:off x="5867400" y="2000250"/>
            <a:ext cx="2743200" cy="1645920"/>
            <a:chOff x="5867400" y="1085055"/>
            <a:chExt cx="2743200" cy="1645920"/>
          </a:xfrm>
          <a:scene3d>
            <a:camera prst="orthographicFront">
              <a:rot lat="19200000" lon="18000000" rev="3600000"/>
            </a:camera>
            <a:lightRig rig="threePt" dir="t"/>
          </a:scene3d>
        </p:grpSpPr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037CA82B-591D-0348-F4DC-BDFA9764796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867400" y="1085055"/>
              <a:ext cx="2743200" cy="1645920"/>
            </a:xfrm>
            <a:prstGeom prst="rect">
              <a:avLst/>
            </a:prstGeom>
            <a:solidFill>
              <a:srgbClr val="D9D9D9">
                <a:alpha val="85098"/>
              </a:srgb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 sz="16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</p:txBody>
        </p:sp>
        <p:sp>
          <p:nvSpPr>
            <p:cNvPr id="11" name="node">
              <a:extLst>
                <a:ext uri="{FF2B5EF4-FFF2-40B4-BE49-F238E27FC236}">
                  <a16:creationId xmlns:a16="http://schemas.microsoft.com/office/drawing/2014/main" id="{AAF3AA56-EAFB-4805-0A8A-10F8EA89C425}"/>
                </a:ext>
              </a:extLst>
            </p:cNvPr>
            <p:cNvSpPr/>
            <p:nvPr/>
          </p:nvSpPr>
          <p:spPr>
            <a:xfrm>
              <a:off x="6110547" y="1646780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node">
              <a:extLst>
                <a:ext uri="{FF2B5EF4-FFF2-40B4-BE49-F238E27FC236}">
                  <a16:creationId xmlns:a16="http://schemas.microsoft.com/office/drawing/2014/main" id="{5F14CD44-0169-D5E4-9EDA-76E6753ED906}"/>
                </a:ext>
              </a:extLst>
            </p:cNvPr>
            <p:cNvSpPr/>
            <p:nvPr/>
          </p:nvSpPr>
          <p:spPr>
            <a:xfrm>
              <a:off x="6542232" y="2516539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node">
              <a:extLst>
                <a:ext uri="{FF2B5EF4-FFF2-40B4-BE49-F238E27FC236}">
                  <a16:creationId xmlns:a16="http://schemas.microsoft.com/office/drawing/2014/main" id="{D5338FCB-F1F4-AA58-BC81-84F8628CF4BA}"/>
                </a:ext>
              </a:extLst>
            </p:cNvPr>
            <p:cNvSpPr/>
            <p:nvPr/>
          </p:nvSpPr>
          <p:spPr>
            <a:xfrm>
              <a:off x="7001337" y="1208052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node">
              <a:extLst>
                <a:ext uri="{FF2B5EF4-FFF2-40B4-BE49-F238E27FC236}">
                  <a16:creationId xmlns:a16="http://schemas.microsoft.com/office/drawing/2014/main" id="{66182CBC-8FC3-F976-CE05-B1312102C912}"/>
                </a:ext>
              </a:extLst>
            </p:cNvPr>
            <p:cNvSpPr/>
            <p:nvPr/>
          </p:nvSpPr>
          <p:spPr>
            <a:xfrm>
              <a:off x="8310072" y="2014773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node">
              <a:extLst>
                <a:ext uri="{FF2B5EF4-FFF2-40B4-BE49-F238E27FC236}">
                  <a16:creationId xmlns:a16="http://schemas.microsoft.com/office/drawing/2014/main" id="{A32518D3-D7B2-F8E1-5C0A-C4D7606E8902}"/>
                </a:ext>
              </a:extLst>
            </p:cNvPr>
            <p:cNvSpPr/>
            <p:nvPr/>
          </p:nvSpPr>
          <p:spPr>
            <a:xfrm>
              <a:off x="6698438" y="1747479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node">
              <a:extLst>
                <a:ext uri="{FF2B5EF4-FFF2-40B4-BE49-F238E27FC236}">
                  <a16:creationId xmlns:a16="http://schemas.microsoft.com/office/drawing/2014/main" id="{9FDF7CB7-D35B-F95C-DDE6-D208EE609AAD}"/>
                </a:ext>
              </a:extLst>
            </p:cNvPr>
            <p:cNvSpPr/>
            <p:nvPr/>
          </p:nvSpPr>
          <p:spPr>
            <a:xfrm>
              <a:off x="8252922" y="1259243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edge">
              <a:extLst>
                <a:ext uri="{FF2B5EF4-FFF2-40B4-BE49-F238E27FC236}">
                  <a16:creationId xmlns:a16="http://schemas.microsoft.com/office/drawing/2014/main" id="{641334CA-8C59-15E2-1D0E-03E17774D1D1}"/>
                </a:ext>
              </a:extLst>
            </p:cNvPr>
            <p:cNvCxnSpPr>
              <a:cxnSpLocks/>
              <a:stCxn id="27" idx="5"/>
              <a:endCxn id="16" idx="0"/>
            </p:cNvCxnSpPr>
            <p:nvPr/>
          </p:nvCxnSpPr>
          <p:spPr>
            <a:xfrm>
              <a:off x="8330971" y="1337292"/>
              <a:ext cx="24821" cy="677481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edge">
              <a:extLst>
                <a:ext uri="{FF2B5EF4-FFF2-40B4-BE49-F238E27FC236}">
                  <a16:creationId xmlns:a16="http://schemas.microsoft.com/office/drawing/2014/main" id="{87841234-8F0E-5922-2CD4-76F3BD626BEA}"/>
                </a:ext>
              </a:extLst>
            </p:cNvPr>
            <p:cNvCxnSpPr>
              <a:cxnSpLocks/>
              <a:stCxn id="15" idx="6"/>
              <a:endCxn id="27" idx="2"/>
            </p:cNvCxnSpPr>
            <p:nvPr/>
          </p:nvCxnSpPr>
          <p:spPr>
            <a:xfrm>
              <a:off x="7092777" y="1253772"/>
              <a:ext cx="1160145" cy="51191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dge">
              <a:extLst>
                <a:ext uri="{FF2B5EF4-FFF2-40B4-BE49-F238E27FC236}">
                  <a16:creationId xmlns:a16="http://schemas.microsoft.com/office/drawing/2014/main" id="{08582E08-ABB8-A655-DFE2-3CA576BCB970}"/>
                </a:ext>
              </a:extLst>
            </p:cNvPr>
            <p:cNvCxnSpPr>
              <a:cxnSpLocks/>
              <a:stCxn id="16" idx="2"/>
              <a:endCxn id="24" idx="6"/>
            </p:cNvCxnSpPr>
            <p:nvPr/>
          </p:nvCxnSpPr>
          <p:spPr>
            <a:xfrm flipH="1" flipV="1">
              <a:off x="6789878" y="1793199"/>
              <a:ext cx="1520194" cy="267294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edge">
              <a:extLst>
                <a:ext uri="{FF2B5EF4-FFF2-40B4-BE49-F238E27FC236}">
                  <a16:creationId xmlns:a16="http://schemas.microsoft.com/office/drawing/2014/main" id="{A8D9939B-A3C4-4767-DF9E-96DA82B8AA11}"/>
                </a:ext>
              </a:extLst>
            </p:cNvPr>
            <p:cNvCxnSpPr>
              <a:cxnSpLocks/>
              <a:stCxn id="11" idx="6"/>
              <a:endCxn id="15" idx="2"/>
            </p:cNvCxnSpPr>
            <p:nvPr/>
          </p:nvCxnSpPr>
          <p:spPr>
            <a:xfrm flipV="1">
              <a:off x="6201987" y="1253772"/>
              <a:ext cx="799350" cy="438728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dge">
              <a:extLst>
                <a:ext uri="{FF2B5EF4-FFF2-40B4-BE49-F238E27FC236}">
                  <a16:creationId xmlns:a16="http://schemas.microsoft.com/office/drawing/2014/main" id="{B6FE54A9-9538-C791-951C-0DBFE3A777AB}"/>
                </a:ext>
              </a:extLst>
            </p:cNvPr>
            <p:cNvCxnSpPr>
              <a:cxnSpLocks/>
              <a:stCxn id="15" idx="4"/>
              <a:endCxn id="24" idx="7"/>
            </p:cNvCxnSpPr>
            <p:nvPr/>
          </p:nvCxnSpPr>
          <p:spPr>
            <a:xfrm flipH="1">
              <a:off x="6776487" y="1299492"/>
              <a:ext cx="270570" cy="461378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edge">
              <a:extLst>
                <a:ext uri="{FF2B5EF4-FFF2-40B4-BE49-F238E27FC236}">
                  <a16:creationId xmlns:a16="http://schemas.microsoft.com/office/drawing/2014/main" id="{82FE28BF-8F5C-0674-F63C-B11FFB2BD132}"/>
                </a:ext>
              </a:extLst>
            </p:cNvPr>
            <p:cNvCxnSpPr>
              <a:cxnSpLocks/>
              <a:stCxn id="24" idx="4"/>
              <a:endCxn id="12" idx="7"/>
            </p:cNvCxnSpPr>
            <p:nvPr/>
          </p:nvCxnSpPr>
          <p:spPr>
            <a:xfrm flipH="1">
              <a:off x="6620281" y="1838919"/>
              <a:ext cx="123877" cy="691011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edge">
              <a:extLst>
                <a:ext uri="{FF2B5EF4-FFF2-40B4-BE49-F238E27FC236}">
                  <a16:creationId xmlns:a16="http://schemas.microsoft.com/office/drawing/2014/main" id="{E7A36524-FFBD-B527-5AA3-973EF2BB4589}"/>
                </a:ext>
              </a:extLst>
            </p:cNvPr>
            <p:cNvCxnSpPr>
              <a:cxnSpLocks/>
              <a:stCxn id="12" idx="0"/>
              <a:endCxn id="11" idx="5"/>
            </p:cNvCxnSpPr>
            <p:nvPr/>
          </p:nvCxnSpPr>
          <p:spPr>
            <a:xfrm flipH="1" flipV="1">
              <a:off x="6188596" y="1724829"/>
              <a:ext cx="399356" cy="791710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5E35DC3-BE16-BE79-8F2C-47237E953C5F}"/>
              </a:ext>
            </a:extLst>
          </p:cNvPr>
          <p:cNvGrpSpPr/>
          <p:nvPr/>
        </p:nvGrpSpPr>
        <p:grpSpPr>
          <a:xfrm>
            <a:off x="6298814" y="1616517"/>
            <a:ext cx="1862531" cy="1287543"/>
            <a:chOff x="6298814" y="1616517"/>
            <a:chExt cx="1862531" cy="1287543"/>
          </a:xfrm>
        </p:grpSpPr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A60DF240-2379-8A8C-1B46-B88D39436AC9}"/>
                </a:ext>
              </a:extLst>
            </p:cNvPr>
            <p:cNvCxnSpPr/>
            <p:nvPr/>
          </p:nvCxnSpPr>
          <p:spPr>
            <a:xfrm>
              <a:off x="6298814" y="1825068"/>
              <a:ext cx="0" cy="1078992"/>
            </a:xfrm>
            <a:prstGeom prst="straightConnector1">
              <a:avLst/>
            </a:prstGeom>
            <a:ln w="31750" cap="rnd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3470804-48EC-6013-2E2C-6ED9902DC7EF}"/>
                </a:ext>
              </a:extLst>
            </p:cNvPr>
            <p:cNvCxnSpPr/>
            <p:nvPr/>
          </p:nvCxnSpPr>
          <p:spPr>
            <a:xfrm>
              <a:off x="8161345" y="1616517"/>
              <a:ext cx="0" cy="1078992"/>
            </a:xfrm>
            <a:prstGeom prst="straightConnector1">
              <a:avLst/>
            </a:prstGeom>
            <a:ln w="31750" cap="rnd"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layer1">
            <a:extLst>
              <a:ext uri="{FF2B5EF4-FFF2-40B4-BE49-F238E27FC236}">
                <a16:creationId xmlns:a16="http://schemas.microsoft.com/office/drawing/2014/main" id="{66FC83D8-66B8-EC81-A3C9-B54BBA932D51}"/>
              </a:ext>
            </a:extLst>
          </p:cNvPr>
          <p:cNvGrpSpPr/>
          <p:nvPr/>
        </p:nvGrpSpPr>
        <p:grpSpPr>
          <a:xfrm>
            <a:off x="5867400" y="895350"/>
            <a:ext cx="2743200" cy="1645920"/>
            <a:chOff x="5867400" y="1085055"/>
            <a:chExt cx="2743200" cy="1645920"/>
          </a:xfrm>
          <a:scene3d>
            <a:camera prst="orthographicFront">
              <a:rot lat="19200000" lon="18000000" rev="3600000"/>
            </a:camera>
            <a:lightRig rig="threePt" dir="t"/>
          </a:scene3d>
        </p:grpSpPr>
        <p:sp>
          <p:nvSpPr>
            <p:cNvPr id="6" name="Text Box 4">
              <a:extLst>
                <a:ext uri="{FF2B5EF4-FFF2-40B4-BE49-F238E27FC236}">
                  <a16:creationId xmlns:a16="http://schemas.microsoft.com/office/drawing/2014/main" id="{0B8C2045-60E4-5388-7571-6827DEB14BC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5867400" y="1085055"/>
              <a:ext cx="2743200" cy="1645920"/>
            </a:xfrm>
            <a:prstGeom prst="rect">
              <a:avLst/>
            </a:prstGeom>
            <a:solidFill>
              <a:srgbClr val="D9D9D9">
                <a:alpha val="85098"/>
              </a:srgb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  <a:headEnd/>
              <a:tailEnd/>
            </a:ln>
            <a:effectLst/>
            <a:sp3d/>
          </p:spPr>
          <p:txBody>
            <a:bodyPr/>
            <a:lstStyle/>
            <a:p>
              <a:pPr eaLnBrk="0" hangingPunct="0">
                <a:defRPr/>
              </a:pPr>
              <a:endParaRPr lang="en-US" sz="16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endParaRPr>
            </a:p>
          </p:txBody>
        </p:sp>
        <p:sp>
          <p:nvSpPr>
            <p:cNvPr id="4" name="node">
              <a:extLst>
                <a:ext uri="{FF2B5EF4-FFF2-40B4-BE49-F238E27FC236}">
                  <a16:creationId xmlns:a16="http://schemas.microsoft.com/office/drawing/2014/main" id="{8DB9F563-9920-5177-7A41-6336D4C6EBCA}"/>
                </a:ext>
              </a:extLst>
            </p:cNvPr>
            <p:cNvSpPr/>
            <p:nvPr/>
          </p:nvSpPr>
          <p:spPr>
            <a:xfrm>
              <a:off x="6110547" y="1646780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node">
              <a:extLst>
                <a:ext uri="{FF2B5EF4-FFF2-40B4-BE49-F238E27FC236}">
                  <a16:creationId xmlns:a16="http://schemas.microsoft.com/office/drawing/2014/main" id="{F4A20518-291C-BF55-3B3F-BAA9FFF4B62A}"/>
                </a:ext>
              </a:extLst>
            </p:cNvPr>
            <p:cNvSpPr/>
            <p:nvPr/>
          </p:nvSpPr>
          <p:spPr>
            <a:xfrm>
              <a:off x="8310072" y="2014773"/>
              <a:ext cx="91440" cy="9144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" name="edge">
              <a:extLst>
                <a:ext uri="{FF2B5EF4-FFF2-40B4-BE49-F238E27FC236}">
                  <a16:creationId xmlns:a16="http://schemas.microsoft.com/office/drawing/2014/main" id="{791A80C1-17D5-2C92-3E76-DC737053AC60}"/>
                </a:ext>
              </a:extLst>
            </p:cNvPr>
            <p:cNvCxnSpPr>
              <a:cxnSpLocks/>
              <a:stCxn id="4" idx="6"/>
              <a:endCxn id="20" idx="2"/>
            </p:cNvCxnSpPr>
            <p:nvPr/>
          </p:nvCxnSpPr>
          <p:spPr>
            <a:xfrm>
              <a:off x="6201987" y="1692500"/>
              <a:ext cx="2108085" cy="367993"/>
            </a:xfrm>
            <a:prstGeom prst="line">
              <a:avLst/>
            </a:prstGeom>
            <a:ln w="6350" cap="rnd">
              <a:solidFill>
                <a:schemeClr val="tx1">
                  <a:lumMod val="65000"/>
                  <a:lumOff val="35000"/>
                </a:schemeClr>
              </a:solidFill>
            </a:ln>
            <a:sp3d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5947E65-8557-4723-C1DA-F2DAAB47E4E4}"/>
              </a:ext>
            </a:extLst>
          </p:cNvPr>
          <p:cNvGrpSpPr/>
          <p:nvPr/>
        </p:nvGrpSpPr>
        <p:grpSpPr>
          <a:xfrm>
            <a:off x="6790275" y="1733550"/>
            <a:ext cx="357470" cy="378500"/>
            <a:chOff x="6805515" y="1961300"/>
            <a:chExt cx="357470" cy="378500"/>
          </a:xfrm>
        </p:grpSpPr>
        <p:sp>
          <p:nvSpPr>
            <p:cNvPr id="99" name="node">
              <a:extLst>
                <a:ext uri="{FF2B5EF4-FFF2-40B4-BE49-F238E27FC236}">
                  <a16:creationId xmlns:a16="http://schemas.microsoft.com/office/drawing/2014/main" id="{4A9FA3A1-69BB-D0FE-D1C3-61DB11BD861E}"/>
                </a:ext>
              </a:extLst>
            </p:cNvPr>
            <p:cNvSpPr/>
            <p:nvPr/>
          </p:nvSpPr>
          <p:spPr>
            <a:xfrm>
              <a:off x="6938530" y="1961300"/>
              <a:ext cx="91440" cy="91440"/>
            </a:xfrm>
            <a:prstGeom prst="ellipse">
              <a:avLst/>
            </a:prstGeom>
            <a:solidFill>
              <a:srgbClr val="2563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00" name="TextBox 15">
              <a:extLst>
                <a:ext uri="{FF2B5EF4-FFF2-40B4-BE49-F238E27FC236}">
                  <a16:creationId xmlns:a16="http://schemas.microsoft.com/office/drawing/2014/main" id="{0935D5A5-0DC5-ACD3-2C00-D9461235A1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5515" y="2060493"/>
              <a:ext cx="357470" cy="279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pPr algn="ctr">
                <a:lnSpc>
                  <a:spcPct val="80000"/>
                </a:lnSpc>
              </a:pPr>
              <a:r>
                <a:rPr lang="en-US" sz="1100" dirty="0">
                  <a:solidFill>
                    <a:srgbClr val="256389"/>
                  </a:solidFill>
                </a:rPr>
                <a:t>Search</a:t>
              </a:r>
              <a:br>
                <a:rPr lang="en-US" sz="1100" dirty="0">
                  <a:solidFill>
                    <a:srgbClr val="256389"/>
                  </a:solidFill>
                </a:rPr>
              </a:br>
              <a:r>
                <a:rPr lang="en-US" sz="1100" dirty="0">
                  <a:solidFill>
                    <a:srgbClr val="256389"/>
                  </a:solidFill>
                </a:rPr>
                <a:t>Vector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97E468C-BE6D-4B2E-39E6-917A13F8C602}"/>
              </a:ext>
            </a:extLst>
          </p:cNvPr>
          <p:cNvGrpSpPr/>
          <p:nvPr/>
        </p:nvGrpSpPr>
        <p:grpSpPr>
          <a:xfrm>
            <a:off x="6790275" y="2838450"/>
            <a:ext cx="357470" cy="378500"/>
            <a:chOff x="6805515" y="1961300"/>
            <a:chExt cx="357470" cy="378500"/>
          </a:xfrm>
        </p:grpSpPr>
        <p:sp>
          <p:nvSpPr>
            <p:cNvPr id="102" name="node">
              <a:extLst>
                <a:ext uri="{FF2B5EF4-FFF2-40B4-BE49-F238E27FC236}">
                  <a16:creationId xmlns:a16="http://schemas.microsoft.com/office/drawing/2014/main" id="{D2C84F77-1056-0275-6063-A3D60286BA97}"/>
                </a:ext>
              </a:extLst>
            </p:cNvPr>
            <p:cNvSpPr/>
            <p:nvPr/>
          </p:nvSpPr>
          <p:spPr>
            <a:xfrm>
              <a:off x="6938530" y="1961300"/>
              <a:ext cx="91440" cy="91440"/>
            </a:xfrm>
            <a:prstGeom prst="ellipse">
              <a:avLst/>
            </a:prstGeom>
            <a:solidFill>
              <a:srgbClr val="2563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05" name="TextBox 15">
              <a:extLst>
                <a:ext uri="{FF2B5EF4-FFF2-40B4-BE49-F238E27FC236}">
                  <a16:creationId xmlns:a16="http://schemas.microsoft.com/office/drawing/2014/main" id="{AC2C923C-21CA-7DAC-BE32-4C1952719F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5515" y="2060493"/>
              <a:ext cx="357470" cy="279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pPr algn="ctr">
                <a:lnSpc>
                  <a:spcPct val="80000"/>
                </a:lnSpc>
              </a:pPr>
              <a:r>
                <a:rPr lang="en-US" sz="1100" dirty="0">
                  <a:solidFill>
                    <a:srgbClr val="256389"/>
                  </a:solidFill>
                </a:rPr>
                <a:t>Search</a:t>
              </a:r>
              <a:br>
                <a:rPr lang="en-US" sz="1100" dirty="0">
                  <a:solidFill>
                    <a:srgbClr val="256389"/>
                  </a:solidFill>
                </a:rPr>
              </a:br>
              <a:r>
                <a:rPr lang="en-US" sz="1100" dirty="0">
                  <a:solidFill>
                    <a:srgbClr val="256389"/>
                  </a:solidFill>
                </a:rPr>
                <a:t>Vector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18219836-C532-4496-ED20-A0BBBB4BD2EF}"/>
              </a:ext>
            </a:extLst>
          </p:cNvPr>
          <p:cNvGrpSpPr/>
          <p:nvPr/>
        </p:nvGrpSpPr>
        <p:grpSpPr>
          <a:xfrm>
            <a:off x="6790275" y="3943350"/>
            <a:ext cx="357470" cy="378500"/>
            <a:chOff x="6805515" y="1961300"/>
            <a:chExt cx="357470" cy="378500"/>
          </a:xfrm>
        </p:grpSpPr>
        <p:sp>
          <p:nvSpPr>
            <p:cNvPr id="110" name="node">
              <a:extLst>
                <a:ext uri="{FF2B5EF4-FFF2-40B4-BE49-F238E27FC236}">
                  <a16:creationId xmlns:a16="http://schemas.microsoft.com/office/drawing/2014/main" id="{567DD1C8-B7C1-A796-AE3D-6A62AF69CDAD}"/>
                </a:ext>
              </a:extLst>
            </p:cNvPr>
            <p:cNvSpPr/>
            <p:nvPr/>
          </p:nvSpPr>
          <p:spPr>
            <a:xfrm>
              <a:off x="6938530" y="1961300"/>
              <a:ext cx="91440" cy="91440"/>
            </a:xfrm>
            <a:prstGeom prst="ellipse">
              <a:avLst/>
            </a:prstGeom>
            <a:solidFill>
              <a:srgbClr val="2563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</a:endParaRPr>
            </a:p>
          </p:txBody>
        </p:sp>
        <p:sp>
          <p:nvSpPr>
            <p:cNvPr id="111" name="TextBox 15">
              <a:extLst>
                <a:ext uri="{FF2B5EF4-FFF2-40B4-BE49-F238E27FC236}">
                  <a16:creationId xmlns:a16="http://schemas.microsoft.com/office/drawing/2014/main" id="{A171BC94-8413-DD6D-A647-34156462B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5515" y="2060493"/>
              <a:ext cx="357470" cy="279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pPr algn="ctr">
                <a:lnSpc>
                  <a:spcPct val="80000"/>
                </a:lnSpc>
              </a:pPr>
              <a:r>
                <a:rPr lang="en-US" sz="1100" dirty="0">
                  <a:solidFill>
                    <a:srgbClr val="256389"/>
                  </a:solidFill>
                </a:rPr>
                <a:t>Search</a:t>
              </a:r>
              <a:br>
                <a:rPr lang="en-US" sz="1100" dirty="0">
                  <a:solidFill>
                    <a:srgbClr val="256389"/>
                  </a:solidFill>
                </a:rPr>
              </a:br>
              <a:r>
                <a:rPr lang="en-US" sz="1100" dirty="0">
                  <a:solidFill>
                    <a:srgbClr val="256389"/>
                  </a:solidFill>
                </a:rPr>
                <a:t>Vector</a:t>
              </a:r>
            </a:p>
          </p:txBody>
        </p:sp>
      </p:grpSp>
      <p:sp>
        <p:nvSpPr>
          <p:cNvPr id="113" name="Arrow">
            <a:extLst>
              <a:ext uri="{FF2B5EF4-FFF2-40B4-BE49-F238E27FC236}">
                <a16:creationId xmlns:a16="http://schemas.microsoft.com/office/drawing/2014/main" id="{DBFFC6ED-EB3D-59AC-FDF5-51978166F12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7200000">
            <a:off x="8081472" y="1148618"/>
            <a:ext cx="457200" cy="457200"/>
          </a:xfrm>
          <a:prstGeom prst="rightArrow">
            <a:avLst>
              <a:gd name="adj1" fmla="val 50000"/>
              <a:gd name="adj2" fmla="val 49673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000" dirty="0">
              <a:solidFill>
                <a:srgbClr val="C30037"/>
              </a:solidFill>
            </a:endParaRPr>
          </a:p>
        </p:txBody>
      </p:sp>
      <p:sp>
        <p:nvSpPr>
          <p:cNvPr id="114" name="TextBox 15">
            <a:extLst>
              <a:ext uri="{FF2B5EF4-FFF2-40B4-BE49-F238E27FC236}">
                <a16:creationId xmlns:a16="http://schemas.microsoft.com/office/drawing/2014/main" id="{A0823C3C-6389-9D73-3A29-34EEB6B85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9533" y="878455"/>
            <a:ext cx="317395" cy="279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 anchorCtr="0">
            <a:sp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pPr algn="ctr">
              <a:lnSpc>
                <a:spcPct val="80000"/>
              </a:lnSpc>
            </a:pPr>
            <a:r>
              <a:rPr lang="en-US" sz="1100" dirty="0">
                <a:solidFill>
                  <a:schemeClr val="accent1"/>
                </a:solidFill>
              </a:rPr>
              <a:t>Entry</a:t>
            </a:r>
          </a:p>
          <a:p>
            <a:pPr algn="ctr">
              <a:lnSpc>
                <a:spcPct val="80000"/>
              </a:lnSpc>
            </a:pPr>
            <a:r>
              <a:rPr lang="en-US" sz="1100" dirty="0">
                <a:solidFill>
                  <a:schemeClr val="accent1"/>
                </a:solidFill>
              </a:rPr>
              <a:t>Point</a:t>
            </a:r>
          </a:p>
        </p:txBody>
      </p:sp>
      <p:sp>
        <p:nvSpPr>
          <p:cNvPr id="122" name="Highlight Box">
            <a:extLst>
              <a:ext uri="{FF2B5EF4-FFF2-40B4-BE49-F238E27FC236}">
                <a16:creationId xmlns:a16="http://schemas.microsoft.com/office/drawing/2014/main" id="{E018C677-6EB7-701D-84EF-D734EDEF7BC5}"/>
              </a:ext>
            </a:extLst>
          </p:cNvPr>
          <p:cNvSpPr/>
          <p:nvPr/>
        </p:nvSpPr>
        <p:spPr>
          <a:xfrm>
            <a:off x="6227308" y="1735329"/>
            <a:ext cx="137160" cy="137160"/>
          </a:xfrm>
          <a:prstGeom prst="roundRect">
            <a:avLst>
              <a:gd name="adj" fmla="val 1342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Highlight Box">
            <a:extLst>
              <a:ext uri="{FF2B5EF4-FFF2-40B4-BE49-F238E27FC236}">
                <a16:creationId xmlns:a16="http://schemas.microsoft.com/office/drawing/2014/main" id="{7FD2A1E0-62D1-6336-DBF8-263F991D158E}"/>
              </a:ext>
            </a:extLst>
          </p:cNvPr>
          <p:cNvSpPr/>
          <p:nvPr/>
        </p:nvSpPr>
        <p:spPr>
          <a:xfrm>
            <a:off x="6737028" y="2786714"/>
            <a:ext cx="137160" cy="137160"/>
          </a:xfrm>
          <a:prstGeom prst="roundRect">
            <a:avLst>
              <a:gd name="adj" fmla="val 1342"/>
            </a:avLst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7" name="search-edge1">
            <a:extLst>
              <a:ext uri="{FF2B5EF4-FFF2-40B4-BE49-F238E27FC236}">
                <a16:creationId xmlns:a16="http://schemas.microsoft.com/office/drawing/2014/main" id="{0F915342-474E-67C8-F8BF-6542FA3C376B}"/>
              </a:ext>
            </a:extLst>
          </p:cNvPr>
          <p:cNvCxnSpPr>
            <a:cxnSpLocks/>
          </p:cNvCxnSpPr>
          <p:nvPr/>
        </p:nvCxnSpPr>
        <p:spPr>
          <a:xfrm flipV="1">
            <a:off x="6336506" y="1609725"/>
            <a:ext cx="1778794" cy="185738"/>
          </a:xfrm>
          <a:prstGeom prst="line">
            <a:avLst/>
          </a:prstGeom>
          <a:ln w="19050" cap="rnd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earch-edge1">
            <a:extLst>
              <a:ext uri="{FF2B5EF4-FFF2-40B4-BE49-F238E27FC236}">
                <a16:creationId xmlns:a16="http://schemas.microsoft.com/office/drawing/2014/main" id="{07098DF7-984A-8C8A-F4AA-41189DD1AA9E}"/>
              </a:ext>
            </a:extLst>
          </p:cNvPr>
          <p:cNvCxnSpPr>
            <a:cxnSpLocks/>
          </p:cNvCxnSpPr>
          <p:nvPr/>
        </p:nvCxnSpPr>
        <p:spPr>
          <a:xfrm flipH="1" flipV="1">
            <a:off x="6333641" y="2924014"/>
            <a:ext cx="811078" cy="232474"/>
          </a:xfrm>
          <a:prstGeom prst="line">
            <a:avLst/>
          </a:prstGeom>
          <a:ln w="19050" cap="rnd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earch-edge1">
            <a:extLst>
              <a:ext uri="{FF2B5EF4-FFF2-40B4-BE49-F238E27FC236}">
                <a16:creationId xmlns:a16="http://schemas.microsoft.com/office/drawing/2014/main" id="{AD77D06C-2E50-F334-AA72-C3D6CA482724}"/>
              </a:ext>
            </a:extLst>
          </p:cNvPr>
          <p:cNvCxnSpPr>
            <a:cxnSpLocks/>
          </p:cNvCxnSpPr>
          <p:nvPr/>
        </p:nvCxnSpPr>
        <p:spPr>
          <a:xfrm>
            <a:off x="6824420" y="2867186"/>
            <a:ext cx="366955" cy="292733"/>
          </a:xfrm>
          <a:prstGeom prst="line">
            <a:avLst/>
          </a:prstGeom>
          <a:ln w="19050" cap="rnd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64A51A3-06FA-E2B4-7537-546104CCC515}"/>
              </a:ext>
            </a:extLst>
          </p:cNvPr>
          <p:cNvGrpSpPr/>
          <p:nvPr/>
        </p:nvGrpSpPr>
        <p:grpSpPr>
          <a:xfrm>
            <a:off x="6596044" y="2533572"/>
            <a:ext cx="666282" cy="710857"/>
            <a:chOff x="6596044" y="2533572"/>
            <a:chExt cx="666282" cy="710857"/>
          </a:xfrm>
        </p:grpSpPr>
        <p:sp>
          <p:nvSpPr>
            <p:cNvPr id="123" name="Highlight Box">
              <a:extLst>
                <a:ext uri="{FF2B5EF4-FFF2-40B4-BE49-F238E27FC236}">
                  <a16:creationId xmlns:a16="http://schemas.microsoft.com/office/drawing/2014/main" id="{C7A21DBF-9230-40E2-270B-BA5089991188}"/>
                </a:ext>
              </a:extLst>
            </p:cNvPr>
            <p:cNvSpPr/>
            <p:nvPr/>
          </p:nvSpPr>
          <p:spPr>
            <a:xfrm>
              <a:off x="7125166" y="3107269"/>
              <a:ext cx="137160" cy="137160"/>
            </a:xfrm>
            <a:prstGeom prst="roundRect">
              <a:avLst>
                <a:gd name="adj" fmla="val 1342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Highlight Box">
              <a:extLst>
                <a:ext uri="{FF2B5EF4-FFF2-40B4-BE49-F238E27FC236}">
                  <a16:creationId xmlns:a16="http://schemas.microsoft.com/office/drawing/2014/main" id="{3813B78B-B901-C07E-6E62-8D24A75D0E6F}"/>
                </a:ext>
              </a:extLst>
            </p:cNvPr>
            <p:cNvSpPr/>
            <p:nvPr/>
          </p:nvSpPr>
          <p:spPr>
            <a:xfrm>
              <a:off x="6596044" y="2533572"/>
              <a:ext cx="137160" cy="137160"/>
            </a:xfrm>
            <a:prstGeom prst="roundRect">
              <a:avLst>
                <a:gd name="adj" fmla="val 1342"/>
              </a:avLst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9" name="Arrow">
            <a:extLst>
              <a:ext uri="{FF2B5EF4-FFF2-40B4-BE49-F238E27FC236}">
                <a16:creationId xmlns:a16="http://schemas.microsoft.com/office/drawing/2014/main" id="{15BD4B9A-A9C6-EF29-3F29-8DFCFDAB2E8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604364">
            <a:off x="5761224" y="2625867"/>
            <a:ext cx="457200" cy="457200"/>
          </a:xfrm>
          <a:prstGeom prst="rightArrow">
            <a:avLst>
              <a:gd name="adj1" fmla="val 50000"/>
              <a:gd name="adj2" fmla="val 49673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000" dirty="0">
              <a:solidFill>
                <a:srgbClr val="C30037"/>
              </a:solidFill>
            </a:endParaRPr>
          </a:p>
        </p:txBody>
      </p:sp>
      <p:sp>
        <p:nvSpPr>
          <p:cNvPr id="192" name="Arrow">
            <a:extLst>
              <a:ext uri="{FF2B5EF4-FFF2-40B4-BE49-F238E27FC236}">
                <a16:creationId xmlns:a16="http://schemas.microsoft.com/office/drawing/2014/main" id="{DB64654E-A7C3-97A7-CEFC-992D9FE694D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604364">
            <a:off x="6301482" y="3678182"/>
            <a:ext cx="457200" cy="457200"/>
          </a:xfrm>
          <a:prstGeom prst="rightArrow">
            <a:avLst>
              <a:gd name="adj1" fmla="val 50000"/>
              <a:gd name="adj2" fmla="val 49673"/>
            </a:avLst>
          </a:prstGeom>
          <a:solidFill>
            <a:schemeClr val="accent1"/>
          </a:solidFill>
          <a:ln w="28575">
            <a:noFill/>
            <a:round/>
            <a:headEnd type="none" w="sm" len="sm"/>
            <a:tailEnd type="triangle" w="med" len="med"/>
          </a:ln>
        </p:spPr>
        <p:txBody>
          <a:bodyPr wrap="none" anchor="ctr"/>
          <a:lstStyle>
            <a:lvl1pPr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000" dirty="0">
              <a:solidFill>
                <a:srgbClr val="C300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36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2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2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5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2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5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5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3" grpId="1" animBg="1"/>
      <p:bldP spid="114" grpId="0"/>
      <p:bldP spid="114" grpId="1"/>
      <p:bldP spid="122" grpId="0" animBg="1"/>
      <p:bldP spid="126" grpId="0" animBg="1"/>
      <p:bldP spid="159" grpId="0" animBg="1"/>
      <p:bldP spid="159" grpId="1" animBg="1"/>
      <p:bldP spid="19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04EDDE-021F-4A8B-ADA1-9787CDAF6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572E9-E9B4-4107-AC95-99271BDC6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Wide variety of data structures, a great place to see theory in action in real systems.</a:t>
            </a:r>
          </a:p>
          <a:p>
            <a:endParaRPr lang="en-US" dirty="0"/>
          </a:p>
          <a:p>
            <a:r>
              <a:rPr lang="en-US" dirty="0"/>
              <a:t>If that is an exciting idea, take COMP 638!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97C19E-3237-4DBC-9525-B58058035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6377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515B16-D2E3-4D6F-ABDC-AA5E5F24B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2332B-C28E-4CEC-8083-D21E02977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4751" y="1123950"/>
            <a:ext cx="3134498" cy="3657600"/>
          </a:xfrm>
        </p:spPr>
        <p:txBody>
          <a:bodyPr/>
          <a:lstStyle/>
          <a:p>
            <a:r>
              <a:rPr lang="en-US" dirty="0"/>
              <a:t>On to query execution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D79814-EE32-4A52-8A4D-99264E7D3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1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TREE: MODIFICATIONS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57200" y="1489710"/>
            <a:ext cx="4191000" cy="237744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2400" u="none" dirty="0">
              <a:latin typeface="DejaVu Sans Mono" pitchFamily="49" charset="0"/>
              <a:ea typeface="DejaVu Sans Mono" pitchFamily="49" charset="0"/>
              <a:cs typeface="DejaVu Sans Mono" pitchFamily="49" charset="0"/>
            </a:endParaRPr>
          </a:p>
        </p:txBody>
      </p:sp>
      <p:cxnSp>
        <p:nvCxnSpPr>
          <p:cNvPr id="8" name="AutoShape 14"/>
          <p:cNvCxnSpPr>
            <a:cxnSpLocks noChangeShapeType="1"/>
            <a:stCxn id="9" idx="2"/>
            <a:endCxn id="12" idx="0"/>
          </p:cNvCxnSpPr>
          <p:nvPr/>
        </p:nvCxnSpPr>
        <p:spPr bwMode="auto">
          <a:xfrm flipH="1">
            <a:off x="1385740" y="2508602"/>
            <a:ext cx="1" cy="326800"/>
          </a:xfrm>
          <a:prstGeom prst="straightConnector1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4"/>
          <p:cNvCxnSpPr>
            <a:cxnSpLocks noChangeShapeType="1"/>
            <a:stCxn id="22" idx="2"/>
            <a:endCxn id="21" idx="0"/>
          </p:cNvCxnSpPr>
          <p:nvPr/>
        </p:nvCxnSpPr>
        <p:spPr bwMode="auto">
          <a:xfrm>
            <a:off x="2126450" y="1933194"/>
            <a:ext cx="0" cy="313944"/>
          </a:xfrm>
          <a:prstGeom prst="straightConnector1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Rectangle 11"/>
          <p:cNvSpPr/>
          <p:nvPr/>
        </p:nvSpPr>
        <p:spPr bwMode="auto">
          <a:xfrm>
            <a:off x="1202860" y="2835402"/>
            <a:ext cx="365760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r>
              <a:rPr lang="en-US" sz="2800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</a:rPr>
              <a:t>¤</a:t>
            </a:r>
          </a:p>
        </p:txBody>
      </p:sp>
      <p:sp>
        <p:nvSpPr>
          <p:cNvPr id="13" name="Rectangle 12"/>
          <p:cNvSpPr/>
          <p:nvPr/>
        </p:nvSpPr>
        <p:spPr bwMode="auto">
          <a:xfrm>
            <a:off x="2089232" y="2835402"/>
            <a:ext cx="2377440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nsolas" pitchFamily="49" charset="0"/>
              <a:ea typeface="Open Sans" pitchFamily="34" charset="0"/>
            </a:endParaRPr>
          </a:p>
        </p:txBody>
      </p:sp>
      <p:cxnSp>
        <p:nvCxnSpPr>
          <p:cNvPr id="23" name="AutoShape 14"/>
          <p:cNvCxnSpPr>
            <a:cxnSpLocks noChangeShapeType="1"/>
            <a:stCxn id="24" idx="2"/>
            <a:endCxn id="13" idx="0"/>
          </p:cNvCxnSpPr>
          <p:nvPr/>
        </p:nvCxnSpPr>
        <p:spPr bwMode="auto">
          <a:xfrm>
            <a:off x="2874035" y="2508602"/>
            <a:ext cx="403917" cy="326800"/>
          </a:xfrm>
          <a:prstGeom prst="straightConnector1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20"/>
          <p:cNvSpPr/>
          <p:nvPr/>
        </p:nvSpPr>
        <p:spPr bwMode="auto">
          <a:xfrm>
            <a:off x="937730" y="2247138"/>
            <a:ext cx="2377440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Inconsolata" panose="00000509000000000000" pitchFamily="49" charset="0"/>
              <a:ea typeface="Open Sans" pitchFamily="34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1771872" y="1658874"/>
            <a:ext cx="709156" cy="2743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" tIns="18288" rIns="18288" bIns="18288" rtlCol="0" anchor="ctr"/>
          <a:lstStyle/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onsolas" pitchFamily="49" charset="0"/>
              <a:ea typeface="Open Sans" pitchFamily="34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990600" y="2234282"/>
            <a:ext cx="790281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algn="ctr" eaLnBrk="1" hangingPunct="1"/>
            <a:r>
              <a:rPr lang="en-US" sz="2000" b="1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ELLO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485EEF-99B4-4DA4-8F1E-D60DBB2BDF6B}"/>
              </a:ext>
            </a:extLst>
          </p:cNvPr>
          <p:cNvGrpSpPr/>
          <p:nvPr/>
        </p:nvGrpSpPr>
        <p:grpSpPr>
          <a:xfrm>
            <a:off x="3122863" y="2811303"/>
            <a:ext cx="365760" cy="886683"/>
            <a:chOff x="3122863" y="2811303"/>
            <a:chExt cx="365760" cy="886683"/>
          </a:xfrm>
        </p:grpSpPr>
        <p:sp>
          <p:nvSpPr>
            <p:cNvPr id="15" name="Rectangle 14"/>
            <p:cNvSpPr/>
            <p:nvPr/>
          </p:nvSpPr>
          <p:spPr bwMode="auto">
            <a:xfrm>
              <a:off x="3122863" y="3423666"/>
              <a:ext cx="365760" cy="274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8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¤</a:t>
              </a:r>
            </a:p>
          </p:txBody>
        </p:sp>
        <p:cxnSp>
          <p:nvCxnSpPr>
            <p:cNvPr id="16" name="AutoShape 14"/>
            <p:cNvCxnSpPr>
              <a:cxnSpLocks noChangeShapeType="1"/>
              <a:stCxn id="17" idx="2"/>
              <a:endCxn id="15" idx="0"/>
            </p:cNvCxnSpPr>
            <p:nvPr/>
          </p:nvCxnSpPr>
          <p:spPr bwMode="auto">
            <a:xfrm flipH="1">
              <a:off x="3305743" y="3119080"/>
              <a:ext cx="3832" cy="304586"/>
            </a:xfrm>
            <a:prstGeom prst="straightConnector1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" name="TextBox 16"/>
            <p:cNvSpPr txBox="1">
              <a:spLocks noChangeArrowheads="1"/>
            </p:cNvSpPr>
            <p:nvPr/>
          </p:nvSpPr>
          <p:spPr bwMode="auto">
            <a:xfrm>
              <a:off x="3245455" y="2811303"/>
              <a:ext cx="12824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pPr algn="ctr" eaLnBrk="1" hangingPunct="1"/>
              <a:r>
                <a:rPr lang="en-US" sz="2000" b="1" u="non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cs typeface="Consolas" pitchFamily="49" charset="0"/>
                </a:rPr>
                <a:t>T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FE2E013-C120-496B-86F5-877510810B2B}"/>
              </a:ext>
            </a:extLst>
          </p:cNvPr>
          <p:cNvGrpSpPr/>
          <p:nvPr/>
        </p:nvGrpSpPr>
        <p:grpSpPr>
          <a:xfrm>
            <a:off x="2246990" y="2811303"/>
            <a:ext cx="365760" cy="886683"/>
            <a:chOff x="2246990" y="2811303"/>
            <a:chExt cx="365760" cy="886683"/>
          </a:xfrm>
        </p:grpSpPr>
        <p:sp>
          <p:nvSpPr>
            <p:cNvPr id="18" name="Rectangle 17"/>
            <p:cNvSpPr/>
            <p:nvPr/>
          </p:nvSpPr>
          <p:spPr bwMode="auto">
            <a:xfrm>
              <a:off x="2246990" y="3423666"/>
              <a:ext cx="365760" cy="274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8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¤</a:t>
              </a:r>
            </a:p>
          </p:txBody>
        </p:sp>
        <p:cxnSp>
          <p:nvCxnSpPr>
            <p:cNvPr id="19" name="AutoShape 14"/>
            <p:cNvCxnSpPr>
              <a:cxnSpLocks noChangeShapeType="1"/>
              <a:stCxn id="20" idx="2"/>
              <a:endCxn id="18" idx="0"/>
            </p:cNvCxnSpPr>
            <p:nvPr/>
          </p:nvCxnSpPr>
          <p:spPr bwMode="auto">
            <a:xfrm>
              <a:off x="2429869" y="3119080"/>
              <a:ext cx="1" cy="304586"/>
            </a:xfrm>
            <a:prstGeom prst="straightConnector1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" name="TextBox 19"/>
            <p:cNvSpPr txBox="1">
              <a:spLocks noChangeArrowheads="1"/>
            </p:cNvSpPr>
            <p:nvPr/>
          </p:nvSpPr>
          <p:spPr bwMode="auto">
            <a:xfrm>
              <a:off x="2301629" y="2811303"/>
              <a:ext cx="25648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pPr algn="ctr" eaLnBrk="1" hangingPunct="1"/>
              <a:r>
                <a:rPr lang="en-US" sz="2000" b="1" u="non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cs typeface="Consolas" pitchFamily="49" charset="0"/>
                </a:rPr>
                <a:t>VE</a:t>
              </a:r>
            </a:p>
          </p:txBody>
        </p:sp>
      </p:grp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062330" y="1632911"/>
            <a:ext cx="1282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algn="ctr" eaLnBrk="1" hangingPunct="1"/>
            <a:r>
              <a:rPr lang="en-US" sz="2000" b="1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H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2759420" y="2234282"/>
            <a:ext cx="229229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noAutofit/>
          </a:bodyPr>
          <a:lstStyle>
            <a:lvl1pPr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1pPr>
            <a:lvl2pPr marL="742950" indent="-28575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2pPr>
            <a:lvl3pPr marL="11430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3pPr>
            <a:lvl4pPr marL="16002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4pPr>
            <a:lvl5pPr marL="2057400" indent="-228600" eaLnBrk="0" hangingPunct="0"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u="sng">
                <a:solidFill>
                  <a:schemeClr val="tx1"/>
                </a:solidFill>
                <a:latin typeface="Times New Roman" pitchFamily="18" charset="0"/>
                <a:ea typeface="ＭＳ Ｐゴシック"/>
                <a:cs typeface="ＭＳ Ｐゴシック"/>
              </a:defRPr>
            </a:lvl9pPr>
          </a:lstStyle>
          <a:p>
            <a:pPr algn="ctr" eaLnBrk="1" hangingPunct="1"/>
            <a:r>
              <a:rPr lang="en-US" sz="200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itchFamily="49" charset="0"/>
                <a:cs typeface="Consolas" pitchFamily="49" charset="0"/>
              </a:rPr>
              <a:t>A</a:t>
            </a:r>
          </a:p>
        </p:txBody>
      </p:sp>
      <p:grpSp>
        <p:nvGrpSpPr>
          <p:cNvPr id="85" name="Group 84"/>
          <p:cNvGrpSpPr/>
          <p:nvPr/>
        </p:nvGrpSpPr>
        <p:grpSpPr>
          <a:xfrm>
            <a:off x="3960636" y="2811303"/>
            <a:ext cx="365760" cy="886683"/>
            <a:chOff x="3655836" y="2745933"/>
            <a:chExt cx="365760" cy="886683"/>
          </a:xfrm>
        </p:grpSpPr>
        <p:sp>
          <p:nvSpPr>
            <p:cNvPr id="81" name="Rectangle 80"/>
            <p:cNvSpPr/>
            <p:nvPr/>
          </p:nvSpPr>
          <p:spPr bwMode="auto">
            <a:xfrm>
              <a:off x="3655836" y="3358296"/>
              <a:ext cx="365760" cy="274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8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¤</a:t>
              </a:r>
            </a:p>
          </p:txBody>
        </p:sp>
        <p:cxnSp>
          <p:nvCxnSpPr>
            <p:cNvPr id="82" name="AutoShape 14"/>
            <p:cNvCxnSpPr>
              <a:cxnSpLocks noChangeShapeType="1"/>
              <a:endCxn id="81" idx="0"/>
            </p:cNvCxnSpPr>
            <p:nvPr/>
          </p:nvCxnSpPr>
          <p:spPr bwMode="auto">
            <a:xfrm>
              <a:off x="3838716" y="3044352"/>
              <a:ext cx="0" cy="313944"/>
            </a:xfrm>
            <a:prstGeom prst="straightConnector1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3" name="TextBox 82"/>
            <p:cNvSpPr txBox="1">
              <a:spLocks noChangeArrowheads="1"/>
            </p:cNvSpPr>
            <p:nvPr/>
          </p:nvSpPr>
          <p:spPr bwMode="auto">
            <a:xfrm>
              <a:off x="3711357" y="2745933"/>
              <a:ext cx="25648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pPr algn="ctr" eaLnBrk="1" hangingPunct="1"/>
              <a:r>
                <a:rPr lang="en-US" sz="2000" b="1" u="non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cs typeface="Consolas" pitchFamily="49" charset="0"/>
                </a:rPr>
                <a:t>IR</a:t>
              </a:r>
            </a:p>
          </p:txBody>
        </p:sp>
      </p:grpSp>
      <p:sp>
        <p:nvSpPr>
          <p:cNvPr id="86" name="Content Placeholder 28"/>
          <p:cNvSpPr txBox="1">
            <a:spLocks/>
          </p:cNvSpPr>
          <p:nvPr/>
        </p:nvSpPr>
        <p:spPr>
          <a:xfrm>
            <a:off x="5638800" y="1410624"/>
            <a:ext cx="2286000" cy="430887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lang="en-US"/>
            </a:defPPr>
            <a:lvl1pPr>
              <a:defRPr sz="2800" b="1">
                <a:solidFill>
                  <a:srgbClr val="646464"/>
                </a:solidFill>
                <a:latin typeface="Inconsolata" panose="00000509000000000000" pitchFamily="49" charset="0"/>
                <a:ea typeface="DejaVu Sans Mono" pitchFamily="49" charset="0"/>
                <a:cs typeface="DejaVu Sans Mono" pitchFamily="49" charset="0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>
                <a:latin typeface="Crimson Text" panose="02000503000000000000" pitchFamily="2" charset="0"/>
              </a:rPr>
              <a:t>Insert HAIR</a:t>
            </a:r>
          </a:p>
        </p:txBody>
      </p:sp>
      <p:sp>
        <p:nvSpPr>
          <p:cNvPr id="87" name="Content Placeholder 28"/>
          <p:cNvSpPr txBox="1">
            <a:spLocks/>
          </p:cNvSpPr>
          <p:nvPr/>
        </p:nvSpPr>
        <p:spPr>
          <a:xfrm>
            <a:off x="5638800" y="1863730"/>
            <a:ext cx="2286000" cy="4572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i="1" dirty="0">
                <a:solidFill>
                  <a:srgbClr val="646464"/>
                </a:solidFill>
                <a:latin typeface="Crimson Text" panose="02000503000000000000" pitchFamily="2" charset="0"/>
                <a:ea typeface="DejaVu Sans Mono" pitchFamily="49" charset="0"/>
                <a:cs typeface="DejaVu Sans Mono" pitchFamily="49" charset="0"/>
              </a:rPr>
              <a:t>Delete</a:t>
            </a:r>
            <a:r>
              <a:rPr lang="en-US" i="1" dirty="0">
                <a:latin typeface="Crimson Text" pitchFamily="2" charset="0"/>
              </a:rPr>
              <a:t> </a:t>
            </a:r>
            <a:r>
              <a:rPr lang="en-US" sz="2800" b="1" i="1" dirty="0">
                <a:solidFill>
                  <a:srgbClr val="646464"/>
                </a:solidFill>
                <a:latin typeface="Crimson Text" panose="02000503000000000000" pitchFamily="2" charset="0"/>
                <a:ea typeface="DejaVu Sans Mono" pitchFamily="49" charset="0"/>
                <a:cs typeface="DejaVu Sans Mono" pitchFamily="49" charset="0"/>
              </a:rPr>
              <a:t>HAT</a:t>
            </a:r>
          </a:p>
        </p:txBody>
      </p:sp>
      <p:sp>
        <p:nvSpPr>
          <p:cNvPr id="88" name="Highlight Box"/>
          <p:cNvSpPr/>
          <p:nvPr/>
        </p:nvSpPr>
        <p:spPr>
          <a:xfrm>
            <a:off x="2143346" y="2778850"/>
            <a:ext cx="550555" cy="977814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Highlight Box"/>
          <p:cNvSpPr/>
          <p:nvPr/>
        </p:nvSpPr>
        <p:spPr>
          <a:xfrm>
            <a:off x="3015550" y="2778850"/>
            <a:ext cx="550555" cy="977814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/>
          <p:cNvGrpSpPr/>
          <p:nvPr/>
        </p:nvGrpSpPr>
        <p:grpSpPr>
          <a:xfrm>
            <a:off x="2578281" y="2259807"/>
            <a:ext cx="591509" cy="857535"/>
            <a:chOff x="2578281" y="2259807"/>
            <a:chExt cx="591509" cy="857535"/>
          </a:xfrm>
        </p:grpSpPr>
        <p:sp>
          <p:nvSpPr>
            <p:cNvPr id="92" name="TextBox 91"/>
            <p:cNvSpPr txBox="1">
              <a:spLocks noChangeArrowheads="1"/>
            </p:cNvSpPr>
            <p:nvPr/>
          </p:nvSpPr>
          <p:spPr bwMode="auto">
            <a:xfrm>
              <a:off x="2578281" y="2259807"/>
              <a:ext cx="591509" cy="2392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noAutofit/>
            </a:bodyPr>
            <a:lstStyle>
              <a:lvl1pPr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1pPr>
              <a:lvl2pPr marL="742950" indent="-28575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2pPr>
              <a:lvl3pPr marL="11430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3pPr>
              <a:lvl4pPr marL="16002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4pPr>
              <a:lvl5pPr marL="2057400" indent="-228600" eaLnBrk="0" hangingPunct="0"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tx1"/>
                  </a:solidFill>
                  <a:latin typeface="Times New Roman" pitchFamily="18" charset="0"/>
                  <a:ea typeface="ＭＳ Ｐゴシック"/>
                  <a:cs typeface="ＭＳ Ｐゴシック"/>
                </a:defRPr>
              </a:lvl9pPr>
            </a:lstStyle>
            <a:p>
              <a:pPr algn="ctr" eaLnBrk="1" hangingPunct="1"/>
              <a:r>
                <a:rPr lang="en-US" sz="2000" b="1" u="none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cs typeface="Consolas" pitchFamily="49" charset="0"/>
                </a:rPr>
                <a:t>AIR</a:t>
              </a:r>
            </a:p>
          </p:txBody>
        </p:sp>
        <p:sp>
          <p:nvSpPr>
            <p:cNvPr id="93" name="Rectangle 92"/>
            <p:cNvSpPr/>
            <p:nvPr/>
          </p:nvSpPr>
          <p:spPr bwMode="auto">
            <a:xfrm>
              <a:off x="2691155" y="2843022"/>
              <a:ext cx="365760" cy="274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2800" b="1" dirty="0">
                  <a:solidFill>
                    <a:schemeClr val="accent1"/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¤</a:t>
              </a:r>
            </a:p>
          </p:txBody>
        </p:sp>
        <p:cxnSp>
          <p:nvCxnSpPr>
            <p:cNvPr id="94" name="AutoShape 14"/>
            <p:cNvCxnSpPr>
              <a:cxnSpLocks noChangeShapeType="1"/>
              <a:endCxn id="93" idx="0"/>
            </p:cNvCxnSpPr>
            <p:nvPr/>
          </p:nvCxnSpPr>
          <p:spPr bwMode="auto">
            <a:xfrm>
              <a:off x="2874035" y="2529078"/>
              <a:ext cx="0" cy="313944"/>
            </a:xfrm>
            <a:prstGeom prst="straightConnector1">
              <a:avLst/>
            </a:prstGeom>
            <a:noFill/>
            <a:ln w="38100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6" name="Highlight Box"/>
          <p:cNvSpPr/>
          <p:nvPr/>
        </p:nvSpPr>
        <p:spPr>
          <a:xfrm>
            <a:off x="2084234" y="2817622"/>
            <a:ext cx="2382438" cy="319278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Content Placeholder 28">
            <a:extLst>
              <a:ext uri="{FF2B5EF4-FFF2-40B4-BE49-F238E27FC236}">
                <a16:creationId xmlns:a16="http://schemas.microsoft.com/office/drawing/2014/main" id="{6C27FC71-E243-4E47-A50C-22080FAF915A}"/>
              </a:ext>
            </a:extLst>
          </p:cNvPr>
          <p:cNvSpPr txBox="1">
            <a:spLocks/>
          </p:cNvSpPr>
          <p:nvPr/>
        </p:nvSpPr>
        <p:spPr>
          <a:xfrm>
            <a:off x="5638800" y="2343150"/>
            <a:ext cx="2286000" cy="4572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spcAft>
                <a:spcPts val="0"/>
              </a:spcAft>
              <a:buFont typeface="Arial" pitchFamily="34" charset="0"/>
              <a:buNone/>
              <a:defRPr lang="en-US" sz="2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1pPr>
            <a:lvl2pPr marL="0" indent="-342900" algn="l" defTabSz="914400" rtl="0" eaLnBrk="1" latinLnBrk="0" hangingPunct="1">
              <a:spcBef>
                <a:spcPts val="0"/>
              </a:spcBef>
              <a:buFont typeface="Times New Roman" pitchFamily="18" charset="0"/>
              <a:buChar char="→"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Gentium Book Basic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i="1" dirty="0">
                <a:solidFill>
                  <a:srgbClr val="646464"/>
                </a:solidFill>
                <a:latin typeface="Crimson Text" panose="02000503000000000000" pitchFamily="2" charset="0"/>
                <a:ea typeface="DejaVu Sans Mono" pitchFamily="49" charset="0"/>
                <a:cs typeface="DejaVu Sans Mono" pitchFamily="49" charset="0"/>
              </a:rPr>
              <a:t>Delete</a:t>
            </a:r>
            <a:r>
              <a:rPr lang="en-US" i="1" dirty="0">
                <a:latin typeface="Crimson Text" pitchFamily="2" charset="0"/>
              </a:rPr>
              <a:t> </a:t>
            </a:r>
            <a:r>
              <a:rPr lang="en-US" sz="2800" b="1" i="1" dirty="0">
                <a:solidFill>
                  <a:srgbClr val="646464"/>
                </a:solidFill>
                <a:latin typeface="Crimson Text" panose="02000503000000000000" pitchFamily="2" charset="0"/>
                <a:ea typeface="DejaVu Sans Mono" pitchFamily="49" charset="0"/>
                <a:cs typeface="DejaVu Sans Mono" pitchFamily="49" charset="0"/>
              </a:rPr>
              <a:t>HAVE</a:t>
            </a:r>
          </a:p>
        </p:txBody>
      </p:sp>
      <p:sp>
        <p:nvSpPr>
          <p:cNvPr id="37" name="Cursor Arrow">
            <a:extLst>
              <a:ext uri="{FF2B5EF4-FFF2-40B4-BE49-F238E27FC236}">
                <a16:creationId xmlns:a16="http://schemas.microsoft.com/office/drawing/2014/main" id="{BC905F05-94EA-46F4-9962-B7BC79B68C67}"/>
              </a:ext>
            </a:extLst>
          </p:cNvPr>
          <p:cNvSpPr/>
          <p:nvPr/>
        </p:nvSpPr>
        <p:spPr>
          <a:xfrm>
            <a:off x="3905130" y="2383328"/>
            <a:ext cx="457200" cy="365760"/>
          </a:xfrm>
          <a:prstGeom prst="down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8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"/>
                            </p:stCondLst>
                            <p:childTnLst>
                              <p:par>
                                <p:cTn id="5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"/>
                            </p:stCondLst>
                            <p:childTnLst>
                              <p:par>
                                <p:cTn id="7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86" grpId="0" build="p"/>
      <p:bldP spid="87" grpId="0" build="p"/>
      <p:bldP spid="88" grpId="0" animBg="1"/>
      <p:bldP spid="88" grpId="1" animBg="1"/>
      <p:bldP spid="89" grpId="0" animBg="1"/>
      <p:bldP spid="89" grpId="1" animBg="1"/>
      <p:bldP spid="96" grpId="0" animBg="1"/>
      <p:bldP spid="96" grpId="1" animBg="1"/>
      <p:bldP spid="36" grpId="0" build="p"/>
      <p:bldP spid="37" grpId="0" animBg="1"/>
      <p:bldP spid="37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IN-MEMORY TABLE INDEXES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48</a:t>
            </a:fld>
            <a:endParaRPr lang="en-US" dirty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654888378"/>
              </p:ext>
            </p:extLst>
          </p:nvPr>
        </p:nvGraphicFramePr>
        <p:xfrm>
          <a:off x="638175" y="1230851"/>
          <a:ext cx="7867650" cy="36268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1295400" y="986298"/>
            <a:ext cx="6553200" cy="5109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50" charset="0"/>
              </a:rPr>
              <a:t>Processor: 1 socket, 10 cores w/ 2×HT</a:t>
            </a:r>
            <a:br>
              <a:rPr lang="en-US" sz="1600" i="1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50" charset="0"/>
              </a:rPr>
            </a:br>
            <a:r>
              <a:rPr lang="en-US" sz="1600" i="1" dirty="0">
                <a:solidFill>
                  <a:schemeClr val="bg1">
                    <a:lumMod val="50000"/>
                  </a:schemeClr>
                </a:solidFill>
                <a:latin typeface="Proxima Nova Rg" panose="02000506030000020004" pitchFamily="50" charset="0"/>
              </a:rPr>
              <a:t>Workload: 50m Random Integer Keys (64-bit)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677944-1CB1-4F75-8407-4E7122412E53}"/>
              </a:ext>
            </a:extLst>
          </p:cNvPr>
          <p:cNvSpPr txBox="1"/>
          <p:nvPr/>
        </p:nvSpPr>
        <p:spPr>
          <a:xfrm>
            <a:off x="7885321" y="4750849"/>
            <a:ext cx="125867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oxima Nova Rg" panose="02000506030000020004" pitchFamily="50" charset="0"/>
                <a:ea typeface="Crimson Text" pitchFamily="2" charset="0"/>
              </a:rPr>
              <a:t>Source: 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Proxima Nova Rg" panose="02000506030000020004" pitchFamily="50" charset="0"/>
                <a:ea typeface="Crimson Text" pitchFamily="2" charset="0"/>
                <a:hlinkClick r:id="rId3"/>
              </a:rPr>
              <a:t>Ziqi Wang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Proxima Nova Rg" panose="02000506030000020004" pitchFamily="50" charset="0"/>
              <a:ea typeface="Crimson Tex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3316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roup 238"/>
          <p:cNvGrpSpPr/>
          <p:nvPr/>
        </p:nvGrpSpPr>
        <p:grpSpPr>
          <a:xfrm>
            <a:off x="8266084" y="1200150"/>
            <a:ext cx="838892" cy="3258180"/>
            <a:chOff x="113608" y="837569"/>
            <a:chExt cx="838892" cy="3258180"/>
          </a:xfrm>
        </p:grpSpPr>
        <p:sp>
          <p:nvSpPr>
            <p:cNvPr id="240" name="Rectangle 239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Open Sans" pitchFamily="34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41" name="TextBox 15"/>
            <p:cNvSpPr txBox="1">
              <a:spLocks noChangeArrowheads="1"/>
            </p:cNvSpPr>
            <p:nvPr/>
          </p:nvSpPr>
          <p:spPr bwMode="auto">
            <a:xfrm>
              <a:off x="113608" y="837569"/>
              <a:ext cx="8388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pPr algn="ctr"/>
              <a:r>
                <a:rPr lang="en-US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End</a:t>
              </a:r>
            </a:p>
          </p:txBody>
        </p:sp>
      </p:grpSp>
      <p:grpSp>
        <p:nvGrpSpPr>
          <p:cNvPr id="215" name="Group 214"/>
          <p:cNvGrpSpPr/>
          <p:nvPr/>
        </p:nvGrpSpPr>
        <p:grpSpPr>
          <a:xfrm>
            <a:off x="67015" y="1200150"/>
            <a:ext cx="964161" cy="3258180"/>
            <a:chOff x="67015" y="837569"/>
            <a:chExt cx="964161" cy="3258180"/>
          </a:xfrm>
        </p:grpSpPr>
        <p:sp>
          <p:nvSpPr>
            <p:cNvPr id="211" name="Rectangle 210"/>
            <p:cNvSpPr/>
            <p:nvPr/>
          </p:nvSpPr>
          <p:spPr>
            <a:xfrm>
              <a:off x="113954" y="1206900"/>
              <a:ext cx="838546" cy="288884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endParaRPr lang="en-US" sz="2400" b="1">
                <a:solidFill>
                  <a:srgbClr val="4B4B4B"/>
                </a:solidFill>
                <a:latin typeface="Crimson Text" pitchFamily="2" charset="0"/>
                <a:ea typeface="Open Sans" pitchFamily="34" charset="0"/>
                <a:cs typeface="Open Sans" pitchFamily="34" charset="0"/>
              </a:endParaRPr>
            </a:p>
          </p:txBody>
        </p:sp>
        <p:sp>
          <p:nvSpPr>
            <p:cNvPr id="212" name="TextBox 15"/>
            <p:cNvSpPr txBox="1">
              <a:spLocks noChangeArrowheads="1"/>
            </p:cNvSpPr>
            <p:nvPr/>
          </p:nvSpPr>
          <p:spPr bwMode="auto">
            <a:xfrm>
              <a:off x="67015" y="837569"/>
              <a:ext cx="96416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pPr algn="ctr"/>
              <a:r>
                <a:rPr lang="en-US" dirty="0">
                  <a:solidFill>
                    <a:prstClr val="black">
                      <a:lumMod val="50000"/>
                      <a:lumOff val="50000"/>
                    </a:prstClr>
                  </a:solidFill>
                </a:rPr>
                <a:t>Levels</a:t>
              </a:r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304454" y="3726811"/>
            <a:ext cx="457200" cy="365760"/>
            <a:chOff x="1698611" y="3461328"/>
            <a:chExt cx="457200" cy="313459"/>
          </a:xfrm>
        </p:grpSpPr>
        <p:sp>
          <p:nvSpPr>
            <p:cNvPr id="90" name="Rectangle 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304454" y="2788376"/>
            <a:ext cx="457200" cy="365760"/>
            <a:chOff x="1698611" y="3461328"/>
            <a:chExt cx="457200" cy="313459"/>
          </a:xfrm>
        </p:grpSpPr>
        <p:sp>
          <p:nvSpPr>
            <p:cNvPr id="93" name="Rectangle 92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177" name="Group 176"/>
          <p:cNvGrpSpPr/>
          <p:nvPr/>
        </p:nvGrpSpPr>
        <p:grpSpPr>
          <a:xfrm>
            <a:off x="304454" y="1849941"/>
            <a:ext cx="457200" cy="365760"/>
            <a:chOff x="1698611" y="3461328"/>
            <a:chExt cx="457200" cy="313459"/>
          </a:xfrm>
        </p:grpSpPr>
        <p:sp>
          <p:nvSpPr>
            <p:cNvPr id="178" name="Rectangle 177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en-US" sz="1600" dirty="0">
                <a:solidFill>
                  <a:srgbClr val="EF3E42"/>
                </a:solidFill>
                <a:latin typeface="Consolas" pitchFamily="49" charset="0"/>
                <a:ea typeface="DejaVu Sans Mono" pitchFamily="49" charset="0"/>
                <a:cs typeface="Consolas" pitchFamily="49" charset="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1077769" y="3726811"/>
            <a:ext cx="913957" cy="731520"/>
            <a:chOff x="1597819" y="3431974"/>
            <a:chExt cx="913957" cy="731520"/>
          </a:xfrm>
        </p:grpSpPr>
        <p:sp>
          <p:nvSpPr>
            <p:cNvPr id="4" name="Rectangle 3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1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8" name="Group 27"/>
          <p:cNvGrpSpPr/>
          <p:nvPr/>
        </p:nvGrpSpPr>
        <p:grpSpPr>
          <a:xfrm>
            <a:off x="2307398" y="2788376"/>
            <a:ext cx="914400" cy="731520"/>
            <a:chOff x="1597819" y="2526030"/>
            <a:chExt cx="914400" cy="731520"/>
          </a:xfrm>
        </p:grpSpPr>
        <p:sp>
          <p:nvSpPr>
            <p:cNvPr id="76" name="Rectangle 75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80" name="Group 79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3" name="Rectangle 82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84" name="Group 83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86" name="Rectangle 85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96" name="Group 95"/>
          <p:cNvGrpSpPr/>
          <p:nvPr/>
        </p:nvGrpSpPr>
        <p:grpSpPr>
          <a:xfrm>
            <a:off x="2307841" y="3726811"/>
            <a:ext cx="913957" cy="731520"/>
            <a:chOff x="1597819" y="3431974"/>
            <a:chExt cx="913957" cy="731520"/>
          </a:xfrm>
        </p:grpSpPr>
        <p:sp>
          <p:nvSpPr>
            <p:cNvPr id="97" name="Rectangle 96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2</a:t>
              </a:r>
            </a:p>
          </p:txBody>
        </p:sp>
        <p:grpSp>
          <p:nvGrpSpPr>
            <p:cNvPr id="99" name="Group 98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00" name="Rectangle 99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09" name="Group 108"/>
          <p:cNvGrpSpPr/>
          <p:nvPr/>
        </p:nvGrpSpPr>
        <p:grpSpPr>
          <a:xfrm>
            <a:off x="3537913" y="3726811"/>
            <a:ext cx="913957" cy="731520"/>
            <a:chOff x="1597819" y="3431974"/>
            <a:chExt cx="913957" cy="731520"/>
          </a:xfrm>
        </p:grpSpPr>
        <p:sp>
          <p:nvSpPr>
            <p:cNvPr id="110" name="Rectangle 109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3</a:t>
              </a:r>
            </a:p>
          </p:txBody>
        </p:sp>
        <p:grpSp>
          <p:nvGrpSpPr>
            <p:cNvPr id="112" name="Group 111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13" name="Rectangle 112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17" name="Group 116"/>
          <p:cNvGrpSpPr/>
          <p:nvPr/>
        </p:nvGrpSpPr>
        <p:grpSpPr>
          <a:xfrm>
            <a:off x="4767985" y="3726811"/>
            <a:ext cx="913957" cy="731520"/>
            <a:chOff x="1597819" y="3431974"/>
            <a:chExt cx="913957" cy="731520"/>
          </a:xfrm>
        </p:grpSpPr>
        <p:sp>
          <p:nvSpPr>
            <p:cNvPr id="118" name="Rectangle 117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0" name="Group 119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121" name="Rectangle 120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123" name="Group 122"/>
          <p:cNvGrpSpPr/>
          <p:nvPr/>
        </p:nvGrpSpPr>
        <p:grpSpPr>
          <a:xfrm>
            <a:off x="4767985" y="2788376"/>
            <a:ext cx="914400" cy="731520"/>
            <a:chOff x="1597819" y="2526030"/>
            <a:chExt cx="914400" cy="731520"/>
          </a:xfrm>
        </p:grpSpPr>
        <p:sp>
          <p:nvSpPr>
            <p:cNvPr id="124" name="Rectangle 123"/>
            <p:cNvSpPr/>
            <p:nvPr/>
          </p:nvSpPr>
          <p:spPr>
            <a:xfrm>
              <a:off x="1597819" y="2526030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4</a:t>
              </a:r>
            </a:p>
          </p:txBody>
        </p:sp>
        <p:grpSp>
          <p:nvGrpSpPr>
            <p:cNvPr id="125" name="Group 124"/>
            <p:cNvGrpSpPr/>
            <p:nvPr/>
          </p:nvGrpSpPr>
          <p:grpSpPr>
            <a:xfrm>
              <a:off x="1597819" y="2891790"/>
              <a:ext cx="457200" cy="365760"/>
              <a:chOff x="1698611" y="3461328"/>
              <a:chExt cx="457200" cy="313459"/>
            </a:xfrm>
          </p:grpSpPr>
          <p:sp>
            <p:nvSpPr>
              <p:cNvPr id="129" name="Rectangle 128"/>
              <p:cNvSpPr/>
              <p:nvPr/>
            </p:nvSpPr>
            <p:spPr>
              <a:xfrm>
                <a:off x="1835771" y="3461328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30" name="Rectangle 129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2055019" y="2526030"/>
              <a:ext cx="457200" cy="365760"/>
              <a:chOff x="1698611" y="3461328"/>
              <a:chExt cx="457200" cy="313459"/>
            </a:xfrm>
          </p:grpSpPr>
          <p:sp>
            <p:nvSpPr>
              <p:cNvPr id="127" name="Rectangle 126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128" name="Rectangle 127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grpSp>
        <p:nvGrpSpPr>
          <p:cNvPr id="201" name="Group 200"/>
          <p:cNvGrpSpPr/>
          <p:nvPr/>
        </p:nvGrpSpPr>
        <p:grpSpPr>
          <a:xfrm>
            <a:off x="7228129" y="3726811"/>
            <a:ext cx="913957" cy="731520"/>
            <a:chOff x="1597819" y="3431974"/>
            <a:chExt cx="913957" cy="731520"/>
          </a:xfrm>
        </p:grpSpPr>
        <p:sp>
          <p:nvSpPr>
            <p:cNvPr id="202" name="Rectangle 201"/>
            <p:cNvSpPr/>
            <p:nvPr/>
          </p:nvSpPr>
          <p:spPr>
            <a:xfrm>
              <a:off x="1597819" y="343197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K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1597819" y="3797734"/>
              <a:ext cx="457200" cy="36576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rIns="45720" rtlCol="0" anchor="ctr"/>
            <a:lstStyle/>
            <a:p>
              <a:pPr algn="ctr"/>
              <a:r>
                <a:rPr lang="en-US" b="1" i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V</a:t>
              </a:r>
              <a:r>
                <a:rPr lang="en-US" b="1" i="1" baseline="-25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6</a:t>
              </a:r>
            </a:p>
          </p:txBody>
        </p:sp>
        <p:grpSp>
          <p:nvGrpSpPr>
            <p:cNvPr id="204" name="Group 203"/>
            <p:cNvGrpSpPr/>
            <p:nvPr/>
          </p:nvGrpSpPr>
          <p:grpSpPr>
            <a:xfrm>
              <a:off x="2054576" y="3431974"/>
              <a:ext cx="457200" cy="365760"/>
              <a:chOff x="1698611" y="3461328"/>
              <a:chExt cx="457200" cy="313459"/>
            </a:xfrm>
          </p:grpSpPr>
          <p:sp>
            <p:nvSpPr>
              <p:cNvPr id="205" name="Rectangle 204"/>
              <p:cNvSpPr/>
              <p:nvPr/>
            </p:nvSpPr>
            <p:spPr>
              <a:xfrm>
                <a:off x="1749411" y="3541857"/>
                <a:ext cx="182880" cy="152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</a:endParaRPr>
              </a:p>
            </p:txBody>
          </p:sp>
          <p:sp>
            <p:nvSpPr>
              <p:cNvPr id="206" name="Rectangle 205"/>
              <p:cNvSpPr/>
              <p:nvPr/>
            </p:nvSpPr>
            <p:spPr>
              <a:xfrm>
                <a:off x="1698611" y="3461328"/>
                <a:ext cx="457200" cy="3134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44433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endPara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endParaRP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SKIP LISTS: EXAMPLE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49</a:t>
            </a:fld>
            <a:endParaRPr lang="en-US" dirty="0"/>
          </a:p>
        </p:txBody>
      </p:sp>
      <p:cxnSp>
        <p:nvCxnSpPr>
          <p:cNvPr id="39" name="Curved Connector 39"/>
          <p:cNvCxnSpPr>
            <a:stCxn id="30" idx="3"/>
            <a:endCxn id="97" idx="1"/>
          </p:cNvCxnSpPr>
          <p:nvPr/>
        </p:nvCxnSpPr>
        <p:spPr>
          <a:xfrm>
            <a:off x="1768206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39"/>
          <p:cNvCxnSpPr>
            <a:stCxn id="81" idx="2"/>
            <a:endCxn id="97" idx="0"/>
          </p:cNvCxnSpPr>
          <p:nvPr/>
        </p:nvCxnSpPr>
        <p:spPr>
          <a:xfrm>
            <a:off x="2535998" y="3331964"/>
            <a:ext cx="443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urved Connector 39"/>
          <p:cNvCxnSpPr>
            <a:stCxn id="113" idx="3"/>
            <a:endCxn id="118" idx="1"/>
          </p:cNvCxnSpPr>
          <p:nvPr/>
        </p:nvCxnSpPr>
        <p:spPr>
          <a:xfrm>
            <a:off x="4228350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urved Connector 39"/>
          <p:cNvCxnSpPr>
            <a:stCxn id="100" idx="3"/>
            <a:endCxn id="110" idx="1"/>
          </p:cNvCxnSpPr>
          <p:nvPr/>
        </p:nvCxnSpPr>
        <p:spPr>
          <a:xfrm>
            <a:off x="2998278" y="3909690"/>
            <a:ext cx="53963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urved Connector 39"/>
          <p:cNvCxnSpPr>
            <a:stCxn id="129" idx="2"/>
            <a:endCxn id="118" idx="0"/>
          </p:cNvCxnSpPr>
          <p:nvPr/>
        </p:nvCxnSpPr>
        <p:spPr>
          <a:xfrm>
            <a:off x="4996585" y="3331964"/>
            <a:ext cx="0" cy="394847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urved Connector 39"/>
          <p:cNvCxnSpPr>
            <a:stCxn id="86" idx="3"/>
            <a:endCxn id="124" idx="1"/>
          </p:cNvCxnSpPr>
          <p:nvPr/>
        </p:nvCxnSpPr>
        <p:spPr>
          <a:xfrm>
            <a:off x="2998278" y="2971255"/>
            <a:ext cx="1769707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3" name="Group 182"/>
          <p:cNvGrpSpPr/>
          <p:nvPr/>
        </p:nvGrpSpPr>
        <p:grpSpPr>
          <a:xfrm>
            <a:off x="8458200" y="3726811"/>
            <a:ext cx="457200" cy="365760"/>
            <a:chOff x="1698611" y="3461328"/>
            <a:chExt cx="457200" cy="313459"/>
          </a:xfrm>
        </p:grpSpPr>
        <p:sp>
          <p:nvSpPr>
            <p:cNvPr id="184" name="Rectangle 183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/>
              <a:endParaRPr lang="en-US" sz="400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Times New Roman"/>
              </a:endParaRP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6" name="Group 185"/>
          <p:cNvGrpSpPr/>
          <p:nvPr/>
        </p:nvGrpSpPr>
        <p:grpSpPr>
          <a:xfrm>
            <a:off x="8458200" y="2788376"/>
            <a:ext cx="457200" cy="365760"/>
            <a:chOff x="1698611" y="3461328"/>
            <a:chExt cx="457200" cy="313459"/>
          </a:xfrm>
        </p:grpSpPr>
        <p:sp>
          <p:nvSpPr>
            <p:cNvPr id="187" name="Rectangle 186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/>
              <a:endParaRPr lang="en-US" sz="4000">
                <a:solidFill>
                  <a:schemeClr val="accent1"/>
                </a:solidFill>
                <a:latin typeface="Inconsolata" panose="00000509000000000000" pitchFamily="49" charset="0"/>
                <a:ea typeface="DejaVu Sans Mono" pitchFamily="49" charset="0"/>
                <a:cs typeface="Times New Roman"/>
              </a:endParaRP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grpSp>
        <p:nvGrpSpPr>
          <p:cNvPr id="189" name="Group 188"/>
          <p:cNvGrpSpPr/>
          <p:nvPr/>
        </p:nvGrpSpPr>
        <p:grpSpPr>
          <a:xfrm>
            <a:off x="8458200" y="1849941"/>
            <a:ext cx="457200" cy="365760"/>
            <a:chOff x="1698611" y="3461328"/>
            <a:chExt cx="457200" cy="313459"/>
          </a:xfrm>
        </p:grpSpPr>
        <p:sp>
          <p:nvSpPr>
            <p:cNvPr id="190" name="Rectangle 189"/>
            <p:cNvSpPr/>
            <p:nvPr/>
          </p:nvSpPr>
          <p:spPr>
            <a:xfrm>
              <a:off x="1743061" y="3541858"/>
              <a:ext cx="182880" cy="152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1"/>
                </a:solidFill>
                <a:latin typeface="Inconsolata" panose="00000509000000000000" pitchFamily="49" charset="0"/>
              </a:endParaRPr>
            </a:p>
          </p:txBody>
        </p:sp>
        <p:sp>
          <p:nvSpPr>
            <p:cNvPr id="191" name="Rectangle 190"/>
            <p:cNvSpPr/>
            <p:nvPr/>
          </p:nvSpPr>
          <p:spPr>
            <a:xfrm>
              <a:off x="1698611" y="3461328"/>
              <a:ext cx="457200" cy="3134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44433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91440" rIns="0" rtlCol="0" anchor="ctr"/>
            <a:lstStyle/>
            <a:p>
              <a:pPr algn="ctr">
                <a:lnSpc>
                  <a:spcPct val="80000"/>
                </a:lnSpc>
              </a:pPr>
              <a:r>
                <a:rPr lang="en-US" sz="4000" dirty="0">
                  <a:solidFill>
                    <a:schemeClr val="accent1"/>
                  </a:solidFill>
                  <a:latin typeface="Inconsolata" panose="00000509000000000000" pitchFamily="49" charset="0"/>
                  <a:ea typeface="DejaVu Sans Mono" pitchFamily="49" charset="0"/>
                  <a:cs typeface="Consolas" pitchFamily="49" charset="0"/>
                </a:rPr>
                <a:t>∞</a:t>
              </a:r>
            </a:p>
          </p:txBody>
        </p:sp>
      </p:grpSp>
      <p:cxnSp>
        <p:nvCxnSpPr>
          <p:cNvPr id="208" name="Curved Connector 39"/>
          <p:cNvCxnSpPr>
            <a:stCxn id="205" idx="3"/>
            <a:endCxn id="185" idx="1"/>
          </p:cNvCxnSpPr>
          <p:nvPr/>
        </p:nvCxnSpPr>
        <p:spPr>
          <a:xfrm>
            <a:off x="7918566" y="3909690"/>
            <a:ext cx="53963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39"/>
          <p:cNvCxnSpPr>
            <a:stCxn id="90" idx="3"/>
            <a:endCxn id="4" idx="1"/>
          </p:cNvCxnSpPr>
          <p:nvPr/>
        </p:nvCxnSpPr>
        <p:spPr>
          <a:xfrm flipV="1">
            <a:off x="531784" y="3909691"/>
            <a:ext cx="545985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urved Connector 39"/>
          <p:cNvCxnSpPr>
            <a:stCxn id="93" idx="3"/>
            <a:endCxn id="76" idx="1"/>
          </p:cNvCxnSpPr>
          <p:nvPr/>
        </p:nvCxnSpPr>
        <p:spPr>
          <a:xfrm flipV="1">
            <a:off x="531784" y="2971256"/>
            <a:ext cx="1775614" cy="1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headEnd type="oval" w="lg" len="lg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304800" y="4084877"/>
            <a:ext cx="456854" cy="292388"/>
          </a:xfrm>
          <a:prstGeom prst="rect">
            <a:avLst/>
          </a:prstGeom>
          <a:noFill/>
        </p:spPr>
        <p:txBody>
          <a:bodyPr wrap="square" lIns="0" tIns="45720" rIns="0" bIns="45720" rtlCol="0" anchor="ctr" anchorCtr="0"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US" sz="1600" b="1" i="1" dirty="0">
                <a:solidFill>
                  <a:schemeClr val="accent1"/>
                </a:solidFill>
                <a:latin typeface="Crimson Text" pitchFamily="2" charset="0"/>
              </a:rPr>
              <a:t>P=N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29062" y="3146442"/>
            <a:ext cx="608330" cy="292388"/>
          </a:xfrm>
          <a:prstGeom prst="rect">
            <a:avLst/>
          </a:prstGeom>
          <a:noFill/>
        </p:spPr>
        <p:txBody>
          <a:bodyPr wrap="square" lIns="0" tIns="45720" rIns="0" bIns="45720" rtlCol="0" anchor="ctr" anchorCtr="0"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US" sz="1600" b="1" i="1" dirty="0">
                <a:solidFill>
                  <a:schemeClr val="accent1"/>
                </a:solidFill>
                <a:latin typeface="Crimson Text" pitchFamily="2" charset="0"/>
              </a:rPr>
              <a:t>P=N/2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29062" y="2208007"/>
            <a:ext cx="608330" cy="292388"/>
          </a:xfrm>
          <a:prstGeom prst="rect">
            <a:avLst/>
          </a:prstGeom>
          <a:noFill/>
          <a:ln>
            <a:noFill/>
          </a:ln>
        </p:spPr>
        <p:txBody>
          <a:bodyPr wrap="square" lIns="0" tIns="45720" rIns="0" bIns="45720" rtlCol="0" anchor="ctr" anchorCtr="0"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US" sz="1600" b="1" i="1" dirty="0">
                <a:solidFill>
                  <a:schemeClr val="accent1"/>
                </a:solidFill>
                <a:latin typeface="Crimson Text" pitchFamily="2" charset="0"/>
              </a:rPr>
              <a:t>P=N/4</a:t>
            </a:r>
          </a:p>
        </p:txBody>
      </p:sp>
      <p:grpSp>
        <p:nvGrpSpPr>
          <p:cNvPr id="235" name="Group 234"/>
          <p:cNvGrpSpPr/>
          <p:nvPr/>
        </p:nvGrpSpPr>
        <p:grpSpPr>
          <a:xfrm>
            <a:off x="533227" y="2032820"/>
            <a:ext cx="7924973" cy="1876872"/>
            <a:chOff x="533227" y="2032820"/>
            <a:chExt cx="7924973" cy="1876872"/>
          </a:xfrm>
        </p:grpSpPr>
        <p:cxnSp>
          <p:nvCxnSpPr>
            <p:cNvPr id="226" name="Curved Connector 39"/>
            <p:cNvCxnSpPr>
              <a:endCxn id="191" idx="1"/>
            </p:cNvCxnSpPr>
            <p:nvPr/>
          </p:nvCxnSpPr>
          <p:spPr>
            <a:xfrm>
              <a:off x="533227" y="2032820"/>
              <a:ext cx="7924973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urved Connector 39"/>
            <p:cNvCxnSpPr>
              <a:stCxn id="127" idx="3"/>
              <a:endCxn id="188" idx="1"/>
            </p:cNvCxnSpPr>
            <p:nvPr/>
          </p:nvCxnSpPr>
          <p:spPr>
            <a:xfrm>
              <a:off x="5458865" y="2971255"/>
              <a:ext cx="2999335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urved Connector 39"/>
            <p:cNvCxnSpPr>
              <a:endCxn id="202" idx="1"/>
            </p:cNvCxnSpPr>
            <p:nvPr/>
          </p:nvCxnSpPr>
          <p:spPr>
            <a:xfrm flipV="1">
              <a:off x="5458865" y="3909691"/>
              <a:ext cx="1769264" cy="1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headEnd type="oval" w="lg" len="lg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62304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 bwMode="auto">
          <a:xfrm flipV="1">
            <a:off x="4931765" y="2161102"/>
            <a:ext cx="249237" cy="210266"/>
          </a:xfrm>
          <a:prstGeom prst="rect">
            <a:avLst/>
          </a:prstGeom>
          <a:noFill/>
          <a:ln w="28575" cap="flat" cmpd="sng" algn="ctr">
            <a:solidFill>
              <a:srgbClr val="FEFFFF"/>
            </a:solidFill>
            <a:prstDash val="solid"/>
            <a:round/>
            <a:headEnd type="none" w="sm" len="sm"/>
            <a:tailEnd type="triangle" w="med" len="med"/>
          </a:ln>
          <a:effectLst/>
        </p:spPr>
        <p:txBody>
          <a:bodyPr vert="horz" wrap="none" lIns="61544" tIns="30772" rIns="61544" bIns="30772" numCol="1" rtlCol="0" anchor="ctr" anchorCtr="0" compatLnSpc="1">
            <a:prstTxWarp prst="textNoShape">
              <a:avLst/>
            </a:prstTxWarp>
          </a:bodyPr>
          <a:lstStyle/>
          <a:p>
            <a:pPr algn="ctr" defTabSz="615437" eaLnBrk="0" hangingPunct="0"/>
            <a:endParaRPr lang="en-US" sz="1875">
              <a:latin typeface="Times New Roman" pitchFamily="-11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WIKIPEDIA EXAMPLE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E06307B-5ABF-4A20-ACFA-4570E777BE43}" type="slidenum">
              <a:rPr lang="en-US" smtClean="0"/>
              <a:pPr/>
              <a:t>50</a:t>
            </a:fld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0E19987-C9C7-403D-801B-840878C09AE6}"/>
              </a:ext>
            </a:extLst>
          </p:cNvPr>
          <p:cNvGrpSpPr/>
          <p:nvPr/>
        </p:nvGrpSpPr>
        <p:grpSpPr>
          <a:xfrm>
            <a:off x="2029258" y="3020324"/>
            <a:ext cx="5085484" cy="1837426"/>
            <a:chOff x="2029258" y="2724150"/>
            <a:chExt cx="5085484" cy="18374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B2F3B68-66B6-4E79-ACA7-AAEEF37BC6D5}"/>
                </a:ext>
              </a:extLst>
            </p:cNvPr>
            <p:cNvSpPr/>
            <p:nvPr/>
          </p:nvSpPr>
          <p:spPr>
            <a:xfrm>
              <a:off x="2202180" y="3291286"/>
              <a:ext cx="249237" cy="2102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C3B90F7-A10E-484C-9E4D-2B797F3A2B91}"/>
                </a:ext>
              </a:extLst>
            </p:cNvPr>
            <p:cNvSpPr/>
            <p:nvPr/>
          </p:nvSpPr>
          <p:spPr>
            <a:xfrm>
              <a:off x="6286499" y="3534440"/>
              <a:ext cx="249237" cy="2102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2029258" y="2724150"/>
              <a:ext cx="5085484" cy="18374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46464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45720" rIns="4572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defRPr sz="2000" b="0" u="none">
                  <a:solidFill>
                    <a:schemeClr val="tx1">
                      <a:lumMod val="90000"/>
                      <a:lumOff val="10000"/>
                    </a:schemeClr>
                  </a:solidFill>
                  <a:latin typeface="Inconsolata" panose="00000509000000000000" pitchFamily="49" charset="0"/>
                  <a:ea typeface="ＭＳ Ｐゴシック" pitchFamily="-112" charset="-128"/>
                  <a:cs typeface="DejaVu Sans Mono" pitchFamily="49" charset="0"/>
                </a:defRPr>
              </a:lvl1pPr>
              <a:lvl2pPr marL="742950" indent="-28575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2pPr>
              <a:lvl3pPr marL="11430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3pPr>
              <a:lvl4pPr marL="16002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4pPr>
              <a:lvl5pPr marL="20574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9pPr>
            </a:lstStyle>
            <a:p>
              <a:r>
                <a:rPr lang="en-US" sz="1800" b="1" dirty="0"/>
                <a:t>CREATE</a:t>
              </a:r>
              <a:r>
                <a:rPr lang="en-US" sz="1800" dirty="0"/>
                <a:t> </a:t>
              </a:r>
              <a:r>
                <a:rPr lang="en-US" sz="1800" b="1" dirty="0"/>
                <a:t>TABLE</a:t>
              </a:r>
              <a:r>
                <a:rPr lang="en-US" sz="1800" dirty="0"/>
                <a:t> revisions (</a:t>
              </a:r>
            </a:p>
            <a:p>
              <a:r>
                <a:rPr lang="en-US" sz="1800" dirty="0"/>
                <a:t>  </a:t>
              </a:r>
              <a:r>
                <a:rPr lang="en-US" sz="1800" dirty="0" err="1"/>
                <a:t>revID</a:t>
              </a:r>
              <a:r>
                <a:rPr lang="en-US" sz="1800" dirty="0"/>
                <a:t> </a:t>
              </a:r>
              <a:r>
                <a:rPr lang="en-US" sz="1800" b="1" dirty="0"/>
                <a:t>INT</a:t>
              </a:r>
              <a:r>
                <a:rPr lang="en-US" sz="1800" dirty="0"/>
                <a:t> </a:t>
              </a:r>
              <a:r>
                <a:rPr lang="en-US" sz="1800" b="1" dirty="0"/>
                <a:t>PRIMARY</a:t>
              </a:r>
              <a:r>
                <a:rPr lang="en-US" sz="1800" dirty="0"/>
                <a:t> </a:t>
              </a:r>
              <a:r>
                <a:rPr lang="en-US" sz="1800" b="1" dirty="0"/>
                <a:t>KEY</a:t>
              </a:r>
              <a:r>
                <a:rPr lang="en-US" sz="1800" dirty="0"/>
                <a:t>,</a:t>
              </a:r>
            </a:p>
            <a:p>
              <a:r>
                <a:rPr lang="en-US" sz="1800" dirty="0"/>
                <a:t>  </a:t>
              </a:r>
              <a:r>
                <a:rPr lang="en-US" sz="1800" dirty="0" err="1"/>
                <a:t>userID</a:t>
              </a:r>
              <a:r>
                <a:rPr lang="en-US" sz="1800" dirty="0"/>
                <a:t> </a:t>
              </a:r>
              <a:r>
                <a:rPr lang="en-US" sz="1800" b="1" dirty="0"/>
                <a:t>INT</a:t>
              </a:r>
              <a:r>
                <a:rPr lang="en-US" sz="1800" dirty="0"/>
                <a:t> </a:t>
              </a:r>
              <a:r>
                <a:rPr lang="en-US" sz="1800" b="1" dirty="0"/>
                <a:t>REFERENCES</a:t>
              </a:r>
              <a:r>
                <a:rPr lang="en-US" sz="1800" dirty="0"/>
                <a:t> </a:t>
              </a:r>
              <a:r>
                <a:rPr lang="en-US" sz="1800" dirty="0" err="1"/>
                <a:t>useracct</a:t>
              </a:r>
              <a:r>
                <a:rPr lang="en-US" sz="1800" dirty="0"/>
                <a:t> (</a:t>
              </a:r>
              <a:r>
                <a:rPr lang="en-US" sz="1800" dirty="0" err="1"/>
                <a:t>userID</a:t>
              </a:r>
              <a:r>
                <a:rPr lang="en-US" sz="1800" dirty="0"/>
                <a:t>),  </a:t>
              </a:r>
            </a:p>
            <a:p>
              <a:r>
                <a:rPr lang="en-US" sz="1800" dirty="0"/>
                <a:t>  </a:t>
              </a:r>
              <a:r>
                <a:rPr lang="en-US" sz="1800" dirty="0" err="1"/>
                <a:t>pageID</a:t>
              </a:r>
              <a:r>
                <a:rPr lang="en-US" sz="1800" dirty="0"/>
                <a:t> </a:t>
              </a:r>
              <a:r>
                <a:rPr lang="en-US" sz="1800" b="1" dirty="0"/>
                <a:t>INT</a:t>
              </a:r>
              <a:r>
                <a:rPr lang="en-US" sz="1800" dirty="0"/>
                <a:t> </a:t>
              </a:r>
              <a:r>
                <a:rPr lang="en-US" sz="1800" b="1" dirty="0"/>
                <a:t>REFERENCES</a:t>
              </a:r>
              <a:r>
                <a:rPr lang="en-US" sz="1800" dirty="0"/>
                <a:t> pages (</a:t>
              </a:r>
              <a:r>
                <a:rPr lang="en-US" sz="1800" dirty="0" err="1"/>
                <a:t>pageID</a:t>
              </a:r>
              <a:r>
                <a:rPr lang="en-US" sz="1800" dirty="0"/>
                <a:t>),</a:t>
              </a:r>
            </a:p>
            <a:p>
              <a:r>
                <a:rPr lang="en-US" sz="1800" dirty="0"/>
                <a:t>  content </a:t>
              </a:r>
              <a:r>
                <a:rPr lang="en-US" sz="1800" b="1" dirty="0"/>
                <a:t>TEXT</a:t>
              </a:r>
              <a:r>
                <a:rPr lang="en-US" sz="1800" dirty="0"/>
                <a:t>,</a:t>
              </a:r>
            </a:p>
            <a:p>
              <a:r>
                <a:rPr lang="en-US" sz="1800" dirty="0"/>
                <a:t>  updated </a:t>
              </a:r>
              <a:r>
                <a:rPr lang="en-US" sz="1800" b="1" dirty="0"/>
                <a:t>DATETIME</a:t>
              </a:r>
            </a:p>
            <a:p>
              <a:r>
                <a:rPr lang="en-US" sz="1800" dirty="0"/>
                <a:t>);</a:t>
              </a:r>
            </a:p>
          </p:txBody>
        </p:sp>
      </p:grpSp>
      <p:cxnSp>
        <p:nvCxnSpPr>
          <p:cNvPr id="12" name="Straight Arrow Connector 6">
            <a:extLst>
              <a:ext uri="{FF2B5EF4-FFF2-40B4-BE49-F238E27FC236}">
                <a16:creationId xmlns:a16="http://schemas.microsoft.com/office/drawing/2014/main" id="{831D500D-AA62-4DE9-92F8-7173F89711E7}"/>
              </a:ext>
            </a:extLst>
          </p:cNvPr>
          <p:cNvCxnSpPr>
            <a:cxnSpLocks/>
            <a:stCxn id="9" idx="1"/>
            <a:endCxn id="16" idx="2"/>
          </p:cNvCxnSpPr>
          <p:nvPr/>
        </p:nvCxnSpPr>
        <p:spPr bwMode="auto">
          <a:xfrm rot="10800000">
            <a:off x="1039020" y="2461309"/>
            <a:ext cx="1163161" cy="1231285"/>
          </a:xfrm>
          <a:prstGeom prst="bentConnector2">
            <a:avLst/>
          </a:prstGeom>
          <a:solidFill>
            <a:schemeClr val="accent1"/>
          </a:solidFill>
          <a:ln w="38100" cap="flat" cmpd="sng" algn="ctr">
            <a:solidFill>
              <a:srgbClr val="EF3E42"/>
            </a:solidFill>
            <a:prstDash val="solid"/>
            <a:round/>
            <a:headEnd type="oval" w="med" len="med"/>
            <a:tailEnd type="arrow" w="med" len="med"/>
          </a:ln>
          <a:effectLst/>
        </p:spPr>
      </p:cxnSp>
      <p:cxnSp>
        <p:nvCxnSpPr>
          <p:cNvPr id="21" name="Straight Arrow Connector 6">
            <a:extLst>
              <a:ext uri="{FF2B5EF4-FFF2-40B4-BE49-F238E27FC236}">
                <a16:creationId xmlns:a16="http://schemas.microsoft.com/office/drawing/2014/main" id="{D481361F-05D9-4BD3-A9B6-044FCCA73C07}"/>
              </a:ext>
            </a:extLst>
          </p:cNvPr>
          <p:cNvCxnSpPr>
            <a:cxnSpLocks/>
            <a:stCxn id="19" idx="3"/>
            <a:endCxn id="20" idx="2"/>
          </p:cNvCxnSpPr>
          <p:nvPr/>
        </p:nvCxnSpPr>
        <p:spPr bwMode="auto">
          <a:xfrm flipV="1">
            <a:off x="6535736" y="2738307"/>
            <a:ext cx="1906499" cy="1197440"/>
          </a:xfrm>
          <a:prstGeom prst="bentConnector2">
            <a:avLst/>
          </a:prstGeom>
          <a:solidFill>
            <a:schemeClr val="accent1"/>
          </a:solidFill>
          <a:ln w="38100" cap="flat" cmpd="sng" algn="ctr">
            <a:solidFill>
              <a:srgbClr val="EF3E42"/>
            </a:solidFill>
            <a:prstDash val="solid"/>
            <a:round/>
            <a:headEnd type="oval" w="med" len="med"/>
            <a:tailEnd type="arrow" w="med" len="med"/>
          </a:ln>
          <a:effectLst/>
        </p:spPr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D3A9821-B635-4CBF-BFAE-4EF716BC58CB}"/>
              </a:ext>
            </a:extLst>
          </p:cNvPr>
          <p:cNvGrpSpPr/>
          <p:nvPr/>
        </p:nvGrpSpPr>
        <p:grpSpPr>
          <a:xfrm>
            <a:off x="4726373" y="1122480"/>
            <a:ext cx="3840480" cy="1615827"/>
            <a:chOff x="4966017" y="1129549"/>
            <a:chExt cx="3840480" cy="1615827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213A54A-F571-4C48-BAC0-D156B14983E8}"/>
                </a:ext>
              </a:extLst>
            </p:cNvPr>
            <p:cNvSpPr/>
            <p:nvPr/>
          </p:nvSpPr>
          <p:spPr>
            <a:xfrm>
              <a:off x="8557260" y="2535110"/>
              <a:ext cx="249237" cy="2102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4966017" y="1129549"/>
              <a:ext cx="3840480" cy="16158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46464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45720" rIns="4572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defRPr sz="2000" b="0" u="none">
                  <a:solidFill>
                    <a:schemeClr val="tx1">
                      <a:lumMod val="90000"/>
                      <a:lumOff val="10000"/>
                    </a:schemeClr>
                  </a:solidFill>
                  <a:latin typeface="Inconsolata" panose="00000509000000000000" pitchFamily="49" charset="0"/>
                  <a:ea typeface="ＭＳ Ｐゴシック" pitchFamily="-112" charset="-128"/>
                  <a:cs typeface="DejaVu Sans Mono" pitchFamily="49" charset="0"/>
                </a:defRPr>
              </a:lvl1pPr>
              <a:lvl2pPr marL="742950" indent="-28575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2pPr>
              <a:lvl3pPr marL="11430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3pPr>
              <a:lvl4pPr marL="16002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4pPr>
              <a:lvl5pPr marL="20574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9pPr>
            </a:lstStyle>
            <a:p>
              <a:r>
                <a:rPr lang="en-US" sz="1800" b="1" dirty="0"/>
                <a:t>CREATE</a:t>
              </a:r>
              <a:r>
                <a:rPr lang="en-US" sz="1800" dirty="0"/>
                <a:t> </a:t>
              </a:r>
              <a:r>
                <a:rPr lang="en-US" sz="1800" b="1" dirty="0"/>
                <a:t>TABLE</a:t>
              </a:r>
              <a:r>
                <a:rPr lang="en-US" sz="1800" dirty="0"/>
                <a:t> pages (</a:t>
              </a:r>
            </a:p>
            <a:p>
              <a:r>
                <a:rPr lang="en-US" sz="1800" dirty="0"/>
                <a:t>  </a:t>
              </a:r>
              <a:r>
                <a:rPr lang="en-US" sz="1800" dirty="0" err="1"/>
                <a:t>pageID</a:t>
              </a:r>
              <a:r>
                <a:rPr lang="en-US" sz="1800" dirty="0"/>
                <a:t> </a:t>
              </a:r>
              <a:r>
                <a:rPr lang="en-US" sz="1800" b="1" dirty="0"/>
                <a:t>INT</a:t>
              </a:r>
              <a:r>
                <a:rPr lang="en-US" sz="1800" dirty="0"/>
                <a:t> </a:t>
              </a:r>
              <a:r>
                <a:rPr lang="en-US" sz="1800" b="1" dirty="0"/>
                <a:t>PRIMARY</a:t>
              </a:r>
              <a:r>
                <a:rPr lang="en-US" sz="1800" dirty="0"/>
                <a:t> </a:t>
              </a:r>
              <a:r>
                <a:rPr lang="en-US" sz="1800" b="1" dirty="0"/>
                <a:t>KEY</a:t>
              </a:r>
              <a:r>
                <a:rPr lang="en-US" sz="1800" dirty="0"/>
                <a:t>,</a:t>
              </a:r>
            </a:p>
            <a:p>
              <a:r>
                <a:rPr lang="en-US" sz="1800" dirty="0"/>
                <a:t>  title </a:t>
              </a:r>
              <a:r>
                <a:rPr lang="en-US" sz="1800" b="1" dirty="0"/>
                <a:t>VARCHAR</a:t>
              </a:r>
              <a:r>
                <a:rPr lang="en-US" sz="1800" dirty="0"/>
                <a:t> </a:t>
              </a:r>
              <a:r>
                <a:rPr lang="en-US" sz="1800" b="1" dirty="0"/>
                <a:t>UNIQUE</a:t>
              </a:r>
              <a:r>
                <a:rPr lang="en-US" sz="1800" dirty="0"/>
                <a:t>,</a:t>
              </a:r>
            </a:p>
            <a:p>
              <a:r>
                <a:rPr lang="en-US" sz="1800" dirty="0"/>
                <a:t>  latest </a:t>
              </a:r>
              <a:r>
                <a:rPr lang="en-US" sz="1800" b="1" dirty="0"/>
                <a:t>INT</a:t>
              </a:r>
              <a:br>
                <a:rPr lang="en-US" sz="1800" b="1" dirty="0"/>
              </a:br>
              <a:r>
                <a:rPr lang="en-US" sz="1800" b="1" dirty="0"/>
                <a:t>  ⮱REFERENCES</a:t>
              </a:r>
              <a:r>
                <a:rPr lang="en-US" sz="1800" dirty="0"/>
                <a:t> revisions (</a:t>
              </a:r>
              <a:r>
                <a:rPr lang="en-US" sz="1800" dirty="0" err="1"/>
                <a:t>revID</a:t>
              </a:r>
              <a:r>
                <a:rPr lang="en-US" sz="1800" dirty="0"/>
                <a:t>),</a:t>
              </a:r>
            </a:p>
            <a:p>
              <a:r>
                <a:rPr lang="en-US" sz="1800" dirty="0"/>
                <a:t>);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1ED6D7D-38A6-4FD5-8859-2FBB5573DADD}"/>
              </a:ext>
            </a:extLst>
          </p:cNvPr>
          <p:cNvGrpSpPr/>
          <p:nvPr/>
        </p:nvGrpSpPr>
        <p:grpSpPr>
          <a:xfrm>
            <a:off x="914400" y="1122480"/>
            <a:ext cx="3449637" cy="1338828"/>
            <a:chOff x="246063" y="1141104"/>
            <a:chExt cx="3449637" cy="133882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FA07C92-2416-404C-AD16-6D4E311314FE}"/>
                </a:ext>
              </a:extLst>
            </p:cNvPr>
            <p:cNvSpPr/>
            <p:nvPr/>
          </p:nvSpPr>
          <p:spPr>
            <a:xfrm>
              <a:off x="246063" y="2269666"/>
              <a:ext cx="249237" cy="21026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 Box 4"/>
            <p:cNvSpPr txBox="1">
              <a:spLocks noChangeArrowheads="1"/>
            </p:cNvSpPr>
            <p:nvPr/>
          </p:nvSpPr>
          <p:spPr bwMode="auto">
            <a:xfrm>
              <a:off x="246063" y="1141104"/>
              <a:ext cx="3449637" cy="13388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46464"/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45720" rIns="45720">
              <a:sp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defRPr sz="2000" b="1" u="none">
                  <a:solidFill>
                    <a:schemeClr val="tx1">
                      <a:lumMod val="90000"/>
                      <a:lumOff val="10000"/>
                    </a:schemeClr>
                  </a:solidFill>
                  <a:latin typeface="Inconsolata" panose="00000509000000000000" pitchFamily="49" charset="0"/>
                  <a:ea typeface="ＭＳ Ｐゴシック" pitchFamily="-112" charset="-128"/>
                  <a:cs typeface="DejaVu Sans Mono" pitchFamily="49" charset="0"/>
                </a:defRPr>
              </a:lvl1pPr>
              <a:lvl2pPr marL="742950" indent="-28575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2pPr>
              <a:lvl3pPr marL="11430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3pPr>
              <a:lvl4pPr marL="16002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4pPr>
              <a:lvl5pPr marL="2057400" indent="-228600"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u="sng">
                  <a:solidFill>
                    <a:schemeClr val="dk1"/>
                  </a:solidFill>
                  <a:latin typeface="Times New Roman" pitchFamily="-112" charset="0"/>
                  <a:ea typeface="ＭＳ Ｐゴシック" pitchFamily="-112" charset="-128"/>
                </a:defRPr>
              </a:lvl9pPr>
            </a:lstStyle>
            <a:p>
              <a:r>
                <a:rPr lang="en-US" sz="1800" dirty="0"/>
                <a:t>CREATE</a:t>
              </a:r>
              <a:r>
                <a:rPr lang="en-US" sz="1800" b="0" dirty="0"/>
                <a:t> </a:t>
              </a:r>
              <a:r>
                <a:rPr lang="en-US" sz="1800" dirty="0"/>
                <a:t>TABLE</a:t>
              </a:r>
              <a:r>
                <a:rPr lang="en-US" sz="1800" b="0" dirty="0"/>
                <a:t> </a:t>
              </a:r>
              <a:r>
                <a:rPr lang="en-US" sz="1800" b="0" dirty="0" err="1"/>
                <a:t>useracct</a:t>
              </a:r>
              <a:r>
                <a:rPr lang="en-US" sz="1800" b="0" dirty="0"/>
                <a:t> (</a:t>
              </a:r>
            </a:p>
            <a:p>
              <a:r>
                <a:rPr lang="en-US" sz="1800" b="0" dirty="0"/>
                <a:t>  </a:t>
              </a:r>
              <a:r>
                <a:rPr lang="en-US" sz="1800" b="0" dirty="0" err="1"/>
                <a:t>userID</a:t>
              </a:r>
              <a:r>
                <a:rPr lang="en-US" sz="1800" b="0" dirty="0"/>
                <a:t> </a:t>
              </a:r>
              <a:r>
                <a:rPr lang="en-US" sz="1800" dirty="0"/>
                <a:t>INT</a:t>
              </a:r>
              <a:r>
                <a:rPr lang="en-US" sz="1800" b="0" dirty="0"/>
                <a:t> </a:t>
              </a:r>
              <a:r>
                <a:rPr lang="en-US" sz="1800" dirty="0"/>
                <a:t>PRIMARY</a:t>
              </a:r>
              <a:r>
                <a:rPr lang="en-US" sz="1800" b="0" dirty="0"/>
                <a:t> </a:t>
              </a:r>
              <a:r>
                <a:rPr lang="en-US" sz="1800" dirty="0"/>
                <a:t>KEY</a:t>
              </a:r>
              <a:r>
                <a:rPr lang="en-US" sz="1800" b="0" dirty="0"/>
                <a:t>,</a:t>
              </a:r>
            </a:p>
            <a:p>
              <a:r>
                <a:rPr lang="en-US" sz="1800" b="0" dirty="0"/>
                <a:t>  </a:t>
              </a:r>
              <a:r>
                <a:rPr lang="en-US" sz="1800" b="0" dirty="0" err="1"/>
                <a:t>userName</a:t>
              </a:r>
              <a:r>
                <a:rPr lang="en-US" sz="1800" b="0" dirty="0"/>
                <a:t> </a:t>
              </a:r>
              <a:r>
                <a:rPr lang="en-US" sz="1800" dirty="0"/>
                <a:t>VARCHAR</a:t>
              </a:r>
              <a:r>
                <a:rPr lang="en-US" sz="1800" b="0" dirty="0"/>
                <a:t> </a:t>
              </a:r>
              <a:r>
                <a:rPr lang="en-US" sz="1800" dirty="0"/>
                <a:t>UNIQUE</a:t>
              </a:r>
              <a:r>
                <a:rPr lang="en-US" sz="1800" b="0" dirty="0"/>
                <a:t>,</a:t>
              </a:r>
            </a:p>
            <a:p>
              <a:r>
                <a:rPr lang="en-US" sz="1800" b="0" dirty="0"/>
                <a:t>  ⋮</a:t>
              </a:r>
            </a:p>
            <a:p>
              <a:r>
                <a:rPr lang="en-US" sz="1800" b="0" dirty="0"/>
                <a:t>);</a:t>
              </a:r>
            </a:p>
          </p:txBody>
        </p:sp>
      </p:grpSp>
      <p:cxnSp>
        <p:nvCxnSpPr>
          <p:cNvPr id="18" name="Straight Arrow Connector 6">
            <a:extLst>
              <a:ext uri="{FF2B5EF4-FFF2-40B4-BE49-F238E27FC236}">
                <a16:creationId xmlns:a16="http://schemas.microsoft.com/office/drawing/2014/main" id="{44122A88-17CD-49E2-AE61-EB6FF0DE7050}"/>
              </a:ext>
            </a:extLst>
          </p:cNvPr>
          <p:cNvCxnSpPr>
            <a:cxnSpLocks/>
            <a:stCxn id="24" idx="1"/>
            <a:endCxn id="8" idx="0"/>
          </p:cNvCxnSpPr>
          <p:nvPr/>
        </p:nvCxnSpPr>
        <p:spPr bwMode="auto">
          <a:xfrm rot="10800000" flipV="1">
            <a:off x="4572001" y="2266234"/>
            <a:ext cx="359765" cy="754089"/>
          </a:xfrm>
          <a:prstGeom prst="bentConnector2">
            <a:avLst/>
          </a:prstGeom>
          <a:solidFill>
            <a:schemeClr val="accent1"/>
          </a:solidFill>
          <a:ln w="38100" cap="flat" cmpd="sng" algn="ctr">
            <a:solidFill>
              <a:srgbClr val="EF3E42"/>
            </a:solidFill>
            <a:prstDash val="solid"/>
            <a:round/>
            <a:headEnd type="oval" w="med" len="med"/>
            <a:tailEnd type="arrow" w="med" len="med"/>
          </a:ln>
          <a:effectLst/>
        </p:spPr>
      </p:cxnSp>
      <p:sp>
        <p:nvSpPr>
          <p:cNvPr id="23" name="Highlight Box">
            <a:extLst>
              <a:ext uri="{FF2B5EF4-FFF2-40B4-BE49-F238E27FC236}">
                <a16:creationId xmlns:a16="http://schemas.microsoft.com/office/drawing/2014/main" id="{8C5B88CE-355A-4F2C-841A-3BFCF94EC640}"/>
              </a:ext>
            </a:extLst>
          </p:cNvPr>
          <p:cNvSpPr/>
          <p:nvPr/>
        </p:nvSpPr>
        <p:spPr>
          <a:xfrm>
            <a:off x="2222499" y="4049425"/>
            <a:ext cx="1645920" cy="274320"/>
          </a:xfrm>
          <a:prstGeom prst="roundRect">
            <a:avLst>
              <a:gd name="adj" fmla="val 4675"/>
            </a:avLst>
          </a:prstGeom>
          <a:noFill/>
          <a:ln w="38100">
            <a:solidFill>
              <a:srgbClr val="EF3E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04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8361304-4CC7-46D1-B0CC-FE72474B0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TRIE INDEX PROPERTIES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A13C74-B2B3-4C56-A7B8-3F0BAB00E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Shape only depends on key space and lengths.</a:t>
            </a:r>
          </a:p>
          <a:p>
            <a:pPr lvl="1"/>
            <a:r>
              <a:rPr lang="en-US" dirty="0"/>
              <a:t>Does not depend on existing keys or insertion order.</a:t>
            </a:r>
          </a:p>
          <a:p>
            <a:pPr lvl="1"/>
            <a:r>
              <a:rPr lang="en-US" dirty="0"/>
              <a:t>Does not require rebalancing operations.</a:t>
            </a:r>
          </a:p>
          <a:p>
            <a:endParaRPr lang="en-US" sz="1200" dirty="0"/>
          </a:p>
          <a:p>
            <a:r>
              <a:rPr lang="en-US" dirty="0"/>
              <a:t>All operations have </a:t>
            </a:r>
            <a:r>
              <a:rPr lang="en-US" b="1" dirty="0">
                <a:solidFill>
                  <a:schemeClr val="accent1"/>
                </a:solidFill>
              </a:rPr>
              <a:t>O(</a:t>
            </a:r>
            <a:r>
              <a:rPr lang="en-US" b="1" i="1" dirty="0">
                <a:solidFill>
                  <a:schemeClr val="accent1"/>
                </a:solidFill>
              </a:rPr>
              <a:t>k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  <a:r>
              <a:rPr lang="en-US" dirty="0"/>
              <a:t> complexity where </a:t>
            </a:r>
            <a:r>
              <a:rPr lang="en-US" b="1" i="1" dirty="0">
                <a:solidFill>
                  <a:schemeClr val="accent1"/>
                </a:solidFill>
              </a:rPr>
              <a:t>k</a:t>
            </a:r>
            <a:r>
              <a:rPr lang="en-US" dirty="0"/>
              <a:t> is the length of the key.</a:t>
            </a:r>
          </a:p>
          <a:p>
            <a:pPr lvl="1"/>
            <a:r>
              <a:rPr lang="en-US" dirty="0"/>
              <a:t>The path to a leaf node represents the key of the leaf</a:t>
            </a:r>
          </a:p>
          <a:p>
            <a:pPr lvl="1"/>
            <a:r>
              <a:rPr lang="en-US" dirty="0"/>
              <a:t>Keys are stored implicitly and can be reconstructed from paths.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0FB8-989A-48E8-BFFC-CCE53AEFF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4790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TREE: BINARY COMPARABLE KEYS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all attribute types can be decomposed into binary comparable digits for a radix tree.</a:t>
            </a:r>
          </a:p>
          <a:p>
            <a:pPr lvl="1"/>
            <a:r>
              <a:rPr lang="en-US" b="1" dirty="0"/>
              <a:t>Unsigned Integers:</a:t>
            </a:r>
            <a:r>
              <a:rPr lang="en-US" dirty="0"/>
              <a:t> Byte order must be flipped for little endian machines.</a:t>
            </a:r>
          </a:p>
          <a:p>
            <a:pPr lvl="1"/>
            <a:r>
              <a:rPr lang="en-US" b="1" dirty="0"/>
              <a:t>Signed Integers:</a:t>
            </a:r>
            <a:r>
              <a:rPr lang="en-US" dirty="0"/>
              <a:t> Flip two’s-complement so that negative numbers are smaller than positive.</a:t>
            </a:r>
          </a:p>
          <a:p>
            <a:pPr lvl="1"/>
            <a:r>
              <a:rPr lang="en-US" b="1" dirty="0"/>
              <a:t>Floats:</a:t>
            </a:r>
            <a:r>
              <a:rPr lang="en-US" dirty="0"/>
              <a:t> Classify into group (neg vs. </a:t>
            </a:r>
            <a:r>
              <a:rPr lang="en-US" dirty="0" err="1"/>
              <a:t>pos</a:t>
            </a:r>
            <a:r>
              <a:rPr lang="en-US" dirty="0"/>
              <a:t>, normalized vs. </a:t>
            </a:r>
            <a:r>
              <a:rPr lang="en-US" dirty="0" err="1"/>
              <a:t>denormalized</a:t>
            </a:r>
            <a:r>
              <a:rPr lang="en-US" dirty="0"/>
              <a:t>), then store as unsigned integer.</a:t>
            </a:r>
          </a:p>
          <a:p>
            <a:pPr lvl="1"/>
            <a:r>
              <a:rPr lang="en-US" b="1" dirty="0"/>
              <a:t>Compound:</a:t>
            </a:r>
            <a:r>
              <a:rPr lang="en-US" dirty="0"/>
              <a:t> Transform each attribute separately.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5211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RADIX TREE: BINARY COMPARABLE KEYS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33400" y="1424340"/>
            <a:ext cx="3291840" cy="33832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prstDash val="solid"/>
            <a:miter lim="800000"/>
            <a:headEnd/>
            <a:tailEnd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2400" u="none" dirty="0">
              <a:latin typeface="DejaVu Sans Mono" pitchFamily="49" charset="0"/>
              <a:ea typeface="DejaVu Sans Mono" pitchFamily="49" charset="0"/>
              <a:cs typeface="DejaVu Sans Mono" pitchFamily="49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78118" y="2354818"/>
            <a:ext cx="2239396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cs typeface="Consolas" pitchFamily="49" charset="0"/>
              </a:rPr>
              <a:t>Hex Key: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0A</a:t>
            </a:r>
            <a:r>
              <a:rPr lang="en-US" sz="1200" b="1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0B</a:t>
            </a:r>
            <a:r>
              <a:rPr lang="en-US" sz="1200" b="1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0C</a:t>
            </a:r>
            <a:r>
              <a:rPr lang="en-US" sz="1200" b="1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0D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9414" y="1503021"/>
            <a:ext cx="2136803" cy="3077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cs typeface="Consolas" pitchFamily="49" charset="0"/>
              </a:rPr>
              <a:t>Int Key: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168496141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7953033" y="1328917"/>
            <a:ext cx="801752" cy="1956201"/>
            <a:chOff x="4856924" y="2767786"/>
            <a:chExt cx="801752" cy="1956201"/>
          </a:xfrm>
        </p:grpSpPr>
        <p:grpSp>
          <p:nvGrpSpPr>
            <p:cNvPr id="46" name="Group 45"/>
            <p:cNvGrpSpPr/>
            <p:nvPr/>
          </p:nvGrpSpPr>
          <p:grpSpPr>
            <a:xfrm>
              <a:off x="5029200" y="2767786"/>
              <a:ext cx="457200" cy="1463040"/>
              <a:chOff x="5029200" y="2767786"/>
              <a:chExt cx="457200" cy="1463040"/>
            </a:xfrm>
          </p:grpSpPr>
          <p:sp>
            <p:nvSpPr>
              <p:cNvPr id="36" name="Rectangle 35"/>
              <p:cNvSpPr/>
              <p:nvPr/>
            </p:nvSpPr>
            <p:spPr bwMode="auto">
              <a:xfrm>
                <a:off x="5029200" y="2767786"/>
                <a:ext cx="457200" cy="3657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itchFamily="49" charset="0"/>
                    <a:ea typeface="Open Sans" pitchFamily="34" charset="0"/>
                    <a:cs typeface="Consolas" pitchFamily="49" charset="0"/>
                  </a:rPr>
                  <a:t>0A</a:t>
                </a:r>
                <a:endPara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37" name="Rectangle 36"/>
              <p:cNvSpPr/>
              <p:nvPr/>
            </p:nvSpPr>
            <p:spPr bwMode="auto">
              <a:xfrm>
                <a:off x="5029200" y="3133546"/>
                <a:ext cx="457200" cy="3657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itchFamily="49" charset="0"/>
                    <a:ea typeface="Open Sans" pitchFamily="34" charset="0"/>
                    <a:cs typeface="Consolas" pitchFamily="49" charset="0"/>
                  </a:rPr>
                  <a:t>0B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 bwMode="auto">
              <a:xfrm>
                <a:off x="5029200" y="3499306"/>
                <a:ext cx="457200" cy="3657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itchFamily="49" charset="0"/>
                    <a:ea typeface="Open Sans" pitchFamily="34" charset="0"/>
                    <a:cs typeface="Consolas" pitchFamily="49" charset="0"/>
                  </a:rPr>
                  <a:t>0C</a:t>
                </a:r>
              </a:p>
            </p:txBody>
          </p:sp>
          <p:sp>
            <p:nvSpPr>
              <p:cNvPr id="39" name="Rectangle 38"/>
              <p:cNvSpPr/>
              <p:nvPr/>
            </p:nvSpPr>
            <p:spPr bwMode="auto">
              <a:xfrm>
                <a:off x="5029200" y="3865066"/>
                <a:ext cx="457200" cy="3657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itchFamily="49" charset="0"/>
                    <a:ea typeface="Open Sans" pitchFamily="34" charset="0"/>
                    <a:cs typeface="Consolas" pitchFamily="49" charset="0"/>
                  </a:rPr>
                  <a:t>0D</a:t>
                </a:r>
              </a:p>
            </p:txBody>
          </p:sp>
        </p:grpSp>
        <p:sp>
          <p:nvSpPr>
            <p:cNvPr id="44" name="TextBox 15"/>
            <p:cNvSpPr txBox="1">
              <a:spLocks noChangeArrowheads="1"/>
            </p:cNvSpPr>
            <p:nvPr/>
          </p:nvSpPr>
          <p:spPr bwMode="auto">
            <a:xfrm>
              <a:off x="4856924" y="4354655"/>
              <a:ext cx="80175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no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  <a:ea typeface="Crimson Text" pitchFamily="2" charset="0"/>
                </a:defRPr>
              </a:lvl1pPr>
            </a:lstStyle>
            <a:p>
              <a:pPr algn="ctr">
                <a:lnSpc>
                  <a:spcPct val="80000"/>
                </a:lnSpc>
              </a:pPr>
              <a:r>
                <a:rPr lang="en-US" sz="2000" dirty="0"/>
                <a:t>Big</a:t>
              </a:r>
              <a:br>
                <a:rPr lang="en-US" sz="2000" dirty="0"/>
              </a:br>
              <a:r>
                <a:rPr lang="en-US" sz="2000" dirty="0"/>
                <a:t>Endian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6932711" y="1334182"/>
            <a:ext cx="917378" cy="2041272"/>
            <a:chOff x="4806822" y="2767786"/>
            <a:chExt cx="917378" cy="2041272"/>
          </a:xfrm>
        </p:grpSpPr>
        <p:grpSp>
          <p:nvGrpSpPr>
            <p:cNvPr id="49" name="Group 48"/>
            <p:cNvGrpSpPr/>
            <p:nvPr/>
          </p:nvGrpSpPr>
          <p:grpSpPr>
            <a:xfrm>
              <a:off x="5029200" y="2767786"/>
              <a:ext cx="457200" cy="1463040"/>
              <a:chOff x="5029200" y="2767786"/>
              <a:chExt cx="457200" cy="1463040"/>
            </a:xfrm>
          </p:grpSpPr>
          <p:sp>
            <p:nvSpPr>
              <p:cNvPr id="51" name="Rectangle 50"/>
              <p:cNvSpPr/>
              <p:nvPr/>
            </p:nvSpPr>
            <p:spPr bwMode="auto">
              <a:xfrm>
                <a:off x="5029200" y="2767786"/>
                <a:ext cx="457200" cy="3657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itchFamily="49" charset="0"/>
                    <a:ea typeface="Open Sans" pitchFamily="34" charset="0"/>
                    <a:cs typeface="Consolas" pitchFamily="49" charset="0"/>
                  </a:rPr>
                  <a:t>0D</a:t>
                </a:r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onsolas" pitchFamily="49" charset="0"/>
                  <a:ea typeface="Open Sans" pitchFamily="34" charset="0"/>
                  <a:cs typeface="Consolas" pitchFamily="49" charset="0"/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 bwMode="auto">
              <a:xfrm>
                <a:off x="5029200" y="3133546"/>
                <a:ext cx="457200" cy="3657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itchFamily="49" charset="0"/>
                    <a:ea typeface="Open Sans" pitchFamily="34" charset="0"/>
                    <a:cs typeface="Consolas" pitchFamily="49" charset="0"/>
                  </a:rPr>
                  <a:t>0C</a:t>
                </a:r>
              </a:p>
            </p:txBody>
          </p:sp>
          <p:sp>
            <p:nvSpPr>
              <p:cNvPr id="53" name="Rectangle 52"/>
              <p:cNvSpPr/>
              <p:nvPr/>
            </p:nvSpPr>
            <p:spPr bwMode="auto">
              <a:xfrm>
                <a:off x="5029200" y="3499306"/>
                <a:ext cx="457200" cy="3657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itchFamily="49" charset="0"/>
                    <a:ea typeface="Open Sans" pitchFamily="34" charset="0"/>
                    <a:cs typeface="Consolas" pitchFamily="49" charset="0"/>
                  </a:rPr>
                  <a:t>0B</a:t>
                </a:r>
              </a:p>
            </p:txBody>
          </p:sp>
          <p:sp>
            <p:nvSpPr>
              <p:cNvPr id="54" name="Rectangle 53"/>
              <p:cNvSpPr/>
              <p:nvPr/>
            </p:nvSpPr>
            <p:spPr bwMode="auto">
              <a:xfrm>
                <a:off x="5029200" y="3865066"/>
                <a:ext cx="457200" cy="3657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45720" rIns="0" bIns="0" rtlCol="0" anchor="ctr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onsolas" pitchFamily="49" charset="0"/>
                    <a:ea typeface="Open Sans" pitchFamily="34" charset="0"/>
                    <a:cs typeface="Consolas" pitchFamily="49" charset="0"/>
                  </a:rPr>
                  <a:t>0A</a:t>
                </a:r>
              </a:p>
            </p:txBody>
          </p:sp>
        </p:grpSp>
        <p:sp>
          <p:nvSpPr>
            <p:cNvPr id="50" name="TextBox 15"/>
            <p:cNvSpPr txBox="1">
              <a:spLocks noChangeArrowheads="1"/>
            </p:cNvSpPr>
            <p:nvPr/>
          </p:nvSpPr>
          <p:spPr bwMode="auto">
            <a:xfrm>
              <a:off x="4806822" y="4301227"/>
              <a:ext cx="917378" cy="50783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defPPr>
                <a:defRPr lang="en-US"/>
              </a:defPPr>
              <a:lvl1pPr eaLnBrk="0" hangingPunct="0">
                <a:defRPr sz="2400" b="1" i="1">
                  <a:solidFill>
                    <a:schemeClr val="tx1">
                      <a:lumMod val="50000"/>
                      <a:lumOff val="50000"/>
                    </a:schemeClr>
                  </a:solidFill>
                  <a:ea typeface="ＭＳ Ｐゴシック" charset="-128"/>
                </a:defRPr>
              </a:lvl1pPr>
            </a:lstStyle>
            <a:p>
              <a:pPr algn="ctr">
                <a:lnSpc>
                  <a:spcPct val="80000"/>
                </a:lnSpc>
              </a:pP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Little</a:t>
              </a:r>
            </a:p>
            <a:p>
              <a:pPr algn="ctr">
                <a:lnSpc>
                  <a:spcPct val="80000"/>
                </a:lnSpc>
              </a:pPr>
              <a:r>
                <a: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rimson Text" pitchFamily="2" charset="0"/>
                </a:rPr>
                <a:t>Endian</a:t>
              </a:r>
            </a:p>
          </p:txBody>
        </p:sp>
      </p:grpSp>
      <p:sp>
        <p:nvSpPr>
          <p:cNvPr id="76" name="Right Arrow 75"/>
          <p:cNvSpPr>
            <a:spLocks noChangeAspect="1"/>
          </p:cNvSpPr>
          <p:nvPr/>
        </p:nvSpPr>
        <p:spPr>
          <a:xfrm rot="5400000">
            <a:off x="5114936" y="1873237"/>
            <a:ext cx="365760" cy="4191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B76D379-09E0-466E-A27C-1874D7BF95EB}"/>
              </a:ext>
            </a:extLst>
          </p:cNvPr>
          <p:cNvSpPr/>
          <p:nvPr/>
        </p:nvSpPr>
        <p:spPr>
          <a:xfrm>
            <a:off x="4630988" y="3955018"/>
            <a:ext cx="1641476" cy="369332"/>
          </a:xfrm>
          <a:prstGeom prst="rect">
            <a:avLst/>
          </a:prstGeom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Hex 0A</a:t>
            </a:r>
            <a:r>
              <a:rPr lang="en-US" sz="1400" b="1" spc="-300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 </a:t>
            </a:r>
            <a:r>
              <a:rPr lang="en-US" sz="2400" b="1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0B</a:t>
            </a:r>
            <a:r>
              <a:rPr lang="en-US" sz="1400" b="1" spc="-300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 </a:t>
            </a:r>
            <a:r>
              <a:rPr lang="en-US" sz="2400" b="1" dirty="0">
                <a:solidFill>
                  <a:schemeClr val="accent1"/>
                </a:solidFill>
                <a:latin typeface="Inconsolata" panose="00000509000000000000" pitchFamily="49" charset="0"/>
                <a:cs typeface="Consolas" pitchFamily="49" charset="0"/>
              </a:rPr>
              <a:t>1D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365F43C-24AE-4014-AD8F-D4F6860D12E0}"/>
              </a:ext>
            </a:extLst>
          </p:cNvPr>
          <p:cNvSpPr/>
          <p:nvPr/>
        </p:nvSpPr>
        <p:spPr>
          <a:xfrm>
            <a:off x="4482879" y="3555184"/>
            <a:ext cx="1692771" cy="36933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cs typeface="Consolas" pitchFamily="49" charset="0"/>
              </a:rPr>
              <a:t>Find 658205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AD78FC4-32EE-4A10-B0F8-49CD58E008A2}"/>
              </a:ext>
            </a:extLst>
          </p:cNvPr>
          <p:cNvSpPr/>
          <p:nvPr/>
        </p:nvSpPr>
        <p:spPr bwMode="auto">
          <a:xfrm>
            <a:off x="1935480" y="1567918"/>
            <a:ext cx="3657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0A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05F3C5E-B816-4947-8F62-BEFDF0453C3F}"/>
              </a:ext>
            </a:extLst>
          </p:cNvPr>
          <p:cNvGrpSpPr/>
          <p:nvPr/>
        </p:nvGrpSpPr>
        <p:grpSpPr>
          <a:xfrm>
            <a:off x="1752600" y="2260836"/>
            <a:ext cx="731520" cy="365760"/>
            <a:chOff x="3242051" y="1767182"/>
            <a:chExt cx="731520" cy="36576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5B95463-4BA4-484E-81C2-84AA51D5709B}"/>
                </a:ext>
              </a:extLst>
            </p:cNvPr>
            <p:cNvSpPr/>
            <p:nvPr/>
          </p:nvSpPr>
          <p:spPr bwMode="auto">
            <a:xfrm>
              <a:off x="3607811" y="1767182"/>
              <a:ext cx="365760" cy="365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0F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A2BCC8E-3FC4-422B-8EF6-5FF4E86BD419}"/>
                </a:ext>
              </a:extLst>
            </p:cNvPr>
            <p:cNvSpPr/>
            <p:nvPr/>
          </p:nvSpPr>
          <p:spPr bwMode="auto">
            <a:xfrm>
              <a:off x="3242051" y="1767182"/>
              <a:ext cx="365760" cy="365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0B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C4919AD-535D-480F-A4B2-BF3FA42DC8CE}"/>
              </a:ext>
            </a:extLst>
          </p:cNvPr>
          <p:cNvGrpSpPr/>
          <p:nvPr/>
        </p:nvGrpSpPr>
        <p:grpSpPr>
          <a:xfrm>
            <a:off x="1111063" y="2953754"/>
            <a:ext cx="1098737" cy="365760"/>
            <a:chOff x="3646163" y="2455046"/>
            <a:chExt cx="1098737" cy="36576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7932A2B-4400-486E-A7CE-72E0A2339370}"/>
                </a:ext>
              </a:extLst>
            </p:cNvPr>
            <p:cNvSpPr/>
            <p:nvPr/>
          </p:nvSpPr>
          <p:spPr bwMode="auto">
            <a:xfrm>
              <a:off x="3646163" y="2455046"/>
              <a:ext cx="365760" cy="365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0B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FA9B106-3434-492C-A1F3-01B2E57DD755}"/>
                </a:ext>
              </a:extLst>
            </p:cNvPr>
            <p:cNvSpPr/>
            <p:nvPr/>
          </p:nvSpPr>
          <p:spPr bwMode="auto">
            <a:xfrm>
              <a:off x="4379140" y="2455046"/>
              <a:ext cx="365760" cy="365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1D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94FEB57-DBB7-40E7-AC69-A58E0FEF7D86}"/>
                </a:ext>
              </a:extLst>
            </p:cNvPr>
            <p:cNvSpPr/>
            <p:nvPr/>
          </p:nvSpPr>
          <p:spPr bwMode="auto">
            <a:xfrm>
              <a:off x="4013380" y="2455046"/>
              <a:ext cx="365760" cy="365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0C</a:t>
              </a:r>
            </a:p>
          </p:txBody>
        </p:sp>
      </p:grpSp>
      <p:cxnSp>
        <p:nvCxnSpPr>
          <p:cNvPr id="74" name="AutoShape 14">
            <a:extLst>
              <a:ext uri="{FF2B5EF4-FFF2-40B4-BE49-F238E27FC236}">
                <a16:creationId xmlns:a16="http://schemas.microsoft.com/office/drawing/2014/main" id="{B2F3078A-8278-48C4-9B7F-541A2D88AAF5}"/>
              </a:ext>
            </a:extLst>
          </p:cNvPr>
          <p:cNvCxnSpPr>
            <a:cxnSpLocks noChangeShapeType="1"/>
            <a:stCxn id="65" idx="2"/>
            <a:endCxn id="61" idx="0"/>
          </p:cNvCxnSpPr>
          <p:nvPr/>
        </p:nvCxnSpPr>
        <p:spPr bwMode="auto">
          <a:xfrm rot="5400000">
            <a:off x="1863341" y="2005817"/>
            <a:ext cx="327158" cy="18288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8C99B012-2446-4FB8-BD4C-38088F47D529}"/>
              </a:ext>
            </a:extLst>
          </p:cNvPr>
          <p:cNvSpPr/>
          <p:nvPr/>
        </p:nvSpPr>
        <p:spPr bwMode="auto">
          <a:xfrm>
            <a:off x="2529840" y="2953754"/>
            <a:ext cx="3657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sz="2800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¤</a:t>
            </a:r>
          </a:p>
        </p:txBody>
      </p:sp>
      <p:cxnSp>
        <p:nvCxnSpPr>
          <p:cNvPr id="81" name="AutoShape 14">
            <a:extLst>
              <a:ext uri="{FF2B5EF4-FFF2-40B4-BE49-F238E27FC236}">
                <a16:creationId xmlns:a16="http://schemas.microsoft.com/office/drawing/2014/main" id="{89A1D9DF-F25A-4AF7-AFA9-FB4F86590303}"/>
              </a:ext>
            </a:extLst>
          </p:cNvPr>
          <p:cNvCxnSpPr>
            <a:cxnSpLocks noChangeShapeType="1"/>
            <a:stCxn id="59" idx="2"/>
            <a:endCxn id="75" idx="0"/>
          </p:cNvCxnSpPr>
          <p:nvPr/>
        </p:nvCxnSpPr>
        <p:spPr bwMode="auto">
          <a:xfrm rot="16200000" flipH="1">
            <a:off x="2343401" y="2584435"/>
            <a:ext cx="327158" cy="41148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" name="AutoShape 14">
            <a:extLst>
              <a:ext uri="{FF2B5EF4-FFF2-40B4-BE49-F238E27FC236}">
                <a16:creationId xmlns:a16="http://schemas.microsoft.com/office/drawing/2014/main" id="{25B60A3C-A2BF-48D0-9710-D9AF6C88D60B}"/>
              </a:ext>
            </a:extLst>
          </p:cNvPr>
          <p:cNvCxnSpPr>
            <a:cxnSpLocks noChangeShapeType="1"/>
            <a:stCxn id="61" idx="2"/>
            <a:endCxn id="62" idx="0"/>
          </p:cNvCxnSpPr>
          <p:nvPr/>
        </p:nvCxnSpPr>
        <p:spPr bwMode="auto">
          <a:xfrm rot="5400000">
            <a:off x="1451133" y="2469407"/>
            <a:ext cx="327158" cy="641537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4B623B9D-6F6C-46AE-A0A2-07AE4984FC5A}"/>
              </a:ext>
            </a:extLst>
          </p:cNvPr>
          <p:cNvSpPr/>
          <p:nvPr/>
        </p:nvSpPr>
        <p:spPr bwMode="auto">
          <a:xfrm>
            <a:off x="762000" y="3646672"/>
            <a:ext cx="3657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sz="2800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¤</a:t>
            </a:r>
          </a:p>
        </p:txBody>
      </p:sp>
      <p:cxnSp>
        <p:nvCxnSpPr>
          <p:cNvPr id="84" name="AutoShape 14">
            <a:extLst>
              <a:ext uri="{FF2B5EF4-FFF2-40B4-BE49-F238E27FC236}">
                <a16:creationId xmlns:a16="http://schemas.microsoft.com/office/drawing/2014/main" id="{47A2E194-C1C9-477B-991E-9C994A8A0722}"/>
              </a:ext>
            </a:extLst>
          </p:cNvPr>
          <p:cNvCxnSpPr>
            <a:cxnSpLocks noChangeShapeType="1"/>
            <a:stCxn id="62" idx="2"/>
            <a:endCxn id="83" idx="0"/>
          </p:cNvCxnSpPr>
          <p:nvPr/>
        </p:nvCxnSpPr>
        <p:spPr bwMode="auto">
          <a:xfrm rot="5400000">
            <a:off x="955833" y="3308562"/>
            <a:ext cx="327158" cy="349063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F4ED634E-2862-4C84-A211-3D62824FFC9E}"/>
              </a:ext>
            </a:extLst>
          </p:cNvPr>
          <p:cNvSpPr/>
          <p:nvPr/>
        </p:nvSpPr>
        <p:spPr bwMode="auto">
          <a:xfrm>
            <a:off x="2514600" y="3646672"/>
            <a:ext cx="3657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sz="2800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¤</a:t>
            </a:r>
          </a:p>
        </p:txBody>
      </p:sp>
      <p:cxnSp>
        <p:nvCxnSpPr>
          <p:cNvPr id="86" name="AutoShape 14">
            <a:extLst>
              <a:ext uri="{FF2B5EF4-FFF2-40B4-BE49-F238E27FC236}">
                <a16:creationId xmlns:a16="http://schemas.microsoft.com/office/drawing/2014/main" id="{7B6B8823-64FD-45A0-AD99-90378B3D7407}"/>
              </a:ext>
            </a:extLst>
          </p:cNvPr>
          <p:cNvCxnSpPr>
            <a:cxnSpLocks noChangeShapeType="1"/>
            <a:stCxn id="68" idx="2"/>
            <a:endCxn id="85" idx="0"/>
          </p:cNvCxnSpPr>
          <p:nvPr/>
        </p:nvCxnSpPr>
        <p:spPr bwMode="auto">
          <a:xfrm rot="16200000" flipH="1">
            <a:off x="2198621" y="3147813"/>
            <a:ext cx="327158" cy="67056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0CFAEB48-CF2F-4F4D-A303-ADD23875B9CF}"/>
              </a:ext>
            </a:extLst>
          </p:cNvPr>
          <p:cNvGrpSpPr/>
          <p:nvPr/>
        </p:nvGrpSpPr>
        <p:grpSpPr>
          <a:xfrm>
            <a:off x="1371600" y="3646672"/>
            <a:ext cx="731520" cy="365760"/>
            <a:chOff x="3242051" y="1767182"/>
            <a:chExt cx="731520" cy="36576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864F32C-E350-4C26-B847-6272EF4494AF}"/>
                </a:ext>
              </a:extLst>
            </p:cNvPr>
            <p:cNvSpPr/>
            <p:nvPr/>
          </p:nvSpPr>
          <p:spPr bwMode="auto">
            <a:xfrm>
              <a:off x="3607811" y="1767182"/>
              <a:ext cx="365760" cy="365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0D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7CC7394-A06B-4101-99AB-84C36BDD706D}"/>
                </a:ext>
              </a:extLst>
            </p:cNvPr>
            <p:cNvSpPr/>
            <p:nvPr/>
          </p:nvSpPr>
          <p:spPr bwMode="auto">
            <a:xfrm>
              <a:off x="3242051" y="1767182"/>
              <a:ext cx="365760" cy="3657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45720" rIns="0" bIns="0" rtlCol="0" anchor="ctr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consolata" panose="00000509000000000000" pitchFamily="49" charset="0"/>
                  <a:ea typeface="Open Sans" pitchFamily="34" charset="0"/>
                  <a:cs typeface="Consolas" pitchFamily="49" charset="0"/>
                </a:rPr>
                <a:t>0B</a:t>
              </a:r>
            </a:p>
          </p:txBody>
        </p:sp>
      </p:grpSp>
      <p:cxnSp>
        <p:nvCxnSpPr>
          <p:cNvPr id="90" name="AutoShape 14">
            <a:extLst>
              <a:ext uri="{FF2B5EF4-FFF2-40B4-BE49-F238E27FC236}">
                <a16:creationId xmlns:a16="http://schemas.microsoft.com/office/drawing/2014/main" id="{3ED27A44-D61C-41D3-987A-2C2304D4D2F5}"/>
              </a:ext>
            </a:extLst>
          </p:cNvPr>
          <p:cNvCxnSpPr>
            <a:cxnSpLocks noChangeShapeType="1"/>
            <a:stCxn id="72" idx="2"/>
            <a:endCxn id="89" idx="0"/>
          </p:cNvCxnSpPr>
          <p:nvPr/>
        </p:nvCxnSpPr>
        <p:spPr bwMode="auto">
          <a:xfrm rot="5400000">
            <a:off x="1444241" y="3429753"/>
            <a:ext cx="327158" cy="10668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03B81CD6-79C4-4CCF-A1FE-74AFD9BE703F}"/>
              </a:ext>
            </a:extLst>
          </p:cNvPr>
          <p:cNvSpPr/>
          <p:nvPr/>
        </p:nvSpPr>
        <p:spPr bwMode="auto">
          <a:xfrm>
            <a:off x="1143000" y="4339590"/>
            <a:ext cx="3657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sz="2800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¤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E70BF91-301D-422B-82D0-2869AF2D15B1}"/>
              </a:ext>
            </a:extLst>
          </p:cNvPr>
          <p:cNvSpPr/>
          <p:nvPr/>
        </p:nvSpPr>
        <p:spPr bwMode="auto">
          <a:xfrm>
            <a:off x="1920240" y="4339590"/>
            <a:ext cx="365760" cy="36576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5720" rIns="0" b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sz="2800" b="1" dirty="0">
                <a:solidFill>
                  <a:schemeClr val="accent1"/>
                </a:solidFill>
                <a:latin typeface="Inconsolata" panose="00000509000000000000" pitchFamily="49" charset="0"/>
                <a:ea typeface="Open Sans" pitchFamily="34" charset="0"/>
                <a:cs typeface="Consolas" pitchFamily="49" charset="0"/>
              </a:rPr>
              <a:t>¤</a:t>
            </a:r>
          </a:p>
        </p:txBody>
      </p:sp>
      <p:cxnSp>
        <p:nvCxnSpPr>
          <p:cNvPr id="93" name="AutoShape 14">
            <a:extLst>
              <a:ext uri="{FF2B5EF4-FFF2-40B4-BE49-F238E27FC236}">
                <a16:creationId xmlns:a16="http://schemas.microsoft.com/office/drawing/2014/main" id="{0AC4D17F-3082-4D1C-BAC3-AA1AC369D401}"/>
              </a:ext>
            </a:extLst>
          </p:cNvPr>
          <p:cNvCxnSpPr>
            <a:cxnSpLocks noChangeShapeType="1"/>
            <a:stCxn id="89" idx="2"/>
            <a:endCxn id="91" idx="0"/>
          </p:cNvCxnSpPr>
          <p:nvPr/>
        </p:nvCxnSpPr>
        <p:spPr bwMode="auto">
          <a:xfrm rot="5400000">
            <a:off x="1276601" y="4061711"/>
            <a:ext cx="327158" cy="22860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4" name="AutoShape 14">
            <a:extLst>
              <a:ext uri="{FF2B5EF4-FFF2-40B4-BE49-F238E27FC236}">
                <a16:creationId xmlns:a16="http://schemas.microsoft.com/office/drawing/2014/main" id="{ECA655AA-FB45-458D-BD46-3C5717C8CC20}"/>
              </a:ext>
            </a:extLst>
          </p:cNvPr>
          <p:cNvCxnSpPr>
            <a:cxnSpLocks noChangeShapeType="1"/>
            <a:stCxn id="88" idx="2"/>
            <a:endCxn id="92" idx="0"/>
          </p:cNvCxnSpPr>
          <p:nvPr/>
        </p:nvCxnSpPr>
        <p:spPr bwMode="auto">
          <a:xfrm rot="16200000" flipH="1">
            <a:off x="1848101" y="4084571"/>
            <a:ext cx="327158" cy="182880"/>
          </a:xfrm>
          <a:prstGeom prst="curvedConnector3">
            <a:avLst>
              <a:gd name="adj1" fmla="val 50000"/>
            </a:avLst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6" name="TextBox 15">
            <a:extLst>
              <a:ext uri="{FF2B5EF4-FFF2-40B4-BE49-F238E27FC236}">
                <a16:creationId xmlns:a16="http://schemas.microsoft.com/office/drawing/2014/main" id="{2D84B061-B802-4900-86E1-A09397F91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65222"/>
            <a:ext cx="25708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noAutofit/>
          </a:bodyPr>
          <a:lstStyle>
            <a:defPPr>
              <a:defRPr lang="en-US"/>
            </a:defPPr>
            <a:lvl1pPr eaLnBrk="0" hangingPunct="0">
              <a:defRPr sz="2400" b="1" i="1">
                <a:solidFill>
                  <a:schemeClr val="tx1">
                    <a:lumMod val="65000"/>
                    <a:lumOff val="35000"/>
                  </a:schemeClr>
                </a:solidFill>
                <a:latin typeface="Crimson Text" pitchFamily="2" charset="0"/>
                <a:ea typeface="Crimson Text" pitchFamily="2" charset="0"/>
              </a:defRPr>
            </a:lvl1pPr>
          </a:lstStyle>
          <a:p>
            <a:r>
              <a:rPr lang="en-US" dirty="0"/>
              <a:t>8-bit Span Radix Tree</a:t>
            </a:r>
          </a:p>
        </p:txBody>
      </p:sp>
      <p:sp>
        <p:nvSpPr>
          <p:cNvPr id="98" name="Highlight Box">
            <a:extLst>
              <a:ext uri="{FF2B5EF4-FFF2-40B4-BE49-F238E27FC236}">
                <a16:creationId xmlns:a16="http://schemas.microsoft.com/office/drawing/2014/main" id="{6119938E-5619-4374-B06B-6A240177151D}"/>
              </a:ext>
            </a:extLst>
          </p:cNvPr>
          <p:cNvSpPr/>
          <p:nvPr/>
        </p:nvSpPr>
        <p:spPr>
          <a:xfrm>
            <a:off x="1932124" y="1580659"/>
            <a:ext cx="365760" cy="365760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Highlight Box">
            <a:extLst>
              <a:ext uri="{FF2B5EF4-FFF2-40B4-BE49-F238E27FC236}">
                <a16:creationId xmlns:a16="http://schemas.microsoft.com/office/drawing/2014/main" id="{21385A1F-E063-4091-BAAB-B24F1D739BF9}"/>
              </a:ext>
            </a:extLst>
          </p:cNvPr>
          <p:cNvSpPr/>
          <p:nvPr/>
        </p:nvSpPr>
        <p:spPr>
          <a:xfrm>
            <a:off x="1752600" y="2260836"/>
            <a:ext cx="365760" cy="365760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Highlight Box">
            <a:extLst>
              <a:ext uri="{FF2B5EF4-FFF2-40B4-BE49-F238E27FC236}">
                <a16:creationId xmlns:a16="http://schemas.microsoft.com/office/drawing/2014/main" id="{7C31672C-E52E-4E19-A798-B93947AF89F3}"/>
              </a:ext>
            </a:extLst>
          </p:cNvPr>
          <p:cNvSpPr/>
          <p:nvPr/>
        </p:nvSpPr>
        <p:spPr>
          <a:xfrm>
            <a:off x="1844040" y="2953754"/>
            <a:ext cx="365760" cy="365760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Highlight Box">
            <a:extLst>
              <a:ext uri="{FF2B5EF4-FFF2-40B4-BE49-F238E27FC236}">
                <a16:creationId xmlns:a16="http://schemas.microsoft.com/office/drawing/2014/main" id="{14BC2352-C8ED-4E02-9267-DEE614EDE9BC}"/>
              </a:ext>
            </a:extLst>
          </p:cNvPr>
          <p:cNvSpPr/>
          <p:nvPr/>
        </p:nvSpPr>
        <p:spPr>
          <a:xfrm>
            <a:off x="2514600" y="3646672"/>
            <a:ext cx="365760" cy="365760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Highlight Box">
            <a:extLst>
              <a:ext uri="{FF2B5EF4-FFF2-40B4-BE49-F238E27FC236}">
                <a16:creationId xmlns:a16="http://schemas.microsoft.com/office/drawing/2014/main" id="{0D3658CD-57A3-4CBA-9395-0B24F0B08CAB}"/>
              </a:ext>
            </a:extLst>
          </p:cNvPr>
          <p:cNvSpPr/>
          <p:nvPr/>
        </p:nvSpPr>
        <p:spPr>
          <a:xfrm>
            <a:off x="7953033" y="1211788"/>
            <a:ext cx="836236" cy="2198936"/>
          </a:xfrm>
          <a:prstGeom prst="roundRect">
            <a:avLst>
              <a:gd name="adj" fmla="val 4675"/>
            </a:avLst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1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6" grpId="0" animBg="1"/>
      <p:bldP spid="57" grpId="0"/>
      <p:bldP spid="58" grpId="0"/>
      <p:bldP spid="98" grpId="0" animBg="1"/>
      <p:bldP spid="99" grpId="0" animBg="1"/>
      <p:bldP spid="100" grpId="0" animBg="1"/>
      <p:bldP spid="101" grpId="0" animBg="1"/>
      <p:bldP spid="10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C746F0-5BFF-47A0-9590-16A856782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TYPES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AEC233-C316-4C50-9429-6A8DB9588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Phrase Searches</a:t>
            </a:r>
          </a:p>
          <a:p>
            <a:pPr lvl="1"/>
            <a:r>
              <a:rPr lang="en-US" dirty="0"/>
              <a:t>Find records that contain a list of words in the given order.</a:t>
            </a:r>
          </a:p>
          <a:p>
            <a:endParaRPr lang="en-US" sz="1200" dirty="0"/>
          </a:p>
          <a:p>
            <a:r>
              <a:rPr lang="en-US" b="1" dirty="0"/>
              <a:t>Proximity Searches</a:t>
            </a:r>
          </a:p>
          <a:p>
            <a:pPr lvl="1"/>
            <a:r>
              <a:rPr lang="en-US" dirty="0"/>
              <a:t>Find records where two words occur within </a:t>
            </a:r>
            <a:r>
              <a:rPr lang="en-US" b="1" i="1" dirty="0">
                <a:solidFill>
                  <a:srgbClr val="EF3E42"/>
                </a:solidFill>
              </a:rPr>
              <a:t>n</a:t>
            </a:r>
            <a:r>
              <a:rPr lang="en-US" dirty="0"/>
              <a:t> words of each other.</a:t>
            </a:r>
          </a:p>
          <a:p>
            <a:endParaRPr lang="en-US" sz="1200" dirty="0"/>
          </a:p>
          <a:p>
            <a:r>
              <a:rPr lang="en-US" b="1" dirty="0"/>
              <a:t>Wildcard Searches</a:t>
            </a:r>
          </a:p>
          <a:p>
            <a:pPr lvl="1"/>
            <a:r>
              <a:rPr lang="en-US" dirty="0"/>
              <a:t>Find records that contain words that match some pattern (e.g., regular expression).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AF8FC-FB8A-4DAF-876D-3A390DCEC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4632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2C2E4D5-4CA8-4B03-93D9-FDD7D8FA5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DECISIONS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D3034F-3553-450D-928F-989014E5F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Decision #1: What To Store</a:t>
            </a:r>
          </a:p>
          <a:p>
            <a:pPr lvl="1"/>
            <a:r>
              <a:rPr lang="en-US" dirty="0"/>
              <a:t>The index needs to store at least the words contained in each record (separated by punctuation characters).</a:t>
            </a:r>
          </a:p>
          <a:p>
            <a:pPr lvl="1"/>
            <a:r>
              <a:rPr lang="en-US" dirty="0"/>
              <a:t>Can also store frequency, position, and other meta-data.</a:t>
            </a:r>
          </a:p>
          <a:p>
            <a:endParaRPr lang="en-US" dirty="0"/>
          </a:p>
          <a:p>
            <a:r>
              <a:rPr lang="en-US" b="1" dirty="0"/>
              <a:t>Decision #2: When To Update</a:t>
            </a:r>
          </a:p>
          <a:p>
            <a:pPr lvl="1"/>
            <a:r>
              <a:rPr lang="en-US" dirty="0"/>
              <a:t>Maintain auxiliary data structures to "stage" updates and then update the index in batches.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67CA3-F712-4B6A-A0EB-4E804D937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7DD1AB5-42BA-4E8A-BFEE-435884E16AAB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516488"/>
      </p:ext>
    </p:extLst>
  </p:cSld>
  <p:clrMapOvr>
    <a:masterClrMapping/>
  </p:clrMapOvr>
</p:sld>
</file>

<file path=ppt/theme/theme1.xml><?xml version="1.0" encoding="utf-8"?>
<a:theme xmlns:a="http://schemas.openxmlformats.org/drawingml/2006/main" name="421-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21-theme" id="{8266886C-00C5-0E41-B657-C3D05B8200D6}" vid="{2B8BD0A5-B052-7545-BBE7-7583420439F3}"/>
    </a:ext>
  </a:extLst>
</a:theme>
</file>

<file path=ppt/theme/theme2.xml><?xml version="1.0" encoding="utf-8"?>
<a:theme xmlns:a="http://schemas.openxmlformats.org/drawingml/2006/main" name="1_F2024 Theme">
  <a:themeElements>
    <a:clrScheme name="CMU-DB F202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C4123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D9D9D9"/>
      </a:accent6>
      <a:hlink>
        <a:srgbClr val="C41230"/>
      </a:hlink>
      <a:folHlink>
        <a:srgbClr val="C4123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74577</TotalTime>
  <Words>4053</Words>
  <Application>Microsoft Macintosh PowerPoint</Application>
  <PresentationFormat>On-screen Show (16:9)</PresentationFormat>
  <Paragraphs>946</Paragraphs>
  <Slides>55</Slides>
  <Notes>21</Notes>
  <HiddenSlides>11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71" baseType="lpstr">
      <vt:lpstr>ＭＳ Ｐゴシック</vt:lpstr>
      <vt:lpstr>Arial</vt:lpstr>
      <vt:lpstr>Calibri</vt:lpstr>
      <vt:lpstr>Cambria Math</vt:lpstr>
      <vt:lpstr>Consolas</vt:lpstr>
      <vt:lpstr>Crimson Text</vt:lpstr>
      <vt:lpstr>Crimson Text</vt:lpstr>
      <vt:lpstr>DejaVu Sans Mono</vt:lpstr>
      <vt:lpstr>Gentium Book Basic</vt:lpstr>
      <vt:lpstr>Inconsolata</vt:lpstr>
      <vt:lpstr>Lato</vt:lpstr>
      <vt:lpstr>Open Sans</vt:lpstr>
      <vt:lpstr>Proxima Nova Rg</vt:lpstr>
      <vt:lpstr>Times New Roman</vt:lpstr>
      <vt:lpstr>421-theme</vt:lpstr>
      <vt:lpstr>1_F2024 Theme</vt:lpstr>
      <vt:lpstr>PowerPoint Presentation</vt:lpstr>
      <vt:lpstr>Announcements</vt:lpstr>
      <vt:lpstr>Today's Agenda</vt:lpstr>
      <vt:lpstr>Indexes vs. Filters</vt:lpstr>
      <vt:lpstr>Bloom Filters</vt:lpstr>
      <vt:lpstr>Bloom Filters</vt:lpstr>
      <vt:lpstr>Bloom Filters</vt:lpstr>
      <vt:lpstr>Log-structured Storage</vt:lpstr>
      <vt:lpstr>Bloom Filter Math</vt:lpstr>
      <vt:lpstr>Bloom Filter Math</vt:lpstr>
      <vt:lpstr>Bloom Filters IRL</vt:lpstr>
      <vt:lpstr>Bloom Filters IRL</vt:lpstr>
      <vt:lpstr>Other Filters</vt:lpstr>
      <vt:lpstr>Today's Agenda</vt:lpstr>
      <vt:lpstr>B+Trees as Fancy Linked Lists</vt:lpstr>
      <vt:lpstr>Observation</vt:lpstr>
      <vt:lpstr>Skip Lists</vt:lpstr>
      <vt:lpstr>Skip Lists Basics</vt:lpstr>
      <vt:lpstr>Skip Lists: INSERT</vt:lpstr>
      <vt:lpstr>Skip Lists: SEARCH</vt:lpstr>
      <vt:lpstr>Skip Lists: DELETE</vt:lpstr>
      <vt:lpstr>Skip Lists: DELETE</vt:lpstr>
      <vt:lpstr>Skip List Math</vt:lpstr>
      <vt:lpstr>Skip List Math</vt:lpstr>
      <vt:lpstr>Skip List Math</vt:lpstr>
      <vt:lpstr>Skip List Math</vt:lpstr>
      <vt:lpstr>Skip Lists</vt:lpstr>
      <vt:lpstr>Today's Agenda</vt:lpstr>
      <vt:lpstr>We stopped here in class because I decided to focus more on the internals of Bloom filters and skip lists.  The rest of these slides will not be covered, but cover some good-to-know data structures for indexing</vt:lpstr>
      <vt:lpstr>Observation</vt:lpstr>
      <vt:lpstr>Trie Index</vt:lpstr>
      <vt:lpstr>Trie Key Span</vt:lpstr>
      <vt:lpstr>Trie Key Span</vt:lpstr>
      <vt:lpstr>Radix Tree</vt:lpstr>
      <vt:lpstr>Observation</vt:lpstr>
      <vt:lpstr>Inverted Index</vt:lpstr>
      <vt:lpstr>Inverted Index: Lucene</vt:lpstr>
      <vt:lpstr>Inverted Index: PostgreSQL</vt:lpstr>
      <vt:lpstr>OBSERVATION</vt:lpstr>
      <vt:lpstr>Semantic Search</vt:lpstr>
      <vt:lpstr>Vector Indexes</vt:lpstr>
      <vt:lpstr>Vector Indexes: Inverted File</vt:lpstr>
      <vt:lpstr>VECTOR SEARCH: GRAPH</vt:lpstr>
      <vt:lpstr>VECTOR SEARCH: GRAPH</vt:lpstr>
      <vt:lpstr>Conclusion</vt:lpstr>
      <vt:lpstr>Next Class</vt:lpstr>
      <vt:lpstr>RADIX TREE: MODIFICATIONS</vt:lpstr>
      <vt:lpstr>IN-MEMORY TABLE INDEXES</vt:lpstr>
      <vt:lpstr>SKIP LISTS: EXAMPLE</vt:lpstr>
      <vt:lpstr>WIKIPEDIA EXAMPLE</vt:lpstr>
      <vt:lpstr>TRIE INDEX PROPERTIES</vt:lpstr>
      <vt:lpstr>RADIX TREE: BINARY COMPARABLE KEYS </vt:lpstr>
      <vt:lpstr>RADIX TREE: BINARY COMPARABLE KEYS </vt:lpstr>
      <vt:lpstr>QUERY TYPES</vt:lpstr>
      <vt:lpstr>DESIGN DECISIONS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CMU 15-445/645 Database Systems (Fall 2024 :: Tree Indexes II</dc:title>
  <dc:creator>Andy Pavlo</dc:creator>
  <cp:keywords>Databases, Carnegie Mellon University</cp:keywords>
  <cp:lastModifiedBy>Benjamin S. Berg</cp:lastModifiedBy>
  <cp:revision>5983</cp:revision>
  <dcterms:created xsi:type="dcterms:W3CDTF">2015-12-22T16:36:30Z</dcterms:created>
  <dcterms:modified xsi:type="dcterms:W3CDTF">2026-10-05T14:59:18Z</dcterms:modified>
</cp:coreProperties>
</file>